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63" r:id="rId3"/>
    <p:sldId id="639" r:id="rId4"/>
    <p:sldId id="640" r:id="rId5"/>
    <p:sldId id="641" r:id="rId6"/>
    <p:sldId id="687" r:id="rId7"/>
    <p:sldId id="511" r:id="rId8"/>
    <p:sldId id="512" r:id="rId9"/>
    <p:sldId id="513" r:id="rId10"/>
    <p:sldId id="477" r:id="rId11"/>
    <p:sldId id="399" r:id="rId12"/>
    <p:sldId id="409" r:id="rId13"/>
    <p:sldId id="481" r:id="rId14"/>
    <p:sldId id="482" r:id="rId15"/>
    <p:sldId id="50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4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52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2D637-C006-42E6-A174-C6026AE378E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901250-761B-44F6-8368-AF30FD50D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9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01775E-EDE2-4DE5-A02D-A8BD8C6F6A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05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701775E-EDE2-4DE5-A02D-A8BD8C6F6AC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34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630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395E-E079-DACB-6D25-57F51D4C98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11E57C-29F5-F905-5B42-98C60F0F8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F71E9-5DA9-7716-49A2-F07114C22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8502B-4907-75FF-A9BB-80D9AAFE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71CF6-B4C0-BF2D-11DE-E0BEA28B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5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89E8-FCB4-9DA9-0A7D-8655E39C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7BFB0-8F07-3C1B-C37E-6D7CB0A18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12626-62C0-F477-6CCC-65005110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81A14-A92C-660C-BFF1-2256458CE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AFDDE6-514B-C120-9491-856D93CD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925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7DE49-66CB-31F1-9FB1-26059AA7D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83F89-DD41-2E22-51DF-3F664083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42583-9B81-8E22-40D8-D858C6B2C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E60ED-6415-E3A1-C265-30E2362C3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46095-DBBF-DE47-6DE3-AC6B04F4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469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7F89F-1659-6ADC-5C23-CA6D6DC1D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7093D-9C34-89BA-4CAE-C09D987F0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4605B-DED1-0FE9-A171-7732D075D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56C3D-7BEB-7411-21D9-DA6412254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14848-119F-0F22-5E3E-EF27FC13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F5BDF-DA69-6CA4-0E68-1D9BD9F21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7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D7A2-D118-7739-D659-DFF55A948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97781-3927-4358-341E-FBC58DA9B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6BBA0-9B8D-A118-6CB6-3A58186FF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9F280-F299-00B9-8708-87B5B5566F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469B73-0A37-32C7-7EFE-CA944A25FA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722BFB-5D16-D151-CDC9-0503AD186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7A83C-873D-2132-A807-823449AC6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39121-25AA-5210-271C-D81FADD01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1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AB2B7-ADD3-F38E-0BC4-21ED3359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3E4067-9BC8-6E83-5B87-013F4232E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D0997B-C324-3856-6EA1-C25D9F703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1111C-142F-7C72-5849-8AA401A2F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0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1EDFE2-60CD-B3B1-B4B2-42D1FDA3C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317B3-B0F4-473A-0AF2-297BAD47F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378CF-1FF8-0175-AB59-DDDB669A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70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E2DA-CD90-4D21-CECB-9C6D5B8F3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4B0E-7D6B-BC5C-4F21-A013E8D54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E58BE8-98A4-EBA6-E87B-9A490FF09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C946-03D1-3B40-1975-BBBCCB6D7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77332-801A-85BB-0C55-AA0F32C50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D4EAC-E46E-EE20-FB5B-CA709ED0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85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D2EC4-5BAC-99BD-A525-A130C8B42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EF67D5-1C5D-9DCF-4AE1-082A7C5198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D2C99-36B1-C8B8-21D0-3540E714E5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886B7-56B2-05F6-417C-4429B1615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6761A-6FDB-FF76-70E2-C4AE1D0B7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53415-C75E-0F45-3E41-EDDDC1478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02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46F19-9775-741C-EC49-DCCF3BD2C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8F0242-646E-6F4E-4E1B-AC31A2A15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5D07D-9B81-ABE3-7185-B4C08B8F4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A1A36-FE5F-FA2B-E9EB-26D3D7CB1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02252-D52F-CD5B-E286-2EBB19BB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561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644E3-D095-45E8-8EA0-E2AFF3A4D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36AE5F-5955-AAB2-4652-F50EBBA57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DC67C-13F0-0123-EE54-C39B5162E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9E99A-F71D-6B91-D588-F6996A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3557B-A0F3-3845-E09A-48858AAB9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142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2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6E32D0-F8E7-6CFB-FABB-8CC60C479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9FAE-B5CA-E0E4-F007-632D8D52C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84C42-F4BB-671F-8EC9-FE1A75D3E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C0A8A-41AC-4DAE-9E4E-FDD64E7E0D1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E3665-1FF2-646B-F7DC-DBF5D5822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27846-5AAA-0208-57FF-05A7D36F6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3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jpeg"/><Relationship Id="rId7" Type="http://schemas.openxmlformats.org/officeDocument/2006/relationships/image" Target="../media/image2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10" Type="http://schemas.openxmlformats.org/officeDocument/2006/relationships/image" Target="../media/image2.png"/><Relationship Id="rId4" Type="http://schemas.openxmlformats.org/officeDocument/2006/relationships/image" Target="../media/image19.tiff"/><Relationship Id="rId9" Type="http://schemas.openxmlformats.org/officeDocument/2006/relationships/hyperlink" Target="https://anubhavtrainings.com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NV8UD9QnJ4A&amp;list=PLcxqFaocb9WLaza2kOjkUCDIQGbzNos6p" TargetMode="External"/><Relationship Id="rId3" Type="http://schemas.openxmlformats.org/officeDocument/2006/relationships/image" Target="../media/image24.jpg"/><Relationship Id="rId7" Type="http://schemas.openxmlformats.org/officeDocument/2006/relationships/image" Target="../media/image26.jpg"/><Relationship Id="rId2" Type="http://schemas.openxmlformats.org/officeDocument/2006/relationships/hyperlink" Target="https://www.youtube.com/watch?v=vlKBQ3g0w_E&amp;list=PLcxqFaocb9WIQJ-kptyPuiMSVWZVd2ff_&amp;index=1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xQzhXhq1ZyI&amp;list=PLcxqFaocb9WLtnq-rpXbRy5hnKECxr95G" TargetMode="External"/><Relationship Id="rId5" Type="http://schemas.openxmlformats.org/officeDocument/2006/relationships/image" Target="../media/image25.jpg"/><Relationship Id="rId4" Type="http://schemas.openxmlformats.org/officeDocument/2006/relationships/hyperlink" Target="https://www.youtube.com/watch?v=aVPk_FE9O3s&amp;list=PLcxqFaocb9WJ8g8TZPsHQIEcSjKW9F0IE&amp;index=2" TargetMode="External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8915400 w 12192000"/>
              <a:gd name="connsiteY2" fmla="*/ 4593771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8915400" y="4593771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22712" y="2918300"/>
            <a:ext cx="6629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spc="-150" dirty="0">
                <a:solidFill>
                  <a:schemeClr val="bg1"/>
                </a:solidFill>
              </a:rPr>
              <a:t>Anubhav Oberoy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8355" y="5017269"/>
            <a:ext cx="1863645" cy="18407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7491" y="3579798"/>
            <a:ext cx="662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-150" dirty="0">
                <a:solidFill>
                  <a:schemeClr val="bg1"/>
                </a:solidFill>
                <a:latin typeface="Cooper Black" panose="0208090404030B020404" pitchFamily="18" charset="0"/>
              </a:rPr>
              <a:t>Day – 17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AD5CA-C2E2-40A6-8CE6-90DA460ACF0D}"/>
              </a:ext>
            </a:extLst>
          </p:cNvPr>
          <p:cNvSpPr txBox="1"/>
          <p:nvPr/>
        </p:nvSpPr>
        <p:spPr>
          <a:xfrm>
            <a:off x="122712" y="154049"/>
            <a:ext cx="116640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cap="all" spc="-150" dirty="0">
                <a:solidFill>
                  <a:srgbClr val="92D050"/>
                </a:solidFill>
              </a:rPr>
              <a:t>SAP </a:t>
            </a:r>
            <a:r>
              <a:rPr lang="en-US" sz="5400" b="1" dirty="0">
                <a:solidFill>
                  <a:srgbClr val="92D050"/>
                </a:solidFill>
              </a:rPr>
              <a:t>UI5 &amp; FIORI with OData TRAINING using BAS</a:t>
            </a:r>
          </a:p>
        </p:txBody>
      </p:sp>
    </p:spTree>
    <p:extLst>
      <p:ext uri="{BB962C8B-B14F-4D97-AF65-F5344CB8AC3E}">
        <p14:creationId xmlns:p14="http://schemas.microsoft.com/office/powerpoint/2010/main" val="69812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620B393-B059-4008-BE9A-31AEBF787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0042" y="779090"/>
            <a:ext cx="5353730" cy="5353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F07FC580-E2AB-4C55-8C95-D5E077A1D127}"/>
              </a:ext>
            </a:extLst>
          </p:cNvPr>
          <p:cNvSpPr txBox="1">
            <a:spLocks/>
          </p:cNvSpPr>
          <p:nvPr/>
        </p:nvSpPr>
        <p:spPr>
          <a:xfrm>
            <a:off x="261764" y="188640"/>
            <a:ext cx="11292008" cy="7110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</a:rPr>
              <a:t>Agenda – Day 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A79EAA-1647-4107-B296-669CE3D2F38F}"/>
              </a:ext>
            </a:extLst>
          </p:cNvPr>
          <p:cNvSpPr txBox="1"/>
          <p:nvPr/>
        </p:nvSpPr>
        <p:spPr>
          <a:xfrm>
            <a:off x="638228" y="899721"/>
            <a:ext cx="53537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Responsive Table (</a:t>
            </a:r>
            <a:r>
              <a:rPr lang="en-US" dirty="0" err="1"/>
              <a:t>sap.m.Table</a:t>
            </a:r>
            <a:r>
              <a:rPr lang="en-US" dirty="0"/>
              <a:t>)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Drill Down using the Table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Messages in UI5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Drop Down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Object Status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Fragments</a:t>
            </a:r>
          </a:p>
        </p:txBody>
      </p:sp>
      <p:sp>
        <p:nvSpPr>
          <p:cNvPr id="9" name="Footer Placeholder 45">
            <a:extLst>
              <a:ext uri="{FF2B5EF4-FFF2-40B4-BE49-F238E27FC236}">
                <a16:creationId xmlns:a16="http://schemas.microsoft.com/office/drawing/2014/main" id="{51D77C38-BB47-4E3F-84A5-C28B21492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2321857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Sap.m.Table (Responsive Table)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in the second section of the icon tab filter bar we will add a Responsive table containing the Supplier Data.</a:t>
            </a:r>
          </a:p>
          <a:p>
            <a:r>
              <a:rPr lang="en-US" dirty="0"/>
              <a:t>Along with that we will add a button in the Header of the table to add a new column.</a:t>
            </a:r>
          </a:p>
          <a:p>
            <a:r>
              <a:rPr lang="en-US" dirty="0"/>
              <a:t>And on select of a row in the table the table path will be shown in alert message.</a:t>
            </a:r>
          </a:p>
          <a:p>
            <a:endParaRPr lang="en-US" dirty="0"/>
          </a:p>
          <a:p>
            <a:r>
              <a:rPr lang="en-US" dirty="0"/>
              <a:t>Code Link:- 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View2.view.xml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View2.controller.js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EFD782-5630-42D9-BFE1-37932B416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583" y="1962252"/>
            <a:ext cx="6555823" cy="41706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056436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60" dirty="0">
                <a:latin typeface="Cooper Black" panose="0208090404030B020404" pitchFamily="18" charset="0"/>
              </a:rPr>
              <a:t>Hands – on: Drill Down from Table and Nav Back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drill down to a new screen where we will show the supplier data for that we will create a new supplier view.</a:t>
            </a:r>
          </a:p>
          <a:p>
            <a:r>
              <a:rPr lang="en-US" dirty="0"/>
              <a:t>Along with that we will also add the back button login to go back using a nav button on the supplier view.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Code Link:- 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View2.controller.js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Supplier.view.xml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Supplier.controller.js</a:t>
            </a:r>
          </a:p>
          <a:p>
            <a:pPr marL="285750" indent="-285750">
              <a:buFontTx/>
              <a:buChar char="-"/>
            </a:pPr>
            <a:r>
              <a:rPr lang="en-US" dirty="0"/>
              <a:t>BaseController.js</a:t>
            </a:r>
          </a:p>
          <a:p>
            <a:pPr marL="285750" indent="-285750">
              <a:buFontTx/>
              <a:buChar char="-"/>
            </a:pPr>
            <a:r>
              <a:rPr lang="en-US" dirty="0"/>
              <a:t>manifest.js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E60072-46A7-445D-98E0-5FA57AB0A86E}"/>
              </a:ext>
            </a:extLst>
          </p:cNvPr>
          <p:cNvSpPr txBox="1"/>
          <p:nvPr/>
        </p:nvSpPr>
        <p:spPr>
          <a:xfrm>
            <a:off x="261764" y="3949435"/>
            <a:ext cx="63902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nav back logic is written in BaseController so that it can be used at multiple places.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E0D93-6A63-4DBE-AB60-FB587D700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464" y="1557737"/>
            <a:ext cx="4150076" cy="25391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BD88D8-3985-4668-9A6B-EFA69378C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1317" y="4685736"/>
            <a:ext cx="4091223" cy="18168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10" name="Arrow: Down 9">
            <a:extLst>
              <a:ext uri="{FF2B5EF4-FFF2-40B4-BE49-F238E27FC236}">
                <a16:creationId xmlns:a16="http://schemas.microsoft.com/office/drawing/2014/main" id="{78D3234D-44D8-42DE-A2BE-1058B4AF2FB0}"/>
              </a:ext>
            </a:extLst>
          </p:cNvPr>
          <p:cNvSpPr/>
          <p:nvPr/>
        </p:nvSpPr>
        <p:spPr>
          <a:xfrm>
            <a:off x="9321914" y="4023164"/>
            <a:ext cx="390028" cy="73630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183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Messages in UI5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b="0" i="0" dirty="0">
                <a:solidFill>
                  <a:srgbClr val="32363A"/>
                </a:solidFill>
                <a:effectLst/>
              </a:rPr>
              <a:t>The system generates messages in response to what users do in the SAP system. A message presents information, an instruction, or a warning to users in a given situation.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b="0" i="0" dirty="0">
                <a:solidFill>
                  <a:srgbClr val="32363A"/>
                </a:solidFill>
                <a:effectLst/>
              </a:rPr>
              <a:t>Messages can be used to notify the user about specific states of the application and can help the user to correct their incorrect inputs.</a:t>
            </a:r>
            <a:endParaRPr lang="en-US" dirty="0">
              <a:solidFill>
                <a:srgbClr val="32363A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b="0" i="0" dirty="0">
                <a:solidFill>
                  <a:srgbClr val="32363A"/>
                </a:solidFill>
                <a:effectLst/>
              </a:rPr>
              <a:t>For showing messages to the user that are related to the current page, you have several possible controls. Each of these offers a different type of interaction from the user. Choose the control that fits best in you interaction pattern.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b="1" i="0" dirty="0">
                <a:solidFill>
                  <a:srgbClr val="32363A"/>
                </a:solidFill>
                <a:effectLst/>
              </a:rPr>
              <a:t>Message Dialog: </a:t>
            </a:r>
            <a:r>
              <a:rPr lang="en-US" b="0" i="0" dirty="0">
                <a:solidFill>
                  <a:srgbClr val="32363A"/>
                </a:solidFill>
                <a:effectLst/>
              </a:rPr>
              <a:t>A message dialog interrupts the user's workflow by blocking the current page and needs to be closed by the user.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b="1" i="0" dirty="0">
                <a:solidFill>
                  <a:srgbClr val="32363A"/>
                </a:solidFill>
                <a:effectLst/>
              </a:rPr>
              <a:t>Message Toast: </a:t>
            </a:r>
            <a:r>
              <a:rPr lang="en-US" b="0" i="0" dirty="0">
                <a:solidFill>
                  <a:srgbClr val="32363A"/>
                </a:solidFill>
                <a:effectLst/>
              </a:rPr>
              <a:t>A message toast is an overlay that disappears after some time or if the user taps somewhere else. It does not block the user.</a:t>
            </a:r>
          </a:p>
          <a:p>
            <a:endParaRPr lang="en-US" dirty="0"/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88A729-F6F0-4AC7-8CFF-B8D59DF8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048" y="4358558"/>
            <a:ext cx="3291911" cy="12872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0AF7C1-C7FA-436E-BD30-10F1D576B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974" y="4254858"/>
            <a:ext cx="3190052" cy="150641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DD192A-D0CF-491F-A36C-3C2344BB6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912" y="4248962"/>
            <a:ext cx="3291911" cy="15123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7498AD6-FE30-4166-A277-7CEAF73BF50F}"/>
              </a:ext>
            </a:extLst>
          </p:cNvPr>
          <p:cNvSpPr txBox="1"/>
          <p:nvPr/>
        </p:nvSpPr>
        <p:spPr>
          <a:xfrm>
            <a:off x="952530" y="5894244"/>
            <a:ext cx="284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Message Box of type error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03C824-DEA4-4F8D-B5EE-965BE661330D}"/>
              </a:ext>
            </a:extLst>
          </p:cNvPr>
          <p:cNvSpPr txBox="1"/>
          <p:nvPr/>
        </p:nvSpPr>
        <p:spPr>
          <a:xfrm>
            <a:off x="4538161" y="5897697"/>
            <a:ext cx="311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Message Box of type Confirm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49552F-66BD-4C35-88DB-577FB8E264CA}"/>
              </a:ext>
            </a:extLst>
          </p:cNvPr>
          <p:cNvSpPr txBox="1"/>
          <p:nvPr/>
        </p:nvSpPr>
        <p:spPr>
          <a:xfrm>
            <a:off x="8981701" y="5900154"/>
            <a:ext cx="201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Message Toast</a:t>
            </a:r>
          </a:p>
        </p:txBody>
      </p:sp>
    </p:spTree>
    <p:extLst>
      <p:ext uri="{BB962C8B-B14F-4D97-AF65-F5344CB8AC3E}">
        <p14:creationId xmlns:p14="http://schemas.microsoft.com/office/powerpoint/2010/main" val="2440361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Messages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Now we will see how to use the messages in the ui to get users conformation or to show error to the use.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For this we will see the example of Message Box and Message Toast.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endParaRPr lang="en-US" dirty="0"/>
          </a:p>
          <a:p>
            <a:r>
              <a:rPr lang="en-US" dirty="0"/>
              <a:t>Code Link: - 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View2.view.xml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View2.controller.js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AFFC4-11EC-41D1-902C-CF81FF5BD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153" y="2027690"/>
            <a:ext cx="5709253" cy="35200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50465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Drop Down Controls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will see the example of some Drop Down Controls present in UI5.</a:t>
            </a:r>
          </a:p>
          <a:p>
            <a:r>
              <a:rPr lang="en-US" dirty="0"/>
              <a:t>We will load the cities data in the different types of drop downs to see their functioning.</a:t>
            </a:r>
          </a:p>
          <a:p>
            <a:endParaRPr lang="en-US" dirty="0"/>
          </a:p>
          <a:p>
            <a:r>
              <a:rPr lang="en-US" dirty="0"/>
              <a:t>Code Link:- 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View2.view.xml 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178FF8-E7AA-4D9D-A44F-7BA230D97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024" y="4141369"/>
            <a:ext cx="5762003" cy="204128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0322CE-E12F-4187-9527-DA75BFE8B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7024" y="1745279"/>
            <a:ext cx="3468427" cy="22056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5C0E33-AF4D-4573-AF69-5407D46543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9" y="3240222"/>
            <a:ext cx="4592339" cy="180229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64810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Object Status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time we want to show the status any item in different colors, as in our case we want to show the availability of a fruit in different colors like </a:t>
            </a:r>
            <a:r>
              <a:rPr lang="en-US" dirty="0">
                <a:solidFill>
                  <a:srgbClr val="00B050"/>
                </a:solidFill>
              </a:rPr>
              <a:t>Available</a:t>
            </a:r>
            <a:r>
              <a:rPr lang="en-US" dirty="0"/>
              <a:t>, </a:t>
            </a:r>
            <a:r>
              <a:rPr lang="en-US" dirty="0">
                <a:solidFill>
                  <a:srgbClr val="FFC000"/>
                </a:solidFill>
              </a:rPr>
              <a:t>Out of Stock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Discontinued.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For this we will add the object status attribute in the Object list item in View1.</a:t>
            </a:r>
          </a:p>
          <a:p>
            <a:endParaRPr lang="en-US" dirty="0"/>
          </a:p>
          <a:p>
            <a:r>
              <a:rPr lang="en-US" dirty="0"/>
              <a:t>Code Link:- 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View1.view.xml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View1.controller.js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formatter.js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97E251-7CCF-4E89-867C-48CA77D32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662" y="1524240"/>
            <a:ext cx="2686730" cy="47959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09396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Fragments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prstClr val="black"/>
                </a:solidFill>
                <a:latin typeface="Calibri (Body)"/>
              </a:rPr>
              <a:t>Fragments are light-weight UI parts. They are used to modularize views. We can reuse a fragment multiple times in same view or other views.</a:t>
            </a: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32363A"/>
                </a:solidFill>
                <a:effectLst/>
                <a:latin typeface="Calibri (Body)"/>
              </a:rPr>
              <a:t>Fragments are used similar as sap.ui.core.mvc.Views, but </a:t>
            </a:r>
            <a:r>
              <a:rPr lang="en-US" sz="1800" dirty="0">
                <a:solidFill>
                  <a:prstClr val="black"/>
                </a:solidFill>
                <a:latin typeface="Calibri (Body)"/>
              </a:rPr>
              <a:t>Fragments do not have their own controllers. Logic related to fragment’s UI elements is written in the host view’s controller.</a:t>
            </a:r>
            <a:endParaRPr lang="en-US" dirty="0">
              <a:solidFill>
                <a:prstClr val="black"/>
              </a:solidFill>
              <a:latin typeface="Calibri (Body)"/>
            </a:endParaRP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Fragments are like parasite, they rely on the controllers of the host views.</a:t>
            </a: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There are 2 techniques to create and work with fragments</a:t>
            </a:r>
          </a:p>
          <a:p>
            <a:pPr marL="742950" lvl="1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Direct embedding using fragment</a:t>
            </a:r>
          </a:p>
          <a:p>
            <a:pPr marL="742950" lvl="1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Use JS class sap/ui/core/Fragment and use load function to load it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98812-C60F-408D-90EB-84BDD5364E48}"/>
              </a:ext>
            </a:extLst>
          </p:cNvPr>
          <p:cNvSpPr/>
          <p:nvPr/>
        </p:nvSpPr>
        <p:spPr>
          <a:xfrm>
            <a:off x="1031130" y="4785158"/>
            <a:ext cx="2161172" cy="44154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8B5D86D-511F-4CD6-80B2-9A7F346CAAAC}"/>
              </a:ext>
            </a:extLst>
          </p:cNvPr>
          <p:cNvSpPr/>
          <p:nvPr/>
        </p:nvSpPr>
        <p:spPr>
          <a:xfrm>
            <a:off x="4717769" y="3774872"/>
            <a:ext cx="2362965" cy="116379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View1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52A1A2-08ED-4E3C-8CB7-D92AD3A37D38}"/>
              </a:ext>
            </a:extLst>
          </p:cNvPr>
          <p:cNvSpPr/>
          <p:nvPr/>
        </p:nvSpPr>
        <p:spPr>
          <a:xfrm>
            <a:off x="4717768" y="5318534"/>
            <a:ext cx="2362965" cy="116379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View 2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371CB-D7A0-4ED7-B3E8-97A638C100F8}"/>
              </a:ext>
            </a:extLst>
          </p:cNvPr>
          <p:cNvSpPr/>
          <p:nvPr/>
        </p:nvSpPr>
        <p:spPr>
          <a:xfrm>
            <a:off x="5075149" y="4387051"/>
            <a:ext cx="1648511" cy="3029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5D3AB-456B-49D8-A4E6-42F8D91604B4}"/>
              </a:ext>
            </a:extLst>
          </p:cNvPr>
          <p:cNvSpPr/>
          <p:nvPr/>
        </p:nvSpPr>
        <p:spPr>
          <a:xfrm>
            <a:off x="5075149" y="5906433"/>
            <a:ext cx="1648511" cy="3029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62D8BD-F839-43C5-89F4-0C3A0898E4CD}"/>
              </a:ext>
            </a:extLst>
          </p:cNvPr>
          <p:cNvCxnSpPr>
            <a:stCxn id="6" idx="3"/>
          </p:cNvCxnSpPr>
          <p:nvPr/>
        </p:nvCxnSpPr>
        <p:spPr>
          <a:xfrm flipV="1">
            <a:off x="3192302" y="4369287"/>
            <a:ext cx="1883558" cy="6366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898BF2-6AD9-49AE-B549-76A8612F3CDB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192302" y="5005931"/>
            <a:ext cx="1882847" cy="10519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EFC355-4BE5-4E19-AFB9-544389195FB0}"/>
              </a:ext>
            </a:extLst>
          </p:cNvPr>
          <p:cNvSpPr/>
          <p:nvPr/>
        </p:nvSpPr>
        <p:spPr>
          <a:xfrm>
            <a:off x="7799794" y="3761512"/>
            <a:ext cx="2362965" cy="1163799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Controller1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684521-3404-4432-8F3E-0AD4A32E0130}"/>
              </a:ext>
            </a:extLst>
          </p:cNvPr>
          <p:cNvSpPr/>
          <p:nvPr/>
        </p:nvSpPr>
        <p:spPr>
          <a:xfrm>
            <a:off x="7814705" y="5326154"/>
            <a:ext cx="2362965" cy="1163799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Controller2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E8F0086D-D1AD-4D3F-B5EE-CAE8E8D848D5}"/>
              </a:ext>
            </a:extLst>
          </p:cNvPr>
          <p:cNvSpPr/>
          <p:nvPr/>
        </p:nvSpPr>
        <p:spPr>
          <a:xfrm>
            <a:off x="7080423" y="4212260"/>
            <a:ext cx="720392" cy="29436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7" name="Arrow: Left-Right 16">
            <a:extLst>
              <a:ext uri="{FF2B5EF4-FFF2-40B4-BE49-F238E27FC236}">
                <a16:creationId xmlns:a16="http://schemas.microsoft.com/office/drawing/2014/main" id="{56464D73-F08C-4C72-9C9E-D6E669D7479C}"/>
              </a:ext>
            </a:extLst>
          </p:cNvPr>
          <p:cNvSpPr/>
          <p:nvPr/>
        </p:nvSpPr>
        <p:spPr>
          <a:xfrm>
            <a:off x="7077454" y="5762602"/>
            <a:ext cx="720392" cy="29436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DFE9293-E0EA-4172-B2C1-9AFEE65BF498}"/>
              </a:ext>
            </a:extLst>
          </p:cNvPr>
          <p:cNvSpPr/>
          <p:nvPr/>
        </p:nvSpPr>
        <p:spPr>
          <a:xfrm>
            <a:off x="2759974" y="5076785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157FFFE-EE93-465C-B3A5-CA225A10A631}"/>
              </a:ext>
            </a:extLst>
          </p:cNvPr>
          <p:cNvSpPr/>
          <p:nvPr/>
        </p:nvSpPr>
        <p:spPr>
          <a:xfrm>
            <a:off x="6556628" y="4488500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3C0E547-5F07-4E9C-8D42-0FCAE9BEA7B4}"/>
              </a:ext>
            </a:extLst>
          </p:cNvPr>
          <p:cNvSpPr/>
          <p:nvPr/>
        </p:nvSpPr>
        <p:spPr>
          <a:xfrm>
            <a:off x="6554731" y="6129498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23" name="Flowchart: Terminator 22">
            <a:extLst>
              <a:ext uri="{FF2B5EF4-FFF2-40B4-BE49-F238E27FC236}">
                <a16:creationId xmlns:a16="http://schemas.microsoft.com/office/drawing/2014/main" id="{8B562742-3AB3-4B38-AFD6-3A3DBF39AE52}"/>
              </a:ext>
            </a:extLst>
          </p:cNvPr>
          <p:cNvSpPr/>
          <p:nvPr/>
        </p:nvSpPr>
        <p:spPr>
          <a:xfrm>
            <a:off x="8304186" y="4359937"/>
            <a:ext cx="1584860" cy="434718"/>
          </a:xfrm>
          <a:prstGeom prst="flowChartTerminator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/>
              <a:t>Event for fragment button</a:t>
            </a:r>
          </a:p>
        </p:txBody>
      </p:sp>
      <p:sp>
        <p:nvSpPr>
          <p:cNvPr id="24" name="Flowchart: Terminator 23">
            <a:extLst>
              <a:ext uri="{FF2B5EF4-FFF2-40B4-BE49-F238E27FC236}">
                <a16:creationId xmlns:a16="http://schemas.microsoft.com/office/drawing/2014/main" id="{401EE5BF-D5C8-48CC-9061-B753E8896420}"/>
              </a:ext>
            </a:extLst>
          </p:cNvPr>
          <p:cNvSpPr/>
          <p:nvPr/>
        </p:nvSpPr>
        <p:spPr>
          <a:xfrm>
            <a:off x="8304186" y="5874242"/>
            <a:ext cx="1584860" cy="434718"/>
          </a:xfrm>
          <a:prstGeom prst="flowChartTerminator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/>
              <a:t>Event for fragment button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2BAF55C-0116-4515-B2E4-6206DCFB3207}"/>
              </a:ext>
            </a:extLst>
          </p:cNvPr>
          <p:cNvSpPr txBox="1"/>
          <p:nvPr/>
        </p:nvSpPr>
        <p:spPr>
          <a:xfrm>
            <a:off x="940878" y="4163760"/>
            <a:ext cx="2296863" cy="597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Address – street, house, city, country</a:t>
            </a:r>
          </a:p>
        </p:txBody>
      </p:sp>
    </p:spTree>
    <p:extLst>
      <p:ext uri="{BB962C8B-B14F-4D97-AF65-F5344CB8AC3E}">
        <p14:creationId xmlns:p14="http://schemas.microsoft.com/office/powerpoint/2010/main" val="3546823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F07FC580-E2AB-4C55-8C95-D5E077A1D127}"/>
              </a:ext>
            </a:extLst>
          </p:cNvPr>
          <p:cNvSpPr txBox="1">
            <a:spLocks/>
          </p:cNvSpPr>
          <p:nvPr/>
        </p:nvSpPr>
        <p:spPr>
          <a:xfrm>
            <a:off x="261764" y="188640"/>
            <a:ext cx="11292008" cy="7110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Footer Placeholder 45">
            <a:extLst>
              <a:ext uri="{FF2B5EF4-FFF2-40B4-BE49-F238E27FC236}">
                <a16:creationId xmlns:a16="http://schemas.microsoft.com/office/drawing/2014/main" id="{90E33047-DFF5-4690-8905-31E4C115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23055" y="6548582"/>
            <a:ext cx="2225295" cy="20362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Trainer: Anubhav Oberoy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2BC072-3193-7B45-9313-D2D8113896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822" b="782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FF912B5-CB91-984A-A326-06D0A1B895C3}"/>
              </a:ext>
            </a:extLst>
          </p:cNvPr>
          <p:cNvSpPr/>
          <p:nvPr/>
        </p:nvSpPr>
        <p:spPr>
          <a:xfrm>
            <a:off x="-2415" y="-2412"/>
            <a:ext cx="12192001" cy="6858000"/>
          </a:xfrm>
          <a:prstGeom prst="roundRect">
            <a:avLst>
              <a:gd name="adj" fmla="val 0"/>
            </a:avLst>
          </a:prstGeom>
          <a:solidFill>
            <a:schemeClr val="tx2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15253-65BB-C843-B5D8-DB41A0DCD078}"/>
              </a:ext>
            </a:extLst>
          </p:cNvPr>
          <p:cNvSpPr/>
          <p:nvPr/>
        </p:nvSpPr>
        <p:spPr>
          <a:xfrm>
            <a:off x="3879679" y="3011089"/>
            <a:ext cx="442781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48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End of </a:t>
            </a:r>
            <a:r>
              <a:rPr kumimoji="0" lang="en-IN" sz="4800" b="1" i="0" u="none" strike="noStrike" kern="1200" cap="none" spc="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Day 16</a:t>
            </a:r>
            <a:endParaRPr kumimoji="0" lang="en-IN" sz="48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243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Free Vector | Flat people with question marks background">
            <a:extLst>
              <a:ext uri="{FF2B5EF4-FFF2-40B4-BE49-F238E27FC236}">
                <a16:creationId xmlns:a16="http://schemas.microsoft.com/office/drawing/2014/main" id="{E158EC70-4769-4E41-A278-C90EC4E480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22246"/>
          <a:stretch/>
        </p:blipFill>
        <p:spPr bwMode="auto">
          <a:xfrm>
            <a:off x="1848418" y="648942"/>
            <a:ext cx="7599507" cy="5908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4C3DB2-D47E-4B94-804B-87AF1FDEF86E}"/>
              </a:ext>
            </a:extLst>
          </p:cNvPr>
          <p:cNvSpPr txBox="1"/>
          <p:nvPr/>
        </p:nvSpPr>
        <p:spPr>
          <a:xfrm>
            <a:off x="4535055" y="1052946"/>
            <a:ext cx="558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Questions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57951"/>
            <a:ext cx="716699" cy="707887"/>
          </a:xfrm>
          <a:prstGeom prst="rect">
            <a:avLst/>
          </a:prstGeom>
        </p:spPr>
      </p:pic>
      <p:sp>
        <p:nvSpPr>
          <p:cNvPr id="9" name="Footer Placeholder 45">
            <a:extLst>
              <a:ext uri="{FF2B5EF4-FFF2-40B4-BE49-F238E27FC236}">
                <a16:creationId xmlns:a16="http://schemas.microsoft.com/office/drawing/2014/main" id="{1E8E93DB-81E4-442B-B897-F70226371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30811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Ski Jumping Arena - Free Presentation Templates">
            <a:extLst>
              <a:ext uri="{FF2B5EF4-FFF2-40B4-BE49-F238E27FC236}">
                <a16:creationId xmlns:a16="http://schemas.microsoft.com/office/drawing/2014/main" id="{B0D7E6A1-F72A-4F69-B4FB-A4ED7A0C6C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6" b="224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910833" y="3561520"/>
            <a:ext cx="6629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spc="-150" dirty="0">
                <a:solidFill>
                  <a:prstClr val="white"/>
                </a:solidFill>
                <a:latin typeface="Calibri" panose="020F0502020204030204"/>
              </a:rPr>
              <a:t>Sakshi Gupta</a:t>
            </a:r>
            <a:endParaRPr kumimoji="0" 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64" y="0"/>
            <a:ext cx="1977514" cy="19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08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30278" y="2339163"/>
            <a:ext cx="9161718" cy="4518837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487793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7" y="-1"/>
            <a:ext cx="12188826" cy="487793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6" y="-10291"/>
            <a:ext cx="12187238" cy="4888227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660" y="5992677"/>
            <a:ext cx="36361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Contact us today!</a:t>
            </a:r>
          </a:p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https://anubhavtrainings.com/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80349" y="2925900"/>
            <a:ext cx="323028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 build the workforce of the future.</a:t>
            </a:r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FFFFFF">
                  <a:lumMod val="95000"/>
                </a:srgb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995" y="311377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250+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880" y="311377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30,000+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6601" y="311141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25000+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592" y="2279542"/>
            <a:ext cx="640226" cy="6402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6417" y="2272463"/>
            <a:ext cx="672103" cy="67210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685" y="691519"/>
            <a:ext cx="657267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We’re committed to empower you to 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Most Desirable Resource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660" y="4998907"/>
            <a:ext cx="3901573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10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FREE WEBINARS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2741" y="2194371"/>
            <a:ext cx="852087" cy="852087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9296" y="3369105"/>
            <a:ext cx="5612646" cy="3381741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3739" y="5575313"/>
            <a:ext cx="2196807" cy="5474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hlinkClick r:id="rId9"/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400880" y="5490869"/>
            <a:ext cx="2196807" cy="5474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4221" y="5590861"/>
            <a:ext cx="1467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Enroll Now!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EE5CC4-6884-48A9-8EE9-C0C15B8FD14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916" y="501199"/>
            <a:ext cx="1956681" cy="193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607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8A4613-6F8A-40A2-B2DE-12F49D2C9098}"/>
              </a:ext>
            </a:extLst>
          </p:cNvPr>
          <p:cNvSpPr txBox="1"/>
          <p:nvPr/>
        </p:nvSpPr>
        <p:spPr>
          <a:xfrm>
            <a:off x="92365" y="180309"/>
            <a:ext cx="11462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ooper Black" panose="0208090404030B020404" pitchFamily="18" charset="0"/>
              </a:rPr>
              <a:t>More from AnubhavTrainings.com</a:t>
            </a:r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3C11E744-8456-4A37-9BA0-092AF3415D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878" y="826640"/>
            <a:ext cx="5727192" cy="3452752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8" name="Picture 7">
            <a:hlinkClick r:id="rId4"/>
            <a:extLst>
              <a:ext uri="{FF2B5EF4-FFF2-40B4-BE49-F238E27FC236}">
                <a16:creationId xmlns:a16="http://schemas.microsoft.com/office/drawing/2014/main" id="{D78BFE9E-91A1-40B2-B91E-34E16BAEAB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30" y="1061561"/>
            <a:ext cx="5956261" cy="3337560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10" name="Picture 9">
            <a:hlinkClick r:id="rId6"/>
            <a:extLst>
              <a:ext uri="{FF2B5EF4-FFF2-40B4-BE49-F238E27FC236}">
                <a16:creationId xmlns:a16="http://schemas.microsoft.com/office/drawing/2014/main" id="{4B4996AA-9A5C-4627-ABFF-5F312BFC76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877" y="3132709"/>
            <a:ext cx="5727193" cy="3539652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11" name="Picture 10">
            <a:hlinkClick r:id="rId8"/>
            <a:extLst>
              <a:ext uri="{FF2B5EF4-FFF2-40B4-BE49-F238E27FC236}">
                <a16:creationId xmlns:a16="http://schemas.microsoft.com/office/drawing/2014/main" id="{82B165D0-C409-4669-9E36-D2FB63835D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258" y="3340131"/>
            <a:ext cx="5998933" cy="3304731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647541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Title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Content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3216820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3174</TotalTime>
  <Words>853</Words>
  <Application>Microsoft Office PowerPoint</Application>
  <PresentationFormat>Widescreen</PresentationFormat>
  <Paragraphs>117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(Body)</vt:lpstr>
      <vt:lpstr>Calibri Light</vt:lpstr>
      <vt:lpstr>Cooper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cvedi@soyuztechnologies.com</dc:creator>
  <cp:lastModifiedBy>Anubhav Oberoy</cp:lastModifiedBy>
  <cp:revision>24</cp:revision>
  <dcterms:created xsi:type="dcterms:W3CDTF">2023-08-10T16:09:42Z</dcterms:created>
  <dcterms:modified xsi:type="dcterms:W3CDTF">2026-05-06T05:03:08Z</dcterms:modified>
</cp:coreProperties>
</file>