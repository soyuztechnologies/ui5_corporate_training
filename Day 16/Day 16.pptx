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463" r:id="rId3"/>
    <p:sldId id="634" r:id="rId4"/>
    <p:sldId id="635" r:id="rId5"/>
    <p:sldId id="686" r:id="rId6"/>
    <p:sldId id="636" r:id="rId7"/>
    <p:sldId id="637" r:id="rId8"/>
    <p:sldId id="481" r:id="rId9"/>
    <p:sldId id="482" r:id="rId10"/>
    <p:sldId id="50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46" autoAdjust="0"/>
    <p:restoredTop sz="94660"/>
  </p:normalViewPr>
  <p:slideViewPr>
    <p:cSldViewPr snapToGrid="0">
      <p:cViewPr varScale="1">
        <p:scale>
          <a:sx n="104" d="100"/>
          <a:sy n="104" d="100"/>
        </p:scale>
        <p:origin x="528"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22D637-C006-42E6-A174-C6026AE378E9}" type="datetimeFigureOut">
              <a:rPr lang="en-US" smtClean="0"/>
              <a:t>5/5/2026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901250-761B-44F6-8368-AF30FD50D892}" type="slidenum">
              <a:rPr lang="en-US" smtClean="0"/>
              <a:t>‹#›</a:t>
            </a:fld>
            <a:endParaRPr lang="en-US"/>
          </a:p>
        </p:txBody>
      </p:sp>
    </p:spTree>
    <p:extLst>
      <p:ext uri="{BB962C8B-B14F-4D97-AF65-F5344CB8AC3E}">
        <p14:creationId xmlns:p14="http://schemas.microsoft.com/office/powerpoint/2010/main" val="25150921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701775E-EDE2-4DE5-A02D-A8BD8C6F6AC0}" type="slidenum">
              <a:rPr lang="en-US" smtClean="0"/>
              <a:t>1</a:t>
            </a:fld>
            <a:endParaRPr lang="en-US"/>
          </a:p>
        </p:txBody>
      </p:sp>
    </p:spTree>
    <p:extLst>
      <p:ext uri="{BB962C8B-B14F-4D97-AF65-F5344CB8AC3E}">
        <p14:creationId xmlns:p14="http://schemas.microsoft.com/office/powerpoint/2010/main" val="13186056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696306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6395E-E079-DACB-6D25-57F51D4C98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511E57C-29F5-F905-5B42-98C60F0F82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11F71E9-5DA9-7716-49A2-F07114C2248C}"/>
              </a:ext>
            </a:extLst>
          </p:cNvPr>
          <p:cNvSpPr>
            <a:spLocks noGrp="1"/>
          </p:cNvSpPr>
          <p:nvPr>
            <p:ph type="dt" sz="half" idx="10"/>
          </p:nvPr>
        </p:nvSpPr>
        <p:spPr/>
        <p:txBody>
          <a:bodyPr/>
          <a:lstStyle/>
          <a:p>
            <a:fld id="{A07C0A8A-41AC-4DAE-9E4E-FDD64E7E0D14}" type="datetimeFigureOut">
              <a:rPr lang="en-US" smtClean="0"/>
              <a:t>5/5/2026</a:t>
            </a:fld>
            <a:endParaRPr lang="en-US"/>
          </a:p>
        </p:txBody>
      </p:sp>
      <p:sp>
        <p:nvSpPr>
          <p:cNvPr id="5" name="Footer Placeholder 4">
            <a:extLst>
              <a:ext uri="{FF2B5EF4-FFF2-40B4-BE49-F238E27FC236}">
                <a16:creationId xmlns:a16="http://schemas.microsoft.com/office/drawing/2014/main" id="{0E18502B-4907-75FF-A9BB-80D9AAFE72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271CF6-B4C0-BF2D-11DE-E0BEA28BC5A0}"/>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410285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889E8-FCB4-9DA9-0A7D-8655E39CBF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D7BFB0-8F07-3C1B-C37E-6D7CB0A185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612626-62C0-F477-6CCC-65005110E278}"/>
              </a:ext>
            </a:extLst>
          </p:cNvPr>
          <p:cNvSpPr>
            <a:spLocks noGrp="1"/>
          </p:cNvSpPr>
          <p:nvPr>
            <p:ph type="dt" sz="half" idx="10"/>
          </p:nvPr>
        </p:nvSpPr>
        <p:spPr/>
        <p:txBody>
          <a:bodyPr/>
          <a:lstStyle/>
          <a:p>
            <a:fld id="{A07C0A8A-41AC-4DAE-9E4E-FDD64E7E0D14}" type="datetimeFigureOut">
              <a:rPr lang="en-US" smtClean="0"/>
              <a:t>5/5/2026</a:t>
            </a:fld>
            <a:endParaRPr lang="en-US"/>
          </a:p>
        </p:txBody>
      </p:sp>
      <p:sp>
        <p:nvSpPr>
          <p:cNvPr id="5" name="Footer Placeholder 4">
            <a:extLst>
              <a:ext uri="{FF2B5EF4-FFF2-40B4-BE49-F238E27FC236}">
                <a16:creationId xmlns:a16="http://schemas.microsoft.com/office/drawing/2014/main" id="{73E81A14-A92C-660C-BFF1-2256458CE6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AFDDE6-514B-C120-9491-856D93CD7E42}"/>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12499256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7DE49-66CB-31F1-9FB1-26059AA7D3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2883F89-DD41-2E22-51DF-3F664083C9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3A42583-9B81-8E22-40D8-D858C6B2C5C6}"/>
              </a:ext>
            </a:extLst>
          </p:cNvPr>
          <p:cNvSpPr>
            <a:spLocks noGrp="1"/>
          </p:cNvSpPr>
          <p:nvPr>
            <p:ph type="dt" sz="half" idx="10"/>
          </p:nvPr>
        </p:nvSpPr>
        <p:spPr/>
        <p:txBody>
          <a:bodyPr/>
          <a:lstStyle/>
          <a:p>
            <a:fld id="{A07C0A8A-41AC-4DAE-9E4E-FDD64E7E0D14}" type="datetimeFigureOut">
              <a:rPr lang="en-US" smtClean="0"/>
              <a:t>5/5/2026</a:t>
            </a:fld>
            <a:endParaRPr lang="en-US"/>
          </a:p>
        </p:txBody>
      </p:sp>
      <p:sp>
        <p:nvSpPr>
          <p:cNvPr id="5" name="Footer Placeholder 4">
            <a:extLst>
              <a:ext uri="{FF2B5EF4-FFF2-40B4-BE49-F238E27FC236}">
                <a16:creationId xmlns:a16="http://schemas.microsoft.com/office/drawing/2014/main" id="{6A9E60ED-6415-E3A1-C265-30E2362C39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046095-DBBF-DE47-6DE3-AC6B04F450F7}"/>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4264697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7F89F-1659-6ADC-5C23-CA6D6DC1D1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97093D-9C34-89BA-4CAE-C09D987F01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1E4605B-DED1-0FE9-A171-7732D075D6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C056C3D-7BEB-7411-21D9-DA641225474C}"/>
              </a:ext>
            </a:extLst>
          </p:cNvPr>
          <p:cNvSpPr>
            <a:spLocks noGrp="1"/>
          </p:cNvSpPr>
          <p:nvPr>
            <p:ph type="dt" sz="half" idx="10"/>
          </p:nvPr>
        </p:nvSpPr>
        <p:spPr/>
        <p:txBody>
          <a:bodyPr/>
          <a:lstStyle/>
          <a:p>
            <a:fld id="{A07C0A8A-41AC-4DAE-9E4E-FDD64E7E0D14}" type="datetimeFigureOut">
              <a:rPr lang="en-US" smtClean="0"/>
              <a:t>5/5/2026</a:t>
            </a:fld>
            <a:endParaRPr lang="en-US"/>
          </a:p>
        </p:txBody>
      </p:sp>
      <p:sp>
        <p:nvSpPr>
          <p:cNvPr id="6" name="Footer Placeholder 5">
            <a:extLst>
              <a:ext uri="{FF2B5EF4-FFF2-40B4-BE49-F238E27FC236}">
                <a16:creationId xmlns:a16="http://schemas.microsoft.com/office/drawing/2014/main" id="{E2E14848-119F-0F22-5E3E-EF27FC13B6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3F5BDF-DA69-6CA4-0E68-1D9BD9F21593}"/>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1333675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5D7A2-D118-7739-D659-DFF55A94861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2897781-3927-4358-341E-FBC58DA9BD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66BBA0-9B8D-A118-6CB6-3A58186FFA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DD9F280-F299-00B9-8708-87B5B5566F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0469B73-0A37-32C7-7EFE-CA944A25FA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9722BFB-5D16-D151-CDC9-0503AD186C75}"/>
              </a:ext>
            </a:extLst>
          </p:cNvPr>
          <p:cNvSpPr>
            <a:spLocks noGrp="1"/>
          </p:cNvSpPr>
          <p:nvPr>
            <p:ph type="dt" sz="half" idx="10"/>
          </p:nvPr>
        </p:nvSpPr>
        <p:spPr/>
        <p:txBody>
          <a:bodyPr/>
          <a:lstStyle/>
          <a:p>
            <a:fld id="{A07C0A8A-41AC-4DAE-9E4E-FDD64E7E0D14}" type="datetimeFigureOut">
              <a:rPr lang="en-US" smtClean="0"/>
              <a:t>5/5/2026</a:t>
            </a:fld>
            <a:endParaRPr lang="en-US"/>
          </a:p>
        </p:txBody>
      </p:sp>
      <p:sp>
        <p:nvSpPr>
          <p:cNvPr id="8" name="Footer Placeholder 7">
            <a:extLst>
              <a:ext uri="{FF2B5EF4-FFF2-40B4-BE49-F238E27FC236}">
                <a16:creationId xmlns:a16="http://schemas.microsoft.com/office/drawing/2014/main" id="{D787A83C-873D-2132-A807-823449AC611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3039121-25AA-5210-271C-D81FADD017CC}"/>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306212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AB2B7-ADD3-F38E-0BC4-21ED3359EB2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D3E4067-9BC8-6E83-5B87-013F4232E9F3}"/>
              </a:ext>
            </a:extLst>
          </p:cNvPr>
          <p:cNvSpPr>
            <a:spLocks noGrp="1"/>
          </p:cNvSpPr>
          <p:nvPr>
            <p:ph type="dt" sz="half" idx="10"/>
          </p:nvPr>
        </p:nvSpPr>
        <p:spPr/>
        <p:txBody>
          <a:bodyPr/>
          <a:lstStyle/>
          <a:p>
            <a:fld id="{A07C0A8A-41AC-4DAE-9E4E-FDD64E7E0D14}" type="datetimeFigureOut">
              <a:rPr lang="en-US" smtClean="0"/>
              <a:t>5/5/2026</a:t>
            </a:fld>
            <a:endParaRPr lang="en-US"/>
          </a:p>
        </p:txBody>
      </p:sp>
      <p:sp>
        <p:nvSpPr>
          <p:cNvPr id="4" name="Footer Placeholder 3">
            <a:extLst>
              <a:ext uri="{FF2B5EF4-FFF2-40B4-BE49-F238E27FC236}">
                <a16:creationId xmlns:a16="http://schemas.microsoft.com/office/drawing/2014/main" id="{FDD0997B-C324-3856-6EA1-C25D9F703E7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D91111C-142F-7C72-5849-8AA401A2FD5D}"/>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1903409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1EDFE2-60CD-B3B1-B4B2-42D1FDA3C74E}"/>
              </a:ext>
            </a:extLst>
          </p:cNvPr>
          <p:cNvSpPr>
            <a:spLocks noGrp="1"/>
          </p:cNvSpPr>
          <p:nvPr>
            <p:ph type="dt" sz="half" idx="10"/>
          </p:nvPr>
        </p:nvSpPr>
        <p:spPr/>
        <p:txBody>
          <a:bodyPr/>
          <a:lstStyle/>
          <a:p>
            <a:fld id="{A07C0A8A-41AC-4DAE-9E4E-FDD64E7E0D14}" type="datetimeFigureOut">
              <a:rPr lang="en-US" smtClean="0"/>
              <a:t>5/5/2026</a:t>
            </a:fld>
            <a:endParaRPr lang="en-US"/>
          </a:p>
        </p:txBody>
      </p:sp>
      <p:sp>
        <p:nvSpPr>
          <p:cNvPr id="3" name="Footer Placeholder 2">
            <a:extLst>
              <a:ext uri="{FF2B5EF4-FFF2-40B4-BE49-F238E27FC236}">
                <a16:creationId xmlns:a16="http://schemas.microsoft.com/office/drawing/2014/main" id="{D2B317B3-B0F4-473A-0AF2-297BAD47F4D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8378CF-1FF8-0175-AB59-DDDB669A2213}"/>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2415970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9E2DA-CD90-4D21-CECB-9C6D5B8F30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2BE4B0E-7D6B-BC5C-4F21-A013E8D541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4E58BE8-98A4-EBA6-E87B-9A490FF099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67C946-03D1-3B40-1975-BBBCCB6D7E10}"/>
              </a:ext>
            </a:extLst>
          </p:cNvPr>
          <p:cNvSpPr>
            <a:spLocks noGrp="1"/>
          </p:cNvSpPr>
          <p:nvPr>
            <p:ph type="dt" sz="half" idx="10"/>
          </p:nvPr>
        </p:nvSpPr>
        <p:spPr/>
        <p:txBody>
          <a:bodyPr/>
          <a:lstStyle/>
          <a:p>
            <a:fld id="{A07C0A8A-41AC-4DAE-9E4E-FDD64E7E0D14}" type="datetimeFigureOut">
              <a:rPr lang="en-US" smtClean="0"/>
              <a:t>5/5/2026</a:t>
            </a:fld>
            <a:endParaRPr lang="en-US"/>
          </a:p>
        </p:txBody>
      </p:sp>
      <p:sp>
        <p:nvSpPr>
          <p:cNvPr id="6" name="Footer Placeholder 5">
            <a:extLst>
              <a:ext uri="{FF2B5EF4-FFF2-40B4-BE49-F238E27FC236}">
                <a16:creationId xmlns:a16="http://schemas.microsoft.com/office/drawing/2014/main" id="{E5377332-801A-85BB-0C55-AA0F32C509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5D4EAC-E46E-EE20-FB5B-CA709ED0F4FC}"/>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7798537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D2EC4-5BAC-99BD-A525-A130C8B429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2EF67D5-1C5D-9DCF-4AE1-082A7C5198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CDD2C99-36B1-C8B8-21D0-3540E714E5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5886B7-56B2-05F6-417C-4429B1615BC7}"/>
              </a:ext>
            </a:extLst>
          </p:cNvPr>
          <p:cNvSpPr>
            <a:spLocks noGrp="1"/>
          </p:cNvSpPr>
          <p:nvPr>
            <p:ph type="dt" sz="half" idx="10"/>
          </p:nvPr>
        </p:nvSpPr>
        <p:spPr/>
        <p:txBody>
          <a:bodyPr/>
          <a:lstStyle/>
          <a:p>
            <a:fld id="{A07C0A8A-41AC-4DAE-9E4E-FDD64E7E0D14}" type="datetimeFigureOut">
              <a:rPr lang="en-US" smtClean="0"/>
              <a:t>5/5/2026</a:t>
            </a:fld>
            <a:endParaRPr lang="en-US"/>
          </a:p>
        </p:txBody>
      </p:sp>
      <p:sp>
        <p:nvSpPr>
          <p:cNvPr id="6" name="Footer Placeholder 5">
            <a:extLst>
              <a:ext uri="{FF2B5EF4-FFF2-40B4-BE49-F238E27FC236}">
                <a16:creationId xmlns:a16="http://schemas.microsoft.com/office/drawing/2014/main" id="{BE26761A-6FDB-FF76-70E2-C4AE1D0B77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253415-C75E-0F45-3E41-EDDDC1478567}"/>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3325020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46F19-9775-741C-EC49-DCCF3BD2C4C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A8F0242-646E-6F4E-4E1B-AC31A2A15A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95D07D-9B81-ABE3-7185-B4C08B8F46C9}"/>
              </a:ext>
            </a:extLst>
          </p:cNvPr>
          <p:cNvSpPr>
            <a:spLocks noGrp="1"/>
          </p:cNvSpPr>
          <p:nvPr>
            <p:ph type="dt" sz="half" idx="10"/>
          </p:nvPr>
        </p:nvSpPr>
        <p:spPr/>
        <p:txBody>
          <a:bodyPr/>
          <a:lstStyle/>
          <a:p>
            <a:fld id="{A07C0A8A-41AC-4DAE-9E4E-FDD64E7E0D14}" type="datetimeFigureOut">
              <a:rPr lang="en-US" smtClean="0"/>
              <a:t>5/5/2026</a:t>
            </a:fld>
            <a:endParaRPr lang="en-US"/>
          </a:p>
        </p:txBody>
      </p:sp>
      <p:sp>
        <p:nvSpPr>
          <p:cNvPr id="5" name="Footer Placeholder 4">
            <a:extLst>
              <a:ext uri="{FF2B5EF4-FFF2-40B4-BE49-F238E27FC236}">
                <a16:creationId xmlns:a16="http://schemas.microsoft.com/office/drawing/2014/main" id="{066A1A36-FE5F-FA2B-E9EB-26D3D7CB15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A02252-D52F-CD5B-E286-2EBB19BBECD2}"/>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27635614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0644E3-D095-45E8-8EA0-E2AFF3A4DA4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36AE5F-5955-AAB2-4652-F50EBBA57F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1DC67C-13F0-0123-EE54-C39B5162E443}"/>
              </a:ext>
            </a:extLst>
          </p:cNvPr>
          <p:cNvSpPr>
            <a:spLocks noGrp="1"/>
          </p:cNvSpPr>
          <p:nvPr>
            <p:ph type="dt" sz="half" idx="10"/>
          </p:nvPr>
        </p:nvSpPr>
        <p:spPr/>
        <p:txBody>
          <a:bodyPr/>
          <a:lstStyle/>
          <a:p>
            <a:fld id="{A07C0A8A-41AC-4DAE-9E4E-FDD64E7E0D14}" type="datetimeFigureOut">
              <a:rPr lang="en-US" smtClean="0"/>
              <a:t>5/5/2026</a:t>
            </a:fld>
            <a:endParaRPr lang="en-US"/>
          </a:p>
        </p:txBody>
      </p:sp>
      <p:sp>
        <p:nvSpPr>
          <p:cNvPr id="5" name="Footer Placeholder 4">
            <a:extLst>
              <a:ext uri="{FF2B5EF4-FFF2-40B4-BE49-F238E27FC236}">
                <a16:creationId xmlns:a16="http://schemas.microsoft.com/office/drawing/2014/main" id="{27D9E99A-F71D-6B91-D588-F6996A617D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73557B-A0F3-3845-E09A-48858AAB998D}"/>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945142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92000"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230258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6E32D0-F8E7-6CFB-FABB-8CC60C4794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2799FAE-B5CA-E0E4-F007-632D8D52C4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A84C42-F4BB-671F-8EC9-FE1A75D3E2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7C0A8A-41AC-4DAE-9E4E-FDD64E7E0D14}" type="datetimeFigureOut">
              <a:rPr lang="en-US" smtClean="0"/>
              <a:t>5/5/2026</a:t>
            </a:fld>
            <a:endParaRPr lang="en-US"/>
          </a:p>
        </p:txBody>
      </p:sp>
      <p:sp>
        <p:nvSpPr>
          <p:cNvPr id="5" name="Footer Placeholder 4">
            <a:extLst>
              <a:ext uri="{FF2B5EF4-FFF2-40B4-BE49-F238E27FC236}">
                <a16:creationId xmlns:a16="http://schemas.microsoft.com/office/drawing/2014/main" id="{7A4E3665-1FF2-646B-F7DC-DBF5D58224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627846-5AAA-0208-57FF-05A7D36F6E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859B9F-1392-4886-95E1-6327877061A5}" type="slidenum">
              <a:rPr lang="en-US" smtClean="0"/>
              <a:t>‹#›</a:t>
            </a:fld>
            <a:endParaRPr lang="en-US"/>
          </a:p>
        </p:txBody>
      </p:sp>
    </p:spTree>
    <p:extLst>
      <p:ext uri="{BB962C8B-B14F-4D97-AF65-F5344CB8AC3E}">
        <p14:creationId xmlns:p14="http://schemas.microsoft.com/office/powerpoint/2010/main" val="8621832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8.jpeg"/><Relationship Id="rId7" Type="http://schemas.openxmlformats.org/officeDocument/2006/relationships/image" Target="../media/image12.tiff"/><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11.tiff"/><Relationship Id="rId5" Type="http://schemas.openxmlformats.org/officeDocument/2006/relationships/image" Target="../media/image10.tiff"/><Relationship Id="rId10" Type="http://schemas.openxmlformats.org/officeDocument/2006/relationships/image" Target="../media/image2.png"/><Relationship Id="rId4" Type="http://schemas.openxmlformats.org/officeDocument/2006/relationships/image" Target="../media/image9.tiff"/><Relationship Id="rId9" Type="http://schemas.openxmlformats.org/officeDocument/2006/relationships/hyperlink" Target="https://anubhavtrainings.com/" TargetMode="External"/></Relationships>
</file>

<file path=ppt/slides/_rels/slide9.xml.rels><?xml version="1.0" encoding="UTF-8" standalone="yes"?>
<Relationships xmlns="http://schemas.openxmlformats.org/package/2006/relationships"><Relationship Id="rId8" Type="http://schemas.openxmlformats.org/officeDocument/2006/relationships/hyperlink" Target="https://www.youtube.com/watch?v=NV8UD9QnJ4A&amp;list=PLcxqFaocb9WLaza2kOjkUCDIQGbzNos6p" TargetMode="External"/><Relationship Id="rId3" Type="http://schemas.openxmlformats.org/officeDocument/2006/relationships/image" Target="../media/image14.jpg"/><Relationship Id="rId7" Type="http://schemas.openxmlformats.org/officeDocument/2006/relationships/image" Target="../media/image16.jpg"/><Relationship Id="rId2" Type="http://schemas.openxmlformats.org/officeDocument/2006/relationships/hyperlink" Target="https://www.youtube.com/watch?v=vlKBQ3g0w_E&amp;list=PLcxqFaocb9WIQJ-kptyPuiMSVWZVd2ff_&amp;index=1" TargetMode="External"/><Relationship Id="rId1" Type="http://schemas.openxmlformats.org/officeDocument/2006/relationships/slideLayout" Target="../slideLayouts/slideLayout7.xml"/><Relationship Id="rId6" Type="http://schemas.openxmlformats.org/officeDocument/2006/relationships/hyperlink" Target="https://www.youtube.com/watch?v=xQzhXhq1ZyI&amp;list=PLcxqFaocb9WLtnq-rpXbRy5hnKECxr95G" TargetMode="External"/><Relationship Id="rId5" Type="http://schemas.openxmlformats.org/officeDocument/2006/relationships/image" Target="../media/image15.jpg"/><Relationship Id="rId4" Type="http://schemas.openxmlformats.org/officeDocument/2006/relationships/hyperlink" Target="https://www.youtube.com/watch?v=aVPk_FE9O3s&amp;list=PLcxqFaocb9WJ8g8TZPsHQIEcSjKW9F0IE&amp;index=2" TargetMode="External"/><Relationship Id="rId9"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0" fmla="*/ 0 w 12192000"/>
              <a:gd name="connsiteY0" fmla="*/ 0 h 6858000"/>
              <a:gd name="connsiteX1" fmla="*/ 12192000 w 12192000"/>
              <a:gd name="connsiteY1" fmla="*/ 0 h 6858000"/>
              <a:gd name="connsiteX2" fmla="*/ 8915400 w 12192000"/>
              <a:gd name="connsiteY2" fmla="*/ 4593771 h 6858000"/>
              <a:gd name="connsiteX3" fmla="*/ 0 w 12192000"/>
              <a:gd name="connsiteY3" fmla="*/ 6858000 h 6858000"/>
              <a:gd name="connsiteX4" fmla="*/ 0 w 12192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8915400" y="4593771"/>
                </a:lnTo>
                <a:lnTo>
                  <a:pt x="0" y="6858000"/>
                </a:lnTo>
                <a:lnTo>
                  <a:pt x="0" y="0"/>
                </a:lnTo>
                <a:close/>
              </a:path>
            </a:pathLst>
          </a:custGeom>
          <a:blipFill dpi="0" rotWithShape="1">
            <a:blip r:embed="rId3">
              <a:extLst>
                <a:ext uri="{BEBA8EAE-BF5A-486C-A8C5-ECC9F3942E4B}">
                  <a14:imgProps xmlns:a14="http://schemas.microsoft.com/office/drawing/2010/main">
                    <a14:imgLayer r:embed="rId4">
                      <a14:imgEffect>
                        <a14:brightnessContrast bright="-70000"/>
                      </a14:imgEffect>
                    </a14:imgLayer>
                  </a14:imgProps>
                </a:ex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p:cNvSpPr txBox="1"/>
          <p:nvPr/>
        </p:nvSpPr>
        <p:spPr>
          <a:xfrm>
            <a:off x="122712" y="2918300"/>
            <a:ext cx="6629399" cy="646331"/>
          </a:xfrm>
          <a:prstGeom prst="rect">
            <a:avLst/>
          </a:prstGeom>
          <a:noFill/>
        </p:spPr>
        <p:txBody>
          <a:bodyPr wrap="square" rtlCol="0">
            <a:spAutoFit/>
          </a:bodyPr>
          <a:lstStyle/>
          <a:p>
            <a:r>
              <a:rPr lang="en-US" sz="3600" spc="-150" dirty="0">
                <a:solidFill>
                  <a:schemeClr val="bg1"/>
                </a:solidFill>
              </a:rPr>
              <a:t>Anubhav Oberoy</a:t>
            </a: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28355" y="5017269"/>
            <a:ext cx="1863645" cy="1840731"/>
          </a:xfrm>
          <a:prstGeom prst="rect">
            <a:avLst/>
          </a:prstGeom>
        </p:spPr>
      </p:pic>
      <p:sp>
        <p:nvSpPr>
          <p:cNvPr id="8" name="TextBox 7"/>
          <p:cNvSpPr txBox="1"/>
          <p:nvPr/>
        </p:nvSpPr>
        <p:spPr>
          <a:xfrm>
            <a:off x="167491" y="3579798"/>
            <a:ext cx="6629399" cy="830997"/>
          </a:xfrm>
          <a:prstGeom prst="rect">
            <a:avLst/>
          </a:prstGeom>
          <a:noFill/>
        </p:spPr>
        <p:txBody>
          <a:bodyPr wrap="square" rtlCol="0">
            <a:spAutoFit/>
          </a:bodyPr>
          <a:lstStyle/>
          <a:p>
            <a:r>
              <a:rPr lang="en-US" sz="4800" spc="-150" dirty="0">
                <a:solidFill>
                  <a:schemeClr val="bg1"/>
                </a:solidFill>
                <a:latin typeface="Cooper Black" panose="0208090404030B020404" pitchFamily="18" charset="0"/>
              </a:rPr>
              <a:t>Day – 16 </a:t>
            </a:r>
          </a:p>
        </p:txBody>
      </p:sp>
      <p:sp>
        <p:nvSpPr>
          <p:cNvPr id="9" name="TextBox 8">
            <a:extLst>
              <a:ext uri="{FF2B5EF4-FFF2-40B4-BE49-F238E27FC236}">
                <a16:creationId xmlns:a16="http://schemas.microsoft.com/office/drawing/2014/main" id="{029AD5CA-C2E2-40A6-8CE6-90DA460ACF0D}"/>
              </a:ext>
            </a:extLst>
          </p:cNvPr>
          <p:cNvSpPr txBox="1"/>
          <p:nvPr/>
        </p:nvSpPr>
        <p:spPr>
          <a:xfrm>
            <a:off x="122712" y="154049"/>
            <a:ext cx="11664004" cy="1754326"/>
          </a:xfrm>
          <a:prstGeom prst="rect">
            <a:avLst/>
          </a:prstGeom>
          <a:noFill/>
        </p:spPr>
        <p:txBody>
          <a:bodyPr wrap="square" rtlCol="0">
            <a:spAutoFit/>
          </a:bodyPr>
          <a:lstStyle/>
          <a:p>
            <a:r>
              <a:rPr lang="en-US" sz="5400" b="1" cap="all" spc="-150" dirty="0">
                <a:solidFill>
                  <a:srgbClr val="92D050"/>
                </a:solidFill>
              </a:rPr>
              <a:t>SAP </a:t>
            </a:r>
            <a:r>
              <a:rPr lang="en-US" sz="5400" b="1" dirty="0">
                <a:solidFill>
                  <a:srgbClr val="92D050"/>
                </a:solidFill>
              </a:rPr>
              <a:t>UI5 &amp; FIORI with OData TRAINING using BAS</a:t>
            </a:r>
          </a:p>
        </p:txBody>
      </p:sp>
    </p:spTree>
    <p:extLst>
      <p:ext uri="{BB962C8B-B14F-4D97-AF65-F5344CB8AC3E}">
        <p14:creationId xmlns:p14="http://schemas.microsoft.com/office/powerpoint/2010/main" val="698128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620B393-B059-4008-BE9A-31AEBF787D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00042" y="779090"/>
            <a:ext cx="5353730" cy="535373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3">
            <a:extLst>
              <a:ext uri="{FF2B5EF4-FFF2-40B4-BE49-F238E27FC236}">
                <a16:creationId xmlns:a16="http://schemas.microsoft.com/office/drawing/2014/main" id="{F07FC580-E2AB-4C55-8C95-D5E077A1D127}"/>
              </a:ext>
            </a:extLst>
          </p:cNvPr>
          <p:cNvSpPr txBox="1">
            <a:spLocks/>
          </p:cNvSpPr>
          <p:nvPr/>
        </p:nvSpPr>
        <p:spPr>
          <a:xfrm>
            <a:off x="261764" y="188640"/>
            <a:ext cx="11292008" cy="7110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i="0" u="none" strike="noStrike" kern="1200" cap="none" spc="0" normalizeH="0" baseline="0" noProof="0" dirty="0">
                <a:ln>
                  <a:noFill/>
                </a:ln>
                <a:solidFill>
                  <a:prstClr val="black"/>
                </a:solidFill>
                <a:effectLst/>
                <a:uLnTx/>
                <a:uFillTx/>
                <a:latin typeface="Cooper Black" panose="0208090404030B020404" pitchFamily="18" charset="0"/>
              </a:rPr>
              <a:t>Agenda – Day 16</a:t>
            </a: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3" name="TextBox 2">
            <a:extLst>
              <a:ext uri="{FF2B5EF4-FFF2-40B4-BE49-F238E27FC236}">
                <a16:creationId xmlns:a16="http://schemas.microsoft.com/office/drawing/2014/main" id="{73A79EAA-1647-4107-B296-669CE3D2F38F}"/>
              </a:ext>
            </a:extLst>
          </p:cNvPr>
          <p:cNvSpPr txBox="1"/>
          <p:nvPr/>
        </p:nvSpPr>
        <p:spPr>
          <a:xfrm>
            <a:off x="638228" y="899721"/>
            <a:ext cx="5353730" cy="12834283"/>
          </a:xfrm>
          <a:prstGeom prst="rect">
            <a:avLst/>
          </a:prstGeom>
          <a:noFill/>
        </p:spPr>
        <p:txBody>
          <a:bodyPr wrap="square" rtlCol="0">
            <a:spAutoFit/>
          </a:bodyPr>
          <a:lstStyle/>
          <a:p>
            <a:pPr marL="285750" indent="-285750">
              <a:buClr>
                <a:schemeClr val="tx1"/>
              </a:buClr>
              <a:buFont typeface="Arial" panose="020B0604020202020204" pitchFamily="34" charset="0"/>
              <a:buChar char="•"/>
            </a:pPr>
            <a:r>
              <a:rPr lang="en-US" dirty="0"/>
              <a:t>Introduction to Router</a:t>
            </a:r>
          </a:p>
          <a:p>
            <a:pPr marL="285750" indent="-285750">
              <a:buClr>
                <a:schemeClr val="tx1"/>
              </a:buClr>
              <a:buFont typeface="Arial" panose="020B0604020202020204" pitchFamily="34" charset="0"/>
              <a:buChar char="•"/>
            </a:pPr>
            <a:r>
              <a:rPr lang="en-US" dirty="0"/>
              <a:t>Routing Configuration</a:t>
            </a:r>
          </a:p>
          <a:p>
            <a:pPr marL="285750" indent="-285750">
              <a:buClr>
                <a:schemeClr val="tx1"/>
              </a:buClr>
              <a:buFont typeface="Arial" panose="020B0604020202020204" pitchFamily="34" charset="0"/>
              <a:buChar char="•"/>
            </a:pPr>
            <a:r>
              <a:rPr lang="en-US" dirty="0"/>
              <a:t>Route Match Handler</a:t>
            </a:r>
          </a:p>
          <a:p>
            <a:pPr marL="285750" indent="-285750">
              <a:buClr>
                <a:schemeClr val="tx1"/>
              </a:buClr>
              <a:buFont typeface="Arial" panose="020B0604020202020204" pitchFamily="34" charset="0"/>
              <a:buChar char="•"/>
            </a:pPr>
            <a:r>
              <a:rPr lang="en-US" dirty="0"/>
              <a:t>Icon Tab Bar</a:t>
            </a:r>
          </a:p>
          <a:p>
            <a:pPr marL="285750" indent="-285750">
              <a:buClr>
                <a:schemeClr val="tx1"/>
              </a:buClr>
              <a:buFont typeface="Arial" panose="020B0604020202020204" pitchFamily="34" charset="0"/>
              <a:buChar char="•"/>
            </a:pPr>
            <a:r>
              <a:rPr lang="en-US" dirty="0"/>
              <a:t>Responsive Table (</a:t>
            </a:r>
            <a:r>
              <a:rPr lang="en-US" dirty="0" err="1"/>
              <a:t>sap.m.Table</a:t>
            </a:r>
            <a:r>
              <a:rPr lang="en-US" dirty="0"/>
              <a:t>)</a:t>
            </a:r>
          </a:p>
          <a:p>
            <a:pPr marL="285750" indent="-285750">
              <a:buClr>
                <a:schemeClr val="tx1"/>
              </a:buClr>
              <a:buFont typeface="Arial" panose="020B0604020202020204" pitchFamily="34" charset="0"/>
              <a:buChar char="•"/>
            </a:pPr>
            <a:r>
              <a:rPr lang="en-US" dirty="0"/>
              <a:t>Drill Down using the Table</a:t>
            </a:r>
          </a:p>
          <a:p>
            <a:pPr marL="285750" indent="-285750">
              <a:buClr>
                <a:schemeClr val="tx1"/>
              </a:buClr>
              <a:buFont typeface="Arial" panose="020B0604020202020204" pitchFamily="34" charset="0"/>
              <a:buChar char="•"/>
            </a:pPr>
            <a:r>
              <a:rPr lang="en-US" dirty="0"/>
              <a:t>Messages in UI5</a:t>
            </a:r>
          </a:p>
          <a:p>
            <a:pPr marL="285750" indent="-285750">
              <a:buClr>
                <a:schemeClr val="tx1"/>
              </a:buClr>
              <a:buFont typeface="Arial" panose="020B0604020202020204" pitchFamily="34" charset="0"/>
              <a:buChar char="•"/>
            </a:pPr>
            <a:r>
              <a:rPr lang="en-US" dirty="0"/>
              <a:t>Drop Down </a:t>
            </a:r>
          </a:p>
          <a:p>
            <a:pPr marL="285750" indent="-285750">
              <a:buClr>
                <a:schemeClr val="tx1"/>
              </a:buClr>
              <a:buFont typeface="Arial" panose="020B0604020202020204" pitchFamily="34" charset="0"/>
              <a:buChar char="•"/>
            </a:pPr>
            <a:r>
              <a:rPr lang="en-US" dirty="0"/>
              <a:t>Object Status</a:t>
            </a:r>
          </a:p>
          <a:p>
            <a:pPr marL="285750" indent="-285750">
              <a:buClr>
                <a:schemeClr val="tx1"/>
              </a:buClr>
              <a:buFont typeface="Arial" panose="020B0604020202020204" pitchFamily="34" charset="0"/>
              <a:buChar char="•"/>
            </a:pPr>
            <a:r>
              <a:rPr lang="en-US" dirty="0"/>
              <a:t>Fragments</a:t>
            </a:r>
          </a:p>
          <a:p>
            <a:pPr marL="285750" indent="-285750">
              <a:buClr>
                <a:schemeClr val="tx1"/>
              </a:buClr>
              <a:buFont typeface="Arial" panose="020B0604020202020204" pitchFamily="34" charset="0"/>
              <a:buChar char="•"/>
            </a:pPr>
            <a:r>
              <a:rPr lang="en-US" dirty="0"/>
              <a:t>Different Ways of loading fragment</a:t>
            </a:r>
          </a:p>
          <a:p>
            <a:pPr marL="285750" indent="-285750">
              <a:buClr>
                <a:schemeClr val="tx1"/>
              </a:buClr>
              <a:buFont typeface="Arial" panose="020B0604020202020204" pitchFamily="34" charset="0"/>
              <a:buChar char="•"/>
            </a:pPr>
            <a:r>
              <a:rPr lang="en-US" dirty="0"/>
              <a:t>Value Help Popup </a:t>
            </a:r>
          </a:p>
          <a:p>
            <a:pPr marL="285750" indent="-285750">
              <a:buClr>
                <a:schemeClr val="tx1"/>
              </a:buClr>
              <a:buFont typeface="Arial" panose="020B0604020202020204" pitchFamily="34" charset="0"/>
              <a:buChar char="•"/>
            </a:pPr>
            <a:r>
              <a:rPr lang="en-US" dirty="0"/>
              <a:t>What is OData?</a:t>
            </a:r>
          </a:p>
          <a:p>
            <a:pPr marL="285750" indent="-285750">
              <a:buClr>
                <a:schemeClr val="tx1"/>
              </a:buClr>
              <a:buFont typeface="Arial" panose="020B0604020202020204" pitchFamily="34" charset="0"/>
              <a:buChar char="•"/>
            </a:pPr>
            <a:r>
              <a:rPr lang="en-US" dirty="0" err="1"/>
              <a:t>oData</a:t>
            </a:r>
            <a:r>
              <a:rPr lang="en-US" dirty="0"/>
              <a:t> Basics.</a:t>
            </a:r>
          </a:p>
          <a:p>
            <a:pPr marL="285750" indent="-285750">
              <a:buClr>
                <a:schemeClr val="tx1"/>
              </a:buClr>
              <a:buFont typeface="Arial" panose="020B0604020202020204" pitchFamily="34" charset="0"/>
              <a:buChar char="•"/>
            </a:pPr>
            <a:r>
              <a:rPr lang="en-US" dirty="0"/>
              <a:t>Structure of </a:t>
            </a:r>
            <a:r>
              <a:rPr lang="en-US" dirty="0" err="1"/>
              <a:t>Odata</a:t>
            </a:r>
            <a:r>
              <a:rPr lang="en-US" dirty="0"/>
              <a:t>.</a:t>
            </a:r>
          </a:p>
          <a:p>
            <a:pPr marL="285750" indent="-285750">
              <a:buClr>
                <a:schemeClr val="tx1"/>
              </a:buClr>
              <a:buFont typeface="Arial" panose="020B0604020202020204" pitchFamily="34" charset="0"/>
              <a:buChar char="•"/>
            </a:pPr>
            <a:r>
              <a:rPr lang="en-US" dirty="0"/>
              <a:t>Client Side Query With </a:t>
            </a:r>
            <a:r>
              <a:rPr lang="en-US" dirty="0" err="1"/>
              <a:t>Odata</a:t>
            </a:r>
            <a:r>
              <a:rPr lang="en-US" dirty="0"/>
              <a:t>.</a:t>
            </a:r>
          </a:p>
          <a:p>
            <a:pPr marL="285750" indent="-285750">
              <a:buClr>
                <a:schemeClr val="tx1"/>
              </a:buClr>
              <a:buFont typeface="Arial" panose="020B0604020202020204" pitchFamily="34" charset="0"/>
              <a:buChar char="•"/>
            </a:pPr>
            <a:r>
              <a:rPr lang="en-US" dirty="0"/>
              <a:t>Get Operations.</a:t>
            </a:r>
          </a:p>
          <a:p>
            <a:pPr marL="285750" indent="-285750">
              <a:buClr>
                <a:schemeClr val="tx1"/>
              </a:buClr>
              <a:buFont typeface="Arial" panose="020B0604020202020204" pitchFamily="34" charset="0"/>
              <a:buChar char="•"/>
            </a:pPr>
            <a:r>
              <a:rPr lang="en-US" dirty="0"/>
              <a:t>SAP Deployment Options</a:t>
            </a:r>
          </a:p>
          <a:p>
            <a:pPr marL="285750" indent="-285750">
              <a:buClr>
                <a:schemeClr val="tx1"/>
              </a:buClr>
              <a:buFont typeface="Arial" panose="020B0604020202020204" pitchFamily="34" charset="0"/>
              <a:buChar char="•"/>
            </a:pPr>
            <a:r>
              <a:rPr lang="en-US" dirty="0" err="1"/>
              <a:t>TCodes</a:t>
            </a:r>
            <a:r>
              <a:rPr lang="en-US" dirty="0"/>
              <a:t> and Services</a:t>
            </a:r>
          </a:p>
          <a:p>
            <a:pPr marL="285750" indent="-285750">
              <a:buClr>
                <a:schemeClr val="tx1"/>
              </a:buClr>
              <a:buFont typeface="Arial" panose="020B0604020202020204" pitchFamily="34" charset="0"/>
              <a:buChar char="•"/>
            </a:pPr>
            <a:r>
              <a:rPr lang="en-US" dirty="0"/>
              <a:t>Data Model for our use case</a:t>
            </a:r>
          </a:p>
          <a:p>
            <a:pPr marL="285750" indent="-285750">
              <a:buClr>
                <a:schemeClr val="tx1"/>
              </a:buClr>
              <a:buFont typeface="Arial" panose="020B0604020202020204" pitchFamily="34" charset="0"/>
              <a:buChar char="•"/>
            </a:pPr>
            <a:r>
              <a:rPr lang="en-US" dirty="0"/>
              <a:t>Creating OData Service. </a:t>
            </a:r>
          </a:p>
          <a:p>
            <a:pPr marL="285750" indent="-285750">
              <a:buClr>
                <a:schemeClr val="tx1"/>
              </a:buClr>
              <a:buFont typeface="Arial" panose="020B0604020202020204" pitchFamily="34" charset="0"/>
              <a:buChar char="•"/>
            </a:pPr>
            <a:r>
              <a:rPr lang="en-US" dirty="0"/>
              <a:t>Building Get Entity set Method</a:t>
            </a:r>
          </a:p>
          <a:p>
            <a:pPr marL="285750" indent="-285750">
              <a:buClr>
                <a:schemeClr val="tx1"/>
              </a:buClr>
              <a:buFont typeface="Arial" panose="020B0604020202020204" pitchFamily="34" charset="0"/>
              <a:buChar char="•"/>
            </a:pPr>
            <a:r>
              <a:rPr lang="en-US" dirty="0"/>
              <a:t>Testing the Get Entity set Method in Browser</a:t>
            </a:r>
          </a:p>
          <a:p>
            <a:pPr marL="285750" indent="-285750">
              <a:buClr>
                <a:schemeClr val="tx1"/>
              </a:buClr>
              <a:buFont typeface="Arial" panose="020B0604020202020204" pitchFamily="34" charset="0"/>
              <a:buChar char="•"/>
            </a:pPr>
            <a:r>
              <a:rPr lang="en-US" dirty="0"/>
              <a:t>Building Get Entity method (Single Product)</a:t>
            </a:r>
          </a:p>
          <a:p>
            <a:pPr marL="285750" indent="-285750">
              <a:buClr>
                <a:schemeClr val="tx1"/>
              </a:buClr>
              <a:buFont typeface="Arial" panose="020B0604020202020204" pitchFamily="34" charset="0"/>
              <a:buChar char="•"/>
            </a:pPr>
            <a:r>
              <a:rPr lang="en-US" dirty="0"/>
              <a:t>Introduction to the Postman Tool</a:t>
            </a:r>
          </a:p>
          <a:p>
            <a:pPr marL="285750" indent="-285750">
              <a:buClr>
                <a:schemeClr val="tx1"/>
              </a:buClr>
              <a:buFont typeface="Arial" panose="020B0604020202020204" pitchFamily="34" charset="0"/>
              <a:buChar char="•"/>
            </a:pPr>
            <a:r>
              <a:rPr lang="en-US" dirty="0"/>
              <a:t>Setting the Authorization in Postman</a:t>
            </a:r>
          </a:p>
          <a:p>
            <a:pPr marL="285750" indent="-285750">
              <a:buClr>
                <a:schemeClr val="tx1"/>
              </a:buClr>
              <a:buFont typeface="Arial" panose="020B0604020202020204" pitchFamily="34" charset="0"/>
              <a:buChar char="•"/>
            </a:pPr>
            <a:r>
              <a:rPr lang="en-US" dirty="0"/>
              <a:t>Testing Get Entity and Entity set using Postman</a:t>
            </a:r>
          </a:p>
          <a:p>
            <a:pPr marL="285750" indent="-285750">
              <a:buClr>
                <a:schemeClr val="tx1"/>
              </a:buClr>
              <a:buFont typeface="Arial" panose="020B0604020202020204" pitchFamily="34" charset="0"/>
              <a:buChar char="•"/>
            </a:pPr>
            <a:endParaRPr lang="en-US" dirty="0"/>
          </a:p>
          <a:p>
            <a:pPr marL="285750" indent="-285750">
              <a:buClr>
                <a:schemeClr val="tx1"/>
              </a:buClr>
              <a:buFont typeface="Arial" panose="020B0604020202020204" pitchFamily="34" charset="0"/>
              <a:buChar char="•"/>
            </a:pPr>
            <a:endParaRPr lang="en-US" dirty="0"/>
          </a:p>
          <a:p>
            <a:pPr marL="285750" indent="-285750">
              <a:buClr>
                <a:schemeClr val="tx1"/>
              </a:buClr>
              <a:buFont typeface="Arial" panose="020B0604020202020204" pitchFamily="34" charset="0"/>
              <a:buChar char="•"/>
            </a:pPr>
            <a:r>
              <a:rPr lang="en-US" dirty="0"/>
              <a:t>Implementing Create in OData Service</a:t>
            </a:r>
          </a:p>
          <a:p>
            <a:pPr marL="285750" indent="-285750">
              <a:buClr>
                <a:schemeClr val="tx1"/>
              </a:buClr>
              <a:buFont typeface="Arial" panose="020B0604020202020204" pitchFamily="34" charset="0"/>
              <a:buChar char="•"/>
            </a:pPr>
            <a:r>
              <a:rPr lang="en-US" dirty="0"/>
              <a:t>Testing POST calls in the SAP Logon</a:t>
            </a:r>
          </a:p>
          <a:p>
            <a:pPr marL="285750" indent="-285750">
              <a:buClr>
                <a:schemeClr val="tx1"/>
              </a:buClr>
              <a:buFont typeface="Arial" panose="020B0604020202020204" pitchFamily="34" charset="0"/>
              <a:buChar char="•"/>
            </a:pPr>
            <a:r>
              <a:rPr lang="en-US" dirty="0"/>
              <a:t>Testing POST calls using postman</a:t>
            </a:r>
          </a:p>
          <a:p>
            <a:pPr marL="285750" indent="-285750">
              <a:buClr>
                <a:schemeClr val="tx1"/>
              </a:buClr>
              <a:buFont typeface="Arial" panose="020B0604020202020204" pitchFamily="34" charset="0"/>
              <a:buChar char="•"/>
            </a:pPr>
            <a:r>
              <a:rPr lang="en-US" dirty="0"/>
              <a:t>How to set payload in postman to test POST call</a:t>
            </a:r>
          </a:p>
          <a:p>
            <a:pPr marL="285750" indent="-285750">
              <a:buClr>
                <a:schemeClr val="tx1"/>
              </a:buClr>
              <a:buFont typeface="Arial" panose="020B0604020202020204" pitchFamily="34" charset="0"/>
              <a:buChar char="•"/>
            </a:pPr>
            <a:r>
              <a:rPr lang="en-US" dirty="0"/>
              <a:t>Introduction to x-csrf-token</a:t>
            </a:r>
          </a:p>
          <a:p>
            <a:pPr marL="285750" indent="-285750">
              <a:buClr>
                <a:schemeClr val="tx1"/>
              </a:buClr>
              <a:buFont typeface="Arial" panose="020B0604020202020204" pitchFamily="34" charset="0"/>
              <a:buChar char="•"/>
            </a:pPr>
            <a:r>
              <a:rPr lang="en-US" dirty="0"/>
              <a:t>Implementing Update and Delete in service</a:t>
            </a:r>
          </a:p>
          <a:p>
            <a:pPr marL="285750" indent="-285750">
              <a:buClr>
                <a:schemeClr val="tx1"/>
              </a:buClr>
              <a:buFont typeface="Arial" panose="020B0604020202020204" pitchFamily="34" charset="0"/>
              <a:buChar char="•"/>
            </a:pPr>
            <a:r>
              <a:rPr lang="en-US" dirty="0"/>
              <a:t>Adding Supplier Entity set</a:t>
            </a:r>
          </a:p>
          <a:p>
            <a:pPr marL="285750" indent="-285750">
              <a:buClr>
                <a:schemeClr val="tx1"/>
              </a:buClr>
              <a:buFont typeface="Arial" panose="020B0604020202020204" pitchFamily="34" charset="0"/>
              <a:buChar char="•"/>
            </a:pPr>
            <a:r>
              <a:rPr lang="en-US" dirty="0"/>
              <a:t>Introduction to Association</a:t>
            </a:r>
          </a:p>
          <a:p>
            <a:pPr marL="285750" indent="-285750">
              <a:buClr>
                <a:schemeClr val="tx1"/>
              </a:buClr>
              <a:buFont typeface="Arial" panose="020B0604020202020204" pitchFamily="34" charset="0"/>
              <a:buChar char="•"/>
            </a:pPr>
            <a:r>
              <a:rPr lang="en-US" dirty="0"/>
              <a:t>Associating Supplier Set to Product Set</a:t>
            </a:r>
          </a:p>
          <a:p>
            <a:pPr marL="285750" indent="-285750">
              <a:buClr>
                <a:schemeClr val="tx1"/>
              </a:buClr>
              <a:buFont typeface="Arial" panose="020B0604020202020204" pitchFamily="34" charset="0"/>
              <a:buChar char="•"/>
            </a:pPr>
            <a:r>
              <a:rPr lang="en-US" dirty="0"/>
              <a:t>Introduction to Function Import</a:t>
            </a:r>
          </a:p>
          <a:p>
            <a:pPr marL="285750" indent="-285750">
              <a:buClr>
                <a:schemeClr val="tx1"/>
              </a:buClr>
              <a:buFont typeface="Arial" panose="020B0604020202020204" pitchFamily="34" charset="0"/>
              <a:buChar char="•"/>
            </a:pPr>
            <a:r>
              <a:rPr lang="en-US" dirty="0"/>
              <a:t>Creating a Function to get Most expensive product</a:t>
            </a:r>
          </a:p>
          <a:p>
            <a:pPr marL="285750" indent="-285750">
              <a:buFont typeface="Arial" panose="020B0604020202020204" pitchFamily="34" charset="0"/>
              <a:buChar char="•"/>
            </a:pPr>
            <a:r>
              <a:rPr lang="it-IT" dirty="0">
                <a:solidFill>
                  <a:srgbClr val="242424"/>
                </a:solidFill>
              </a:rPr>
              <a:t>Basics of Connectivity</a:t>
            </a:r>
          </a:p>
          <a:p>
            <a:pPr marL="285750" indent="-285750">
              <a:buFont typeface="Arial" panose="020B0604020202020204" pitchFamily="34" charset="0"/>
              <a:buChar char="•"/>
            </a:pPr>
            <a:r>
              <a:rPr lang="it-IT" dirty="0">
                <a:solidFill>
                  <a:srgbClr val="242424"/>
                </a:solidFill>
              </a:rPr>
              <a:t>Introduction to Cloud Connector</a:t>
            </a:r>
          </a:p>
          <a:p>
            <a:pPr marL="285750" indent="-285750">
              <a:buFont typeface="Arial" panose="020B0604020202020204" pitchFamily="34" charset="0"/>
              <a:buChar char="•"/>
            </a:pPr>
            <a:r>
              <a:rPr lang="it-IT" dirty="0">
                <a:solidFill>
                  <a:srgbClr val="242424"/>
                </a:solidFill>
              </a:rPr>
              <a:t>Steps to Setup the Cloud Connection.</a:t>
            </a:r>
          </a:p>
          <a:p>
            <a:pPr marL="285750" indent="-285750">
              <a:buFont typeface="Arial" panose="020B0604020202020204" pitchFamily="34" charset="0"/>
              <a:buChar char="•"/>
            </a:pPr>
            <a:r>
              <a:rPr lang="it-IT" dirty="0">
                <a:solidFill>
                  <a:srgbClr val="242424"/>
                </a:solidFill>
              </a:rPr>
              <a:t>Creating the destination in the BTP for BAS</a:t>
            </a:r>
          </a:p>
          <a:p>
            <a:pPr marL="285750" indent="-285750">
              <a:buClr>
                <a:schemeClr val="tx1"/>
              </a:buClr>
              <a:buFont typeface="Arial" panose="020B0604020202020204" pitchFamily="34" charset="0"/>
              <a:buChar char="•"/>
            </a:pPr>
            <a:r>
              <a:rPr lang="en-US" dirty="0"/>
              <a:t>Creating the destination in the Vscode</a:t>
            </a:r>
          </a:p>
          <a:p>
            <a:pPr>
              <a:buClr>
                <a:schemeClr val="tx1"/>
              </a:buClr>
            </a:pPr>
            <a:endParaRPr lang="en-US" dirty="0"/>
          </a:p>
        </p:txBody>
      </p:sp>
      <p:sp>
        <p:nvSpPr>
          <p:cNvPr id="9" name="Footer Placeholder 45">
            <a:extLst>
              <a:ext uri="{FF2B5EF4-FFF2-40B4-BE49-F238E27FC236}">
                <a16:creationId xmlns:a16="http://schemas.microsoft.com/office/drawing/2014/main" id="{51D77C38-BB47-4E3F-84A5-C28B21492055}"/>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2321857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Performance Issues in our Fiori App</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668472" cy="3416320"/>
          </a:xfrm>
          <a:prstGeom prst="rect">
            <a:avLst/>
          </a:prstGeom>
          <a:noFill/>
        </p:spPr>
        <p:txBody>
          <a:bodyPr wrap="square" rtlCol="0">
            <a:spAutoFit/>
          </a:bodyPr>
          <a:lstStyle/>
          <a:p>
            <a:pPr marL="342900" indent="-342900" algn="just">
              <a:buFont typeface="Wingdings" panose="05000000000000000000" pitchFamily="2" charset="2"/>
              <a:buChar char="§"/>
              <a:defRPr/>
            </a:pPr>
            <a:r>
              <a:rPr lang="en-US" sz="1800" dirty="0"/>
              <a:t>We have used </a:t>
            </a:r>
            <a:r>
              <a:rPr lang="en-US" sz="1800" b="1" i="1" dirty="0"/>
              <a:t>sap.ui.view</a:t>
            </a:r>
            <a:r>
              <a:rPr lang="en-US" sz="1800" dirty="0"/>
              <a:t> API to create the object of the view, but it seems that the API is obsolete. Then what is the right way to instantiate our view?</a:t>
            </a:r>
          </a:p>
          <a:p>
            <a:pPr marL="342900" indent="-342900" algn="just">
              <a:buFont typeface="Wingdings" panose="05000000000000000000" pitchFamily="2" charset="2"/>
              <a:buChar char="§"/>
              <a:defRPr/>
            </a:pPr>
            <a:r>
              <a:rPr lang="en-US" sz="1800" dirty="0"/>
              <a:t>All the view objects are instantiated when app starts, whether we want or not. If user does not navigate to a view, still the view object is getting created. This is a misuse of computation power and slow down our app when number of views are increased/high.</a:t>
            </a:r>
          </a:p>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800" dirty="0"/>
              <a:t>For each view, we are writing more and more code to create object, multiple developers will add this code in different place, because of this the maintenance will be come very expensive even the handover will be very hard.</a:t>
            </a:r>
          </a:p>
          <a:p>
            <a:pPr marL="342900" indent="-342900" algn="just">
              <a:buFont typeface="Wingdings" panose="05000000000000000000" pitchFamily="2" charset="2"/>
              <a:buChar char="§"/>
              <a:defRPr/>
            </a:pPr>
            <a:r>
              <a:rPr lang="en-US" sz="1800" dirty="0"/>
              <a:t>The browser navigation button (back) is not working properly.</a:t>
            </a:r>
          </a:p>
          <a:p>
            <a:pPr marL="342900" indent="-342900" algn="just">
              <a:buFont typeface="Wingdings" panose="05000000000000000000" pitchFamily="2" charset="2"/>
              <a:buChar char="§"/>
              <a:defRPr/>
            </a:pPr>
            <a:r>
              <a:rPr lang="en-US" sz="1800" dirty="0"/>
              <a:t>When the refresh of app happens, the application should restore the state of the UI. It should not start all over again. So user will not frustrate applying all the filters again.</a:t>
            </a:r>
          </a:p>
          <a:p>
            <a:pPr marL="342900" indent="-342900" algn="just">
              <a:buFont typeface="Wingdings" panose="05000000000000000000" pitchFamily="2" charset="2"/>
              <a:buChar char="§"/>
              <a:defRPr/>
            </a:pPr>
            <a:r>
              <a:rPr lang="en-US" sz="1800" dirty="0"/>
              <a:t>When we take a URL of the page and share with colleagues/friends/family, when they open same URL, Eventually they should see the same state of application what I see. Basically we should restore the state of UI as it is in our system.</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descr="Jake Sully Catches The Great Leonopteryx - The return of Toruk Makto Scene - Avatar(2009) | MovieCutz - YouTube">
            <a:extLst>
              <a:ext uri="{FF2B5EF4-FFF2-40B4-BE49-F238E27FC236}">
                <a16:creationId xmlns:a16="http://schemas.microsoft.com/office/drawing/2014/main" id="{262CBB3C-1E1B-48C3-A459-85FF6C8F1EF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810" y="4218151"/>
            <a:ext cx="4304209" cy="242118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6D147E5-F377-4654-9A90-BC9BEA15FEB9}"/>
              </a:ext>
            </a:extLst>
          </p:cNvPr>
          <p:cNvSpPr txBox="1"/>
          <p:nvPr/>
        </p:nvSpPr>
        <p:spPr>
          <a:xfrm>
            <a:off x="9118651" y="4996697"/>
            <a:ext cx="2620376" cy="707886"/>
          </a:xfrm>
          <a:prstGeom prst="rect">
            <a:avLst/>
          </a:prstGeom>
          <a:noFill/>
        </p:spPr>
        <p:txBody>
          <a:bodyPr wrap="square" rtlCol="0">
            <a:spAutoFit/>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r>
              <a:rPr lang="en-US" sz="4000" u="sng" dirty="0">
                <a:latin typeface="72 Black" panose="020B0A04030603020204" pitchFamily="34" charset="0"/>
                <a:cs typeface="72 Black" panose="020B0A04030603020204" pitchFamily="34" charset="0"/>
              </a:rPr>
              <a:t>Router</a:t>
            </a:r>
          </a:p>
        </p:txBody>
      </p:sp>
      <p:sp>
        <p:nvSpPr>
          <p:cNvPr id="9" name="Arrow: Right 8">
            <a:extLst>
              <a:ext uri="{FF2B5EF4-FFF2-40B4-BE49-F238E27FC236}">
                <a16:creationId xmlns:a16="http://schemas.microsoft.com/office/drawing/2014/main" id="{698E0AAF-1DEC-42D7-83CB-0EC4DC53ECD6}"/>
              </a:ext>
            </a:extLst>
          </p:cNvPr>
          <p:cNvSpPr/>
          <p:nvPr/>
        </p:nvSpPr>
        <p:spPr>
          <a:xfrm>
            <a:off x="6225739" y="4996697"/>
            <a:ext cx="1728192" cy="864096"/>
          </a:xfrm>
          <a:prstGeom prst="rightArrow">
            <a:avLst/>
          </a:prstGeom>
        </p:spPr>
        <p:style>
          <a:lnRef idx="0">
            <a:schemeClr val="accent2"/>
          </a:lnRef>
          <a:fillRef idx="3">
            <a:schemeClr val="accent2"/>
          </a:fillRef>
          <a:effectRef idx="3">
            <a:schemeClr val="accent2"/>
          </a:effectRef>
          <a:fontRef idx="minor">
            <a:schemeClr val="lt1"/>
          </a:fontRef>
        </p:style>
        <p:txBody>
          <a:bodyPr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a:endParaRPr lang="en-US" dirty="0"/>
          </a:p>
        </p:txBody>
      </p:sp>
    </p:spTree>
    <p:extLst>
      <p:ext uri="{BB962C8B-B14F-4D97-AF65-F5344CB8AC3E}">
        <p14:creationId xmlns:p14="http://schemas.microsoft.com/office/powerpoint/2010/main" val="1982628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down)">
                                      <p:cBhvr>
                                        <p:cTn id="10" dur="500"/>
                                        <p:tgtEl>
                                          <p:spTgt spid="9"/>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Router</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5" y="779090"/>
            <a:ext cx="10972292" cy="5727850"/>
          </a:xfrm>
          <a:prstGeom prst="rect">
            <a:avLst/>
          </a:prstGeom>
          <a:noFill/>
        </p:spPr>
        <p:txBody>
          <a:bodyPr wrap="square" rtlCol="0">
            <a:spAutoFit/>
          </a:bodyPr>
          <a:lstStyle/>
          <a:p>
            <a:pPr marL="285750" indent="-285750" algn="just">
              <a:buFont typeface="Wingdings" panose="05000000000000000000" pitchFamily="2" charset="2"/>
              <a:buChar char="§"/>
            </a:pPr>
            <a:r>
              <a:rPr lang="en-US" sz="1800" dirty="0"/>
              <a:t>Router is an object which is provided by SAP UI5 Component (UIComponent).</a:t>
            </a:r>
          </a:p>
          <a:p>
            <a:pPr marL="285750" indent="-285750" algn="just">
              <a:buFont typeface="Wingdings" panose="05000000000000000000" pitchFamily="2" charset="2"/>
              <a:buChar char="§"/>
            </a:pPr>
            <a:r>
              <a:rPr lang="en-US" sz="1800" dirty="0"/>
              <a:t>It is responsible for creating our view objects on demand.</a:t>
            </a:r>
            <a:endParaRPr lang="en-US" dirty="0"/>
          </a:p>
          <a:p>
            <a:pPr marL="285750" indent="-285750" algn="just">
              <a:buFont typeface="Wingdings" panose="05000000000000000000" pitchFamily="2" charset="2"/>
              <a:buChar char="§"/>
            </a:pPr>
            <a:r>
              <a:rPr lang="en-US" sz="1800" dirty="0"/>
              <a:t>It is also responsible for complete app navigation based on pattern (end point, hash tag).</a:t>
            </a:r>
          </a:p>
          <a:p>
            <a:pPr marL="285750" indent="-285750" algn="just">
              <a:buFont typeface="Wingdings" panose="05000000000000000000" pitchFamily="2" charset="2"/>
              <a:buChar char="§"/>
            </a:pPr>
            <a:endParaRPr lang="en-US" dirty="0"/>
          </a:p>
          <a:p>
            <a:pPr algn="just"/>
            <a:r>
              <a:rPr lang="en-US" b="1" dirty="0"/>
              <a:t>How to use router:</a:t>
            </a:r>
          </a:p>
          <a:p>
            <a:pPr marL="342900" indent="-342900" algn="just">
              <a:buFont typeface="+mj-lt"/>
              <a:buAutoNum type="arabicPeriod"/>
            </a:pPr>
            <a:r>
              <a:rPr lang="en-US" dirty="0"/>
              <a:t>Get the router object form the UIComponent class.</a:t>
            </a:r>
          </a:p>
          <a:p>
            <a:pPr marL="342900" indent="-342900" algn="just">
              <a:buFont typeface="+mj-lt"/>
              <a:buAutoNum type="arabicPeriod"/>
            </a:pPr>
            <a:r>
              <a:rPr lang="en-US" dirty="0"/>
              <a:t>Call initialize method using the object</a:t>
            </a:r>
          </a:p>
          <a:p>
            <a:pPr marL="342900" indent="-342900" algn="just">
              <a:buFont typeface="+mj-lt"/>
              <a:buAutoNum type="arabicPeriod"/>
            </a:pPr>
            <a:r>
              <a:rPr lang="en-US" dirty="0">
                <a:solidFill>
                  <a:prstClr val="black"/>
                </a:solidFill>
              </a:rPr>
              <a:t>The initialize method will SCAN manifest.json to find the routing configuration (mandatory).</a:t>
            </a:r>
          </a:p>
          <a:p>
            <a:pPr marL="342900" indent="-342900" algn="just">
              <a:buFont typeface="+mj-lt"/>
              <a:buAutoNum type="arabicPeriod"/>
            </a:pPr>
            <a:r>
              <a:rPr lang="en-US" dirty="0">
                <a:solidFill>
                  <a:prstClr val="black"/>
                </a:solidFill>
              </a:rPr>
              <a:t>Add the routing configuration in manifest.json</a:t>
            </a:r>
          </a:p>
          <a:p>
            <a:pPr marL="1066693" lvl="1" indent="-457200" algn="just">
              <a:buAutoNum type="arabicPeriod"/>
            </a:pPr>
            <a:r>
              <a:rPr lang="en-US" dirty="0">
                <a:solidFill>
                  <a:schemeClr val="accent6"/>
                </a:solidFill>
              </a:rPr>
              <a:t>rootView</a:t>
            </a:r>
            <a:r>
              <a:rPr lang="en-US" dirty="0"/>
              <a:t> – base view we want to load</a:t>
            </a:r>
          </a:p>
          <a:p>
            <a:pPr marL="1066693" lvl="1" indent="-457200" algn="just">
              <a:buAutoNum type="arabicPeriod"/>
            </a:pPr>
            <a:r>
              <a:rPr lang="en-US" dirty="0">
                <a:solidFill>
                  <a:schemeClr val="accent6"/>
                </a:solidFill>
              </a:rPr>
              <a:t>config</a:t>
            </a:r>
            <a:r>
              <a:rPr lang="en-US" dirty="0"/>
              <a:t> – base configuration like view type, path of all views etc.</a:t>
            </a:r>
          </a:p>
          <a:p>
            <a:pPr marL="1066693" lvl="1" indent="-457200" algn="just">
              <a:buAutoNum type="arabicPeriod"/>
            </a:pPr>
            <a:r>
              <a:rPr lang="en-US" dirty="0">
                <a:solidFill>
                  <a:schemeClr val="accent6"/>
                </a:solidFill>
              </a:rPr>
              <a:t>routes</a:t>
            </a:r>
            <a:r>
              <a:rPr lang="en-US" dirty="0"/>
              <a:t> – array of all the targets, patterns and route names</a:t>
            </a:r>
          </a:p>
          <a:p>
            <a:pPr marL="1066693" lvl="1" indent="-457200" algn="just">
              <a:buAutoNum type="arabicPeriod"/>
            </a:pPr>
            <a:r>
              <a:rPr lang="en-US" dirty="0">
                <a:solidFill>
                  <a:schemeClr val="accent6"/>
                </a:solidFill>
              </a:rPr>
              <a:t>targets</a:t>
            </a:r>
            <a:r>
              <a:rPr lang="en-US" dirty="0"/>
              <a:t> – put all the end point target with views which needs to be instantiated and nav.</a:t>
            </a:r>
          </a:p>
          <a:p>
            <a:pPr algn="just">
              <a:lnSpc>
                <a:spcPct val="150000"/>
              </a:lnSpc>
            </a:pPr>
            <a:endParaRPr lang="en-US" sz="1800" b="1" i="0" dirty="0">
              <a:solidFill>
                <a:srgbClr val="222222"/>
              </a:solidFill>
              <a:effectLst/>
              <a:latin typeface="Calibri (Body)"/>
            </a:endParaRPr>
          </a:p>
          <a:p>
            <a:pPr algn="just">
              <a:lnSpc>
                <a:spcPct val="150000"/>
              </a:lnSpc>
            </a:pPr>
            <a:r>
              <a:rPr lang="en-US" sz="1800" b="1" i="0" dirty="0">
                <a:solidFill>
                  <a:schemeClr val="accent6"/>
                </a:solidFill>
                <a:effectLst/>
                <a:latin typeface="Calibri (Body)"/>
              </a:rPr>
              <a:t>Sap.m.routing.Router</a:t>
            </a:r>
            <a:r>
              <a:rPr lang="en-US" sz="1800" b="0" i="0" dirty="0">
                <a:solidFill>
                  <a:schemeClr val="accent6"/>
                </a:solidFill>
                <a:effectLst/>
                <a:latin typeface="Calibri (Body)"/>
              </a:rPr>
              <a:t> </a:t>
            </a:r>
            <a:r>
              <a:rPr lang="en-US" sz="1800" b="0" i="0" dirty="0">
                <a:solidFill>
                  <a:srgbClr val="222222"/>
                </a:solidFill>
                <a:effectLst/>
                <a:latin typeface="Calibri (Body)"/>
              </a:rPr>
              <a:t>is the class used for Routing and Navigation purpose in SAP UI5 framework.</a:t>
            </a:r>
          </a:p>
          <a:p>
            <a:pPr algn="just">
              <a:lnSpc>
                <a:spcPct val="150000"/>
              </a:lnSpc>
            </a:pPr>
            <a:r>
              <a:rPr lang="en-US" sz="1800" b="1" dirty="0">
                <a:solidFill>
                  <a:srgbClr val="222222"/>
                </a:solidFill>
                <a:effectLst/>
                <a:latin typeface="Calibri (Body)"/>
              </a:rPr>
              <a:t>“</a:t>
            </a:r>
            <a:r>
              <a:rPr lang="en-US" sz="1800" b="1" dirty="0">
                <a:solidFill>
                  <a:schemeClr val="accent6"/>
                </a:solidFill>
                <a:effectLst/>
                <a:latin typeface="Calibri (Body)"/>
              </a:rPr>
              <a:t>Pattern</a:t>
            </a:r>
            <a:r>
              <a:rPr lang="en-US" sz="1800" b="1" dirty="0">
                <a:solidFill>
                  <a:srgbClr val="222222"/>
                </a:solidFill>
                <a:effectLst/>
                <a:latin typeface="Calibri (Body)"/>
              </a:rPr>
              <a:t>”</a:t>
            </a:r>
            <a:r>
              <a:rPr lang="en-US" sz="1800" b="0" dirty="0">
                <a:solidFill>
                  <a:srgbClr val="222222"/>
                </a:solidFill>
                <a:effectLst/>
                <a:latin typeface="Calibri (Body)"/>
              </a:rPr>
              <a:t> defines the hashtag that needs to be added at the end of the URL when it is hit.</a:t>
            </a:r>
          </a:p>
          <a:p>
            <a:pPr algn="just">
              <a:lnSpc>
                <a:spcPct val="150000"/>
              </a:lnSpc>
            </a:pPr>
            <a:r>
              <a:rPr lang="en-US" sz="1800" b="1" dirty="0">
                <a:solidFill>
                  <a:srgbClr val="222222"/>
                </a:solidFill>
                <a:effectLst/>
                <a:latin typeface="Calibri (Body)"/>
              </a:rPr>
              <a:t>“</a:t>
            </a:r>
            <a:r>
              <a:rPr lang="en-US" sz="1800" b="1" dirty="0">
                <a:solidFill>
                  <a:schemeClr val="accent6"/>
                </a:solidFill>
                <a:effectLst/>
                <a:latin typeface="Calibri (Body)"/>
              </a:rPr>
              <a:t>name</a:t>
            </a:r>
            <a:r>
              <a:rPr lang="en-US" sz="1800" b="1" dirty="0">
                <a:solidFill>
                  <a:srgbClr val="222222"/>
                </a:solidFill>
                <a:effectLst/>
                <a:latin typeface="Calibri (Body)"/>
              </a:rPr>
              <a:t>”</a:t>
            </a:r>
            <a:r>
              <a:rPr lang="en-US" sz="1800" b="0" dirty="0">
                <a:solidFill>
                  <a:srgbClr val="222222"/>
                </a:solidFill>
                <a:effectLst/>
                <a:latin typeface="Calibri (Body)"/>
              </a:rPr>
              <a:t> defines a unique name for the particular route.</a:t>
            </a:r>
          </a:p>
          <a:p>
            <a:pPr algn="just">
              <a:lnSpc>
                <a:spcPct val="150000"/>
              </a:lnSpc>
            </a:pPr>
            <a:r>
              <a:rPr lang="en-US" sz="1800" b="1" dirty="0">
                <a:solidFill>
                  <a:srgbClr val="222222"/>
                </a:solidFill>
                <a:effectLst/>
                <a:latin typeface="Calibri (Body)"/>
              </a:rPr>
              <a:t>“</a:t>
            </a:r>
            <a:r>
              <a:rPr lang="en-US" sz="1800" b="1" dirty="0">
                <a:solidFill>
                  <a:schemeClr val="accent6"/>
                </a:solidFill>
                <a:effectLst/>
                <a:latin typeface="Calibri (Body)"/>
              </a:rPr>
              <a:t>target</a:t>
            </a:r>
            <a:r>
              <a:rPr lang="en-US" sz="1800" b="1" dirty="0">
                <a:solidFill>
                  <a:srgbClr val="222222"/>
                </a:solidFill>
                <a:effectLst/>
                <a:latin typeface="Calibri (Body)"/>
              </a:rPr>
              <a:t>”</a:t>
            </a:r>
            <a:r>
              <a:rPr lang="en-US" sz="1800" b="0" dirty="0">
                <a:solidFill>
                  <a:srgbClr val="222222"/>
                </a:solidFill>
                <a:effectLst/>
                <a:latin typeface="Calibri (Body)"/>
              </a:rPr>
              <a:t> defines the target which is defined in targets section</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3022759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0" lang="en-US" altLang="en-US" sz="3600" b="0" i="0" u="none" strike="noStrike" cap="none" normalizeH="0" baseline="0" dirty="0">
                <a:ln>
                  <a:noFill/>
                </a:ln>
                <a:solidFill>
                  <a:srgbClr val="32363A"/>
                </a:solidFill>
                <a:effectLst/>
                <a:latin typeface="Cooper Black" panose="0208090404030B020404" pitchFamily="18" charset="0"/>
              </a:rPr>
              <a:t>Routing Configuration</a:t>
            </a:r>
            <a:endParaRPr lang="en-US" sz="3600" dirty="0">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646331"/>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32363A"/>
                </a:solidFill>
                <a:effectLst/>
                <a:latin typeface="Calibri (Body)"/>
              </a:rPr>
              <a:t>Routing Configuration is defined in manifest.json file. It is defined under the “sap.ui5” section.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32363A"/>
                </a:solidFill>
                <a:effectLst/>
                <a:latin typeface="Calibri (Body)"/>
              </a:rPr>
              <a:t>Routing configuration consists of routes, targets, config, and owner.</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6" name="Rectangle 5">
            <a:extLst>
              <a:ext uri="{FF2B5EF4-FFF2-40B4-BE49-F238E27FC236}">
                <a16:creationId xmlns:a16="http://schemas.microsoft.com/office/drawing/2014/main" id="{6D0F419F-52F7-43CC-B496-EC26B222A598}"/>
              </a:ext>
            </a:extLst>
          </p:cNvPr>
          <p:cNvSpPr/>
          <p:nvPr/>
        </p:nvSpPr>
        <p:spPr>
          <a:xfrm>
            <a:off x="3241045" y="1493693"/>
            <a:ext cx="2599767" cy="4464496"/>
          </a:xfrm>
          <a:prstGeom prst="rect">
            <a:avLst/>
          </a:prstGeom>
          <a:gradFill flip="none" rotWithShape="1">
            <a:gsLst>
              <a:gs pos="12000">
                <a:schemeClr val="accent1"/>
              </a:gs>
              <a:gs pos="100000">
                <a:schemeClr val="accent2"/>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Rectangle 6">
            <a:extLst>
              <a:ext uri="{FF2B5EF4-FFF2-40B4-BE49-F238E27FC236}">
                <a16:creationId xmlns:a16="http://schemas.microsoft.com/office/drawing/2014/main" id="{5D98FA96-6159-4176-8A3D-336D57286A71}"/>
              </a:ext>
            </a:extLst>
          </p:cNvPr>
          <p:cNvSpPr/>
          <p:nvPr/>
        </p:nvSpPr>
        <p:spPr>
          <a:xfrm>
            <a:off x="6325144" y="1491864"/>
            <a:ext cx="2599767" cy="4464496"/>
          </a:xfrm>
          <a:prstGeom prst="rect">
            <a:avLst/>
          </a:prstGeom>
          <a:gradFill flip="none" rotWithShape="1">
            <a:gsLst>
              <a:gs pos="12000">
                <a:schemeClr val="accent3"/>
              </a:gs>
              <a:gs pos="100000">
                <a:schemeClr val="accent4"/>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TextBox 8">
            <a:extLst>
              <a:ext uri="{FF2B5EF4-FFF2-40B4-BE49-F238E27FC236}">
                <a16:creationId xmlns:a16="http://schemas.microsoft.com/office/drawing/2014/main" id="{A0EFB9EB-761F-44ED-A4AA-A347E4FA5ADE}"/>
              </a:ext>
            </a:extLst>
          </p:cNvPr>
          <p:cNvSpPr txBox="1"/>
          <p:nvPr/>
        </p:nvSpPr>
        <p:spPr>
          <a:xfrm>
            <a:off x="3452835" y="2161593"/>
            <a:ext cx="2304258" cy="2862322"/>
          </a:xfrm>
          <a:prstGeom prst="rect">
            <a:avLst/>
          </a:prstGeom>
          <a:noFill/>
        </p:spPr>
        <p:txBody>
          <a:bodyPr wrap="square" rtlCol="0">
            <a:spAutoFit/>
          </a:bodyPr>
          <a:lstStyle/>
          <a:p>
            <a:pPr algn="just"/>
            <a:r>
              <a:rPr lang="en-US" b="0" i="0" dirty="0">
                <a:solidFill>
                  <a:schemeClr val="bg1"/>
                </a:solidFill>
                <a:effectLst/>
                <a:latin typeface="Calibri (Body)"/>
              </a:rPr>
              <a:t>This section contains the global router configuration and default values that apply for all routes and targets. We define the router class that we want to use and where our views are located in the app.</a:t>
            </a:r>
            <a:endParaRPr lang="en-US" kern="0" dirty="0">
              <a:solidFill>
                <a:schemeClr val="bg1"/>
              </a:solidFill>
              <a:latin typeface="Calibri (Body)"/>
              <a:cs typeface="Arial" pitchFamily="34" charset="0"/>
            </a:endParaRPr>
          </a:p>
        </p:txBody>
      </p:sp>
      <p:sp>
        <p:nvSpPr>
          <p:cNvPr id="10" name="TextBox 9">
            <a:extLst>
              <a:ext uri="{FF2B5EF4-FFF2-40B4-BE49-F238E27FC236}">
                <a16:creationId xmlns:a16="http://schemas.microsoft.com/office/drawing/2014/main" id="{8834EA3F-E187-41DD-BC18-604092472438}"/>
              </a:ext>
            </a:extLst>
          </p:cNvPr>
          <p:cNvSpPr txBox="1"/>
          <p:nvPr/>
        </p:nvSpPr>
        <p:spPr>
          <a:xfrm>
            <a:off x="3331016" y="1624458"/>
            <a:ext cx="2304258" cy="369332"/>
          </a:xfrm>
          <a:prstGeom prst="rect">
            <a:avLst/>
          </a:prstGeom>
          <a:noFill/>
        </p:spPr>
        <p:txBody>
          <a:bodyPr wrap="square" rtlCol="0" anchor="b">
            <a:spAutoFit/>
          </a:bodyPr>
          <a:lstStyle/>
          <a:p>
            <a:pPr algn="ctr"/>
            <a:r>
              <a:rPr lang="en-US" b="1" i="0" dirty="0">
                <a:solidFill>
                  <a:schemeClr val="bg1"/>
                </a:solidFill>
                <a:effectLst/>
                <a:latin typeface="Calibri (Body)"/>
              </a:rPr>
              <a:t>config</a:t>
            </a:r>
            <a:endParaRPr lang="en-US" sz="1800" b="1" kern="0" dirty="0">
              <a:solidFill>
                <a:schemeClr val="bg1"/>
              </a:solidFill>
              <a:latin typeface="Calibri (Body)"/>
              <a:cs typeface="Arial" pitchFamily="34" charset="0"/>
            </a:endParaRPr>
          </a:p>
        </p:txBody>
      </p:sp>
      <p:sp>
        <p:nvSpPr>
          <p:cNvPr id="11" name="TextBox 10">
            <a:extLst>
              <a:ext uri="{FF2B5EF4-FFF2-40B4-BE49-F238E27FC236}">
                <a16:creationId xmlns:a16="http://schemas.microsoft.com/office/drawing/2014/main" id="{71BB0E66-E091-498F-A345-89A585FF2041}"/>
              </a:ext>
            </a:extLst>
          </p:cNvPr>
          <p:cNvSpPr txBox="1"/>
          <p:nvPr/>
        </p:nvSpPr>
        <p:spPr>
          <a:xfrm>
            <a:off x="6502711" y="2246784"/>
            <a:ext cx="2304258" cy="2585323"/>
          </a:xfrm>
          <a:prstGeom prst="rect">
            <a:avLst/>
          </a:prstGeom>
          <a:noFill/>
        </p:spPr>
        <p:txBody>
          <a:bodyPr wrap="square" rtlCol="0">
            <a:spAutoFit/>
          </a:bodyPr>
          <a:lstStyle/>
          <a:p>
            <a:pPr algn="just"/>
            <a:r>
              <a:rPr lang="en-US" b="0" i="0" dirty="0">
                <a:solidFill>
                  <a:schemeClr val="bg1"/>
                </a:solidFill>
                <a:effectLst/>
                <a:latin typeface="Calibri (Body)"/>
              </a:rPr>
              <a:t>Each route defines a name, a pattern, and one or more targets to navigate to when the route has been hit.</a:t>
            </a:r>
          </a:p>
          <a:p>
            <a:r>
              <a:rPr lang="en-US" kern="0" dirty="0">
                <a:solidFill>
                  <a:schemeClr val="bg1"/>
                </a:solidFill>
                <a:latin typeface="Calibri (Body)"/>
                <a:cs typeface="Arial" pitchFamily="34" charset="0"/>
              </a:rPr>
              <a:t>Three subsections :-</a:t>
            </a:r>
          </a:p>
          <a:p>
            <a:r>
              <a:rPr lang="en-US" kern="0" dirty="0">
                <a:solidFill>
                  <a:schemeClr val="bg1"/>
                </a:solidFill>
                <a:latin typeface="Calibri (Body)"/>
                <a:cs typeface="Arial" pitchFamily="34" charset="0"/>
              </a:rPr>
              <a:t> 1. pattern</a:t>
            </a:r>
          </a:p>
          <a:p>
            <a:r>
              <a:rPr lang="en-US" kern="0" dirty="0">
                <a:solidFill>
                  <a:schemeClr val="bg1"/>
                </a:solidFill>
                <a:latin typeface="Calibri (Body)"/>
                <a:cs typeface="Arial" pitchFamily="34" charset="0"/>
              </a:rPr>
              <a:t> 2. name</a:t>
            </a:r>
          </a:p>
          <a:p>
            <a:r>
              <a:rPr lang="en-US" kern="0" dirty="0">
                <a:solidFill>
                  <a:schemeClr val="bg1"/>
                </a:solidFill>
                <a:latin typeface="Calibri (Body)"/>
                <a:cs typeface="Arial" pitchFamily="34" charset="0"/>
              </a:rPr>
              <a:t> 3. target</a:t>
            </a:r>
          </a:p>
        </p:txBody>
      </p:sp>
      <p:sp>
        <p:nvSpPr>
          <p:cNvPr id="12" name="TextBox 11">
            <a:extLst>
              <a:ext uri="{FF2B5EF4-FFF2-40B4-BE49-F238E27FC236}">
                <a16:creationId xmlns:a16="http://schemas.microsoft.com/office/drawing/2014/main" id="{40B1FEAC-E6DC-4DF9-8363-4D9DC6EAC257}"/>
              </a:ext>
            </a:extLst>
          </p:cNvPr>
          <p:cNvSpPr txBox="1"/>
          <p:nvPr/>
        </p:nvSpPr>
        <p:spPr>
          <a:xfrm>
            <a:off x="6540761" y="1624458"/>
            <a:ext cx="2304258" cy="369332"/>
          </a:xfrm>
          <a:prstGeom prst="rect">
            <a:avLst/>
          </a:prstGeom>
          <a:noFill/>
        </p:spPr>
        <p:txBody>
          <a:bodyPr wrap="square" rtlCol="0" anchor="b">
            <a:spAutoFit/>
          </a:bodyPr>
          <a:lstStyle/>
          <a:p>
            <a:pPr algn="ctr"/>
            <a:r>
              <a:rPr lang="en-US" b="1" i="0" dirty="0">
                <a:solidFill>
                  <a:schemeClr val="bg1"/>
                </a:solidFill>
                <a:effectLst/>
                <a:latin typeface="Calibri (Body)"/>
              </a:rPr>
              <a:t>routes</a:t>
            </a:r>
            <a:endParaRPr lang="en-US" sz="1800" b="1" kern="0" dirty="0">
              <a:solidFill>
                <a:schemeClr val="bg1"/>
              </a:solidFill>
              <a:latin typeface="Calibri (Body)"/>
              <a:cs typeface="Arial" pitchFamily="34" charset="0"/>
            </a:endParaRPr>
          </a:p>
        </p:txBody>
      </p:sp>
      <p:sp>
        <p:nvSpPr>
          <p:cNvPr id="13" name="Oval 12">
            <a:extLst>
              <a:ext uri="{FF2B5EF4-FFF2-40B4-BE49-F238E27FC236}">
                <a16:creationId xmlns:a16="http://schemas.microsoft.com/office/drawing/2014/main" id="{D3767709-08AA-438A-BCA3-24A2D9C66DF2}"/>
              </a:ext>
            </a:extLst>
          </p:cNvPr>
          <p:cNvSpPr/>
          <p:nvPr/>
        </p:nvSpPr>
        <p:spPr>
          <a:xfrm>
            <a:off x="4490534" y="5647842"/>
            <a:ext cx="93681" cy="93681"/>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Oval 13">
            <a:extLst>
              <a:ext uri="{FF2B5EF4-FFF2-40B4-BE49-F238E27FC236}">
                <a16:creationId xmlns:a16="http://schemas.microsoft.com/office/drawing/2014/main" id="{999E6302-DE9F-4181-9D9E-0117DA13CA74}"/>
              </a:ext>
            </a:extLst>
          </p:cNvPr>
          <p:cNvSpPr/>
          <p:nvPr/>
        </p:nvSpPr>
        <p:spPr>
          <a:xfrm>
            <a:off x="4612352" y="5647842"/>
            <a:ext cx="93681" cy="93681"/>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Oval 14">
            <a:extLst>
              <a:ext uri="{FF2B5EF4-FFF2-40B4-BE49-F238E27FC236}">
                <a16:creationId xmlns:a16="http://schemas.microsoft.com/office/drawing/2014/main" id="{F0377FEC-A619-47FC-BAD3-FAF64DB4DEAB}"/>
              </a:ext>
            </a:extLst>
          </p:cNvPr>
          <p:cNvSpPr/>
          <p:nvPr/>
        </p:nvSpPr>
        <p:spPr>
          <a:xfrm>
            <a:off x="4734171" y="5647842"/>
            <a:ext cx="93681" cy="93681"/>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Oval 15">
            <a:extLst>
              <a:ext uri="{FF2B5EF4-FFF2-40B4-BE49-F238E27FC236}">
                <a16:creationId xmlns:a16="http://schemas.microsoft.com/office/drawing/2014/main" id="{C028D857-2783-4705-9E10-5451C0E9710C}"/>
              </a:ext>
            </a:extLst>
          </p:cNvPr>
          <p:cNvSpPr/>
          <p:nvPr/>
        </p:nvSpPr>
        <p:spPr>
          <a:xfrm>
            <a:off x="7456365" y="5647842"/>
            <a:ext cx="93681" cy="93681"/>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Oval 16">
            <a:extLst>
              <a:ext uri="{FF2B5EF4-FFF2-40B4-BE49-F238E27FC236}">
                <a16:creationId xmlns:a16="http://schemas.microsoft.com/office/drawing/2014/main" id="{8125ABFB-036D-492E-A4BF-38AD5FA17840}"/>
              </a:ext>
            </a:extLst>
          </p:cNvPr>
          <p:cNvSpPr/>
          <p:nvPr/>
        </p:nvSpPr>
        <p:spPr>
          <a:xfrm>
            <a:off x="7578183" y="5647842"/>
            <a:ext cx="93681" cy="9368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Oval 17">
            <a:extLst>
              <a:ext uri="{FF2B5EF4-FFF2-40B4-BE49-F238E27FC236}">
                <a16:creationId xmlns:a16="http://schemas.microsoft.com/office/drawing/2014/main" id="{C41A0347-75E9-490C-9A64-975D7388C36E}"/>
              </a:ext>
            </a:extLst>
          </p:cNvPr>
          <p:cNvSpPr/>
          <p:nvPr/>
        </p:nvSpPr>
        <p:spPr>
          <a:xfrm>
            <a:off x="7700002" y="5647842"/>
            <a:ext cx="93681" cy="93681"/>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19" name="Group 18">
            <a:extLst>
              <a:ext uri="{FF2B5EF4-FFF2-40B4-BE49-F238E27FC236}">
                <a16:creationId xmlns:a16="http://schemas.microsoft.com/office/drawing/2014/main" id="{87F534B7-9328-4CFE-90DA-6B79A33AB5E3}"/>
              </a:ext>
            </a:extLst>
          </p:cNvPr>
          <p:cNvGrpSpPr/>
          <p:nvPr/>
        </p:nvGrpSpPr>
        <p:grpSpPr>
          <a:xfrm>
            <a:off x="9333294" y="1478937"/>
            <a:ext cx="2599767" cy="4464496"/>
            <a:chOff x="7968190" y="1478937"/>
            <a:chExt cx="2599767" cy="4464496"/>
          </a:xfrm>
        </p:grpSpPr>
        <p:sp>
          <p:nvSpPr>
            <p:cNvPr id="21" name="Rectangle 20">
              <a:extLst>
                <a:ext uri="{FF2B5EF4-FFF2-40B4-BE49-F238E27FC236}">
                  <a16:creationId xmlns:a16="http://schemas.microsoft.com/office/drawing/2014/main" id="{0CE99589-C133-41DA-B4A1-9A90B841CBE5}"/>
                </a:ext>
              </a:extLst>
            </p:cNvPr>
            <p:cNvSpPr/>
            <p:nvPr/>
          </p:nvSpPr>
          <p:spPr>
            <a:xfrm>
              <a:off x="7968190" y="1478937"/>
              <a:ext cx="2599767" cy="4464496"/>
            </a:xfrm>
            <a:prstGeom prst="rect">
              <a:avLst/>
            </a:prstGeom>
            <a:gradFill flip="none" rotWithShape="1">
              <a:gsLst>
                <a:gs pos="12000">
                  <a:schemeClr val="accent5"/>
                </a:gs>
                <a:gs pos="71000">
                  <a:schemeClr val="accent6"/>
                </a:gs>
                <a:gs pos="100000">
                  <a:schemeClr val="accent6"/>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TextBox 22">
              <a:extLst>
                <a:ext uri="{FF2B5EF4-FFF2-40B4-BE49-F238E27FC236}">
                  <a16:creationId xmlns:a16="http://schemas.microsoft.com/office/drawing/2014/main" id="{8C09914E-9969-4D59-9CD7-BB08F6D020DC}"/>
                </a:ext>
              </a:extLst>
            </p:cNvPr>
            <p:cNvSpPr txBox="1"/>
            <p:nvPr/>
          </p:nvSpPr>
          <p:spPr>
            <a:xfrm>
              <a:off x="8175094" y="2260365"/>
              <a:ext cx="2304258" cy="2308324"/>
            </a:xfrm>
            <a:prstGeom prst="rect">
              <a:avLst/>
            </a:prstGeom>
            <a:noFill/>
          </p:spPr>
          <p:txBody>
            <a:bodyPr wrap="square" rtlCol="0">
              <a:spAutoFit/>
            </a:bodyPr>
            <a:lstStyle/>
            <a:p>
              <a:r>
                <a:rPr lang="en-US" b="0" i="0" dirty="0">
                  <a:solidFill>
                    <a:schemeClr val="bg1"/>
                  </a:solidFill>
                  <a:effectLst/>
                  <a:latin typeface="Calibri (Body)"/>
                </a:rPr>
                <a:t>A target defines a view that is or more routes</a:t>
              </a:r>
              <a:r>
                <a:rPr lang="en-US" kern="0" dirty="0">
                  <a:solidFill>
                    <a:schemeClr val="bg1"/>
                  </a:solidFill>
                  <a:latin typeface="Calibri (Body)"/>
                  <a:cs typeface="Arial" pitchFamily="34" charset="0"/>
                </a:rPr>
                <a:t> </a:t>
              </a:r>
              <a:r>
                <a:rPr lang="en-US" dirty="0">
                  <a:solidFill>
                    <a:schemeClr val="bg1"/>
                  </a:solidFill>
                  <a:latin typeface="Calibri (Body)"/>
                </a:rPr>
                <a:t>displayed, it is associated with one.</a:t>
              </a:r>
            </a:p>
            <a:p>
              <a:r>
                <a:rPr lang="en-US" dirty="0">
                  <a:solidFill>
                    <a:schemeClr val="bg1"/>
                  </a:solidFill>
                  <a:latin typeface="Calibri (Body)"/>
                </a:rPr>
                <a:t>Subsections: -</a:t>
              </a:r>
            </a:p>
            <a:p>
              <a:pPr marL="342900" indent="-342900">
                <a:buAutoNum type="arabicPeriod"/>
              </a:pPr>
              <a:r>
                <a:rPr lang="en-US" dirty="0">
                  <a:solidFill>
                    <a:schemeClr val="bg1"/>
                  </a:solidFill>
                  <a:latin typeface="Calibri (Body)"/>
                </a:rPr>
                <a:t>Overview</a:t>
              </a:r>
            </a:p>
            <a:p>
              <a:pPr marL="342900" indent="-342900">
                <a:buAutoNum type="arabicPeriod"/>
              </a:pPr>
              <a:r>
                <a:rPr lang="en-US" dirty="0">
                  <a:solidFill>
                    <a:schemeClr val="bg1"/>
                  </a:solidFill>
                  <a:latin typeface="Calibri (Body)"/>
                </a:rPr>
                <a:t>detail</a:t>
              </a:r>
            </a:p>
            <a:p>
              <a:endParaRPr lang="en-US" kern="0" dirty="0">
                <a:solidFill>
                  <a:schemeClr val="bg1"/>
                </a:solidFill>
                <a:latin typeface="Calibri (Body)"/>
                <a:cs typeface="Arial" pitchFamily="34" charset="0"/>
              </a:endParaRPr>
            </a:p>
          </p:txBody>
        </p:sp>
        <p:sp>
          <p:nvSpPr>
            <p:cNvPr id="24" name="TextBox 23">
              <a:extLst>
                <a:ext uri="{FF2B5EF4-FFF2-40B4-BE49-F238E27FC236}">
                  <a16:creationId xmlns:a16="http://schemas.microsoft.com/office/drawing/2014/main" id="{2F76DD0A-74FD-4974-90BF-86581BFBC5E0}"/>
                </a:ext>
              </a:extLst>
            </p:cNvPr>
            <p:cNvSpPr txBox="1"/>
            <p:nvPr/>
          </p:nvSpPr>
          <p:spPr>
            <a:xfrm>
              <a:off x="8391763" y="1680282"/>
              <a:ext cx="1520948" cy="369332"/>
            </a:xfrm>
            <a:prstGeom prst="rect">
              <a:avLst/>
            </a:prstGeom>
            <a:noFill/>
          </p:spPr>
          <p:txBody>
            <a:bodyPr wrap="square" rtlCol="0" anchor="b">
              <a:spAutoFit/>
            </a:bodyPr>
            <a:lstStyle/>
            <a:p>
              <a:pPr algn="ctr"/>
              <a:r>
                <a:rPr lang="en-US" b="1" i="0" dirty="0">
                  <a:solidFill>
                    <a:schemeClr val="bg1"/>
                  </a:solidFill>
                  <a:effectLst/>
                  <a:latin typeface="Calibri (Body)"/>
                </a:rPr>
                <a:t>targets</a:t>
              </a:r>
              <a:endParaRPr lang="en-US" sz="1800" b="1" kern="0" dirty="0">
                <a:solidFill>
                  <a:schemeClr val="bg1"/>
                </a:solidFill>
                <a:latin typeface="Calibri (Body)"/>
                <a:cs typeface="Arial" pitchFamily="34" charset="0"/>
              </a:endParaRPr>
            </a:p>
          </p:txBody>
        </p:sp>
        <p:sp>
          <p:nvSpPr>
            <p:cNvPr id="25" name="Oval 24">
              <a:extLst>
                <a:ext uri="{FF2B5EF4-FFF2-40B4-BE49-F238E27FC236}">
                  <a16:creationId xmlns:a16="http://schemas.microsoft.com/office/drawing/2014/main" id="{83FF43C3-F002-40F2-AFBE-91E6BEB91EF2}"/>
                </a:ext>
              </a:extLst>
            </p:cNvPr>
            <p:cNvSpPr/>
            <p:nvPr/>
          </p:nvSpPr>
          <p:spPr>
            <a:xfrm>
              <a:off x="8861760" y="5647842"/>
              <a:ext cx="93681" cy="93681"/>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6" name="Oval 25">
              <a:extLst>
                <a:ext uri="{FF2B5EF4-FFF2-40B4-BE49-F238E27FC236}">
                  <a16:creationId xmlns:a16="http://schemas.microsoft.com/office/drawing/2014/main" id="{C95D468B-49D0-4605-927C-BFFAA1F6FC63}"/>
                </a:ext>
              </a:extLst>
            </p:cNvPr>
            <p:cNvSpPr/>
            <p:nvPr/>
          </p:nvSpPr>
          <p:spPr>
            <a:xfrm>
              <a:off x="8983578" y="5647842"/>
              <a:ext cx="93681" cy="93681"/>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7" name="Oval 26">
              <a:extLst>
                <a:ext uri="{FF2B5EF4-FFF2-40B4-BE49-F238E27FC236}">
                  <a16:creationId xmlns:a16="http://schemas.microsoft.com/office/drawing/2014/main" id="{136DECC6-C1A3-4593-80DF-DAA4F3B0D1C5}"/>
                </a:ext>
              </a:extLst>
            </p:cNvPr>
            <p:cNvSpPr/>
            <p:nvPr/>
          </p:nvSpPr>
          <p:spPr>
            <a:xfrm>
              <a:off x="9105397" y="5647842"/>
              <a:ext cx="93681" cy="9368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8" name="Rectangle 27">
            <a:extLst>
              <a:ext uri="{FF2B5EF4-FFF2-40B4-BE49-F238E27FC236}">
                <a16:creationId xmlns:a16="http://schemas.microsoft.com/office/drawing/2014/main" id="{A2E64768-8A0F-4051-8170-CAB25866ED32}"/>
              </a:ext>
            </a:extLst>
          </p:cNvPr>
          <p:cNvSpPr/>
          <p:nvPr/>
        </p:nvSpPr>
        <p:spPr>
          <a:xfrm>
            <a:off x="228323" y="1478937"/>
            <a:ext cx="2599767" cy="4464496"/>
          </a:xfrm>
          <a:prstGeom prst="rect">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dirty="0"/>
          </a:p>
        </p:txBody>
      </p:sp>
      <p:sp>
        <p:nvSpPr>
          <p:cNvPr id="29" name="TextBox 28">
            <a:extLst>
              <a:ext uri="{FF2B5EF4-FFF2-40B4-BE49-F238E27FC236}">
                <a16:creationId xmlns:a16="http://schemas.microsoft.com/office/drawing/2014/main" id="{107E095B-6AB4-4A91-B148-62D340668721}"/>
              </a:ext>
            </a:extLst>
          </p:cNvPr>
          <p:cNvSpPr txBox="1"/>
          <p:nvPr/>
        </p:nvSpPr>
        <p:spPr>
          <a:xfrm>
            <a:off x="441286" y="2161593"/>
            <a:ext cx="2304258" cy="2585323"/>
          </a:xfrm>
          <a:prstGeom prst="rect">
            <a:avLst/>
          </a:prstGeom>
          <a:noFill/>
        </p:spPr>
        <p:txBody>
          <a:bodyPr wrap="square" rtlCol="0">
            <a:spAutoFit/>
          </a:bodyPr>
          <a:lstStyle/>
          <a:p>
            <a:pPr algn="just"/>
            <a:r>
              <a:rPr lang="en-US" b="0" i="0" dirty="0">
                <a:solidFill>
                  <a:schemeClr val="bg1"/>
                </a:solidFill>
                <a:effectLst/>
                <a:latin typeface="Calibri (Body)"/>
              </a:rPr>
              <a:t>This section contains the information about our Root View. The View which works as a container for other views. In this section we provide the path of the view, type and controlId.</a:t>
            </a:r>
            <a:endParaRPr lang="en-US" kern="0" dirty="0">
              <a:solidFill>
                <a:schemeClr val="bg1"/>
              </a:solidFill>
              <a:latin typeface="Calibri (Body)"/>
              <a:cs typeface="Arial" pitchFamily="34" charset="0"/>
            </a:endParaRPr>
          </a:p>
        </p:txBody>
      </p:sp>
      <p:sp>
        <p:nvSpPr>
          <p:cNvPr id="30" name="TextBox 29">
            <a:extLst>
              <a:ext uri="{FF2B5EF4-FFF2-40B4-BE49-F238E27FC236}">
                <a16:creationId xmlns:a16="http://schemas.microsoft.com/office/drawing/2014/main" id="{26E927F5-FCEB-4537-897E-05D53FD5A23E}"/>
              </a:ext>
            </a:extLst>
          </p:cNvPr>
          <p:cNvSpPr txBox="1"/>
          <p:nvPr/>
        </p:nvSpPr>
        <p:spPr>
          <a:xfrm>
            <a:off x="319467" y="1624458"/>
            <a:ext cx="2304258" cy="369332"/>
          </a:xfrm>
          <a:prstGeom prst="rect">
            <a:avLst/>
          </a:prstGeom>
          <a:noFill/>
        </p:spPr>
        <p:txBody>
          <a:bodyPr wrap="square" rtlCol="0" anchor="b">
            <a:spAutoFit/>
          </a:bodyPr>
          <a:lstStyle/>
          <a:p>
            <a:pPr algn="ctr"/>
            <a:r>
              <a:rPr lang="en-US" b="1" i="0" dirty="0">
                <a:solidFill>
                  <a:schemeClr val="bg1"/>
                </a:solidFill>
                <a:effectLst/>
                <a:latin typeface="Calibri (Body)"/>
              </a:rPr>
              <a:t>rootView</a:t>
            </a:r>
            <a:endParaRPr lang="en-US" sz="1800" b="1" kern="0" dirty="0">
              <a:solidFill>
                <a:schemeClr val="bg1"/>
              </a:solidFill>
              <a:latin typeface="Calibri (Body)"/>
              <a:cs typeface="Arial" pitchFamily="34" charset="0"/>
            </a:endParaRPr>
          </a:p>
        </p:txBody>
      </p:sp>
      <p:sp>
        <p:nvSpPr>
          <p:cNvPr id="31" name="Oval 30">
            <a:extLst>
              <a:ext uri="{FF2B5EF4-FFF2-40B4-BE49-F238E27FC236}">
                <a16:creationId xmlns:a16="http://schemas.microsoft.com/office/drawing/2014/main" id="{7C387302-A9C3-4151-9503-945B585F08BE}"/>
              </a:ext>
            </a:extLst>
          </p:cNvPr>
          <p:cNvSpPr/>
          <p:nvPr/>
        </p:nvSpPr>
        <p:spPr>
          <a:xfrm>
            <a:off x="1260327" y="5647842"/>
            <a:ext cx="93681" cy="93681"/>
          </a:xfrm>
          <a:prstGeom prst="ellipse">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2" name="Oval 31">
            <a:extLst>
              <a:ext uri="{FF2B5EF4-FFF2-40B4-BE49-F238E27FC236}">
                <a16:creationId xmlns:a16="http://schemas.microsoft.com/office/drawing/2014/main" id="{230C3C31-56D7-4D9C-8895-61C87E309F6E}"/>
              </a:ext>
            </a:extLst>
          </p:cNvPr>
          <p:cNvSpPr/>
          <p:nvPr/>
        </p:nvSpPr>
        <p:spPr>
          <a:xfrm>
            <a:off x="1382145" y="5647842"/>
            <a:ext cx="93681" cy="93681"/>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3" name="Oval 32">
            <a:extLst>
              <a:ext uri="{FF2B5EF4-FFF2-40B4-BE49-F238E27FC236}">
                <a16:creationId xmlns:a16="http://schemas.microsoft.com/office/drawing/2014/main" id="{8C0CA988-9326-413A-99AE-0062A828465A}"/>
              </a:ext>
            </a:extLst>
          </p:cNvPr>
          <p:cNvSpPr/>
          <p:nvPr/>
        </p:nvSpPr>
        <p:spPr>
          <a:xfrm>
            <a:off x="1503964" y="5647842"/>
            <a:ext cx="93681" cy="93681"/>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4" name="Oval 33">
            <a:extLst>
              <a:ext uri="{FF2B5EF4-FFF2-40B4-BE49-F238E27FC236}">
                <a16:creationId xmlns:a16="http://schemas.microsoft.com/office/drawing/2014/main" id="{808CD8BC-C9C4-48EA-9F13-21A06803A973}"/>
              </a:ext>
            </a:extLst>
          </p:cNvPr>
          <p:cNvSpPr/>
          <p:nvPr/>
        </p:nvSpPr>
        <p:spPr>
          <a:xfrm>
            <a:off x="1633177" y="5644974"/>
            <a:ext cx="93681" cy="101973"/>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5" name="Oval 34">
            <a:extLst>
              <a:ext uri="{FF2B5EF4-FFF2-40B4-BE49-F238E27FC236}">
                <a16:creationId xmlns:a16="http://schemas.microsoft.com/office/drawing/2014/main" id="{CC1A6EE6-0714-4E8A-AB0E-B54601DC2912}"/>
              </a:ext>
            </a:extLst>
          </p:cNvPr>
          <p:cNvSpPr/>
          <p:nvPr/>
        </p:nvSpPr>
        <p:spPr>
          <a:xfrm>
            <a:off x="4348259" y="5644974"/>
            <a:ext cx="93681" cy="93681"/>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6" name="Oval 35">
            <a:extLst>
              <a:ext uri="{FF2B5EF4-FFF2-40B4-BE49-F238E27FC236}">
                <a16:creationId xmlns:a16="http://schemas.microsoft.com/office/drawing/2014/main" id="{B838E4B1-1C22-4BE4-B613-CF71F4518574}"/>
              </a:ext>
            </a:extLst>
          </p:cNvPr>
          <p:cNvSpPr/>
          <p:nvPr/>
        </p:nvSpPr>
        <p:spPr>
          <a:xfrm>
            <a:off x="7821820" y="5636545"/>
            <a:ext cx="93681" cy="93681"/>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7" name="Oval 36">
            <a:extLst>
              <a:ext uri="{FF2B5EF4-FFF2-40B4-BE49-F238E27FC236}">
                <a16:creationId xmlns:a16="http://schemas.microsoft.com/office/drawing/2014/main" id="{F8000296-A425-43CD-AF62-D9AA70BA1B32}"/>
              </a:ext>
            </a:extLst>
          </p:cNvPr>
          <p:cNvSpPr/>
          <p:nvPr/>
        </p:nvSpPr>
        <p:spPr>
          <a:xfrm>
            <a:off x="10097650" y="5651131"/>
            <a:ext cx="93681" cy="93681"/>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42895901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Hands – on: Routing Implementation</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970318"/>
          </a:xfrm>
          <a:prstGeom prst="rect">
            <a:avLst/>
          </a:prstGeom>
          <a:noFill/>
        </p:spPr>
        <p:txBody>
          <a:bodyPr wrap="square" rtlCol="0">
            <a:spAutoFit/>
          </a:bodyPr>
          <a:lstStyle/>
          <a:p>
            <a:r>
              <a:rPr lang="en-US" dirty="0"/>
              <a:t>Now we need to implement routing in our existing application, for that we have to follow the Steps provided in the previous slides.</a:t>
            </a:r>
          </a:p>
          <a:p>
            <a:r>
              <a:rPr lang="en-US" dirty="0"/>
              <a:t>We also have to change the navigation in our View1 controller, and make it according to the Router, for that we have to get the router object in the View1 controller and then navigate to the view using the </a:t>
            </a:r>
            <a:r>
              <a:rPr lang="en-US" dirty="0">
                <a:solidFill>
                  <a:schemeClr val="accent6"/>
                </a:solidFill>
              </a:rPr>
              <a:t>navTo()</a:t>
            </a:r>
            <a:r>
              <a:rPr lang="en-US" dirty="0"/>
              <a:t> function.</a:t>
            </a:r>
          </a:p>
          <a:p>
            <a:r>
              <a:rPr lang="en-US" dirty="0"/>
              <a:t>To get the router object in View1 controller</a:t>
            </a:r>
          </a:p>
          <a:p>
            <a:r>
              <a:rPr lang="en-US" dirty="0"/>
              <a:t>	</a:t>
            </a:r>
            <a:r>
              <a:rPr lang="en-US" b="0" dirty="0">
                <a:solidFill>
                  <a:srgbClr val="0000FF"/>
                </a:solidFill>
                <a:effectLst/>
                <a:latin typeface="Consolas" panose="020B0609020204030204" pitchFamily="49" charset="0"/>
              </a:rPr>
              <a:t>this</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oRouter</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this</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getOwnerComponent</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getRouter</a:t>
            </a:r>
            <a:r>
              <a:rPr lang="en-US" b="0" dirty="0">
                <a:solidFill>
                  <a:srgbClr val="000000"/>
                </a:solidFill>
                <a:effectLst/>
                <a:latin typeface="Consolas" panose="020B0609020204030204" pitchFamily="49" charset="0"/>
              </a:rPr>
              <a:t>();</a:t>
            </a:r>
          </a:p>
          <a:p>
            <a:r>
              <a:rPr lang="en-US" dirty="0"/>
              <a:t>To navigate to the View2</a:t>
            </a:r>
          </a:p>
          <a:p>
            <a:r>
              <a:rPr lang="en-US" dirty="0"/>
              <a:t>	</a:t>
            </a:r>
            <a:r>
              <a:rPr lang="en-US" b="0" dirty="0">
                <a:solidFill>
                  <a:srgbClr val="0000FF"/>
                </a:solidFill>
                <a:effectLst/>
                <a:latin typeface="Consolas" panose="020B0609020204030204" pitchFamily="49" charset="0"/>
              </a:rPr>
              <a:t>this</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oRouter</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navTo</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"loadMyV2"</a:t>
            </a:r>
            <a:r>
              <a:rPr lang="en-US" b="0" dirty="0">
                <a:solidFill>
                  <a:srgbClr val="000000"/>
                </a:solidFill>
                <a:effectLst/>
                <a:latin typeface="Consolas" panose="020B0609020204030204" pitchFamily="49" charset="0"/>
              </a:rPr>
              <a:t>);</a:t>
            </a:r>
            <a:endParaRPr lang="en-US" dirty="0"/>
          </a:p>
          <a:p>
            <a:endParaRPr lang="en-US" dirty="0"/>
          </a:p>
          <a:p>
            <a:r>
              <a:rPr lang="en-US" dirty="0"/>
              <a:t>Code Links:</a:t>
            </a:r>
          </a:p>
          <a:p>
            <a:pPr marL="285750" indent="-285750">
              <a:buFontTx/>
              <a:buChar char="-"/>
            </a:pPr>
            <a:r>
              <a:rPr lang="en-US" dirty="0"/>
              <a:t>manifest.json</a:t>
            </a:r>
          </a:p>
          <a:p>
            <a:pPr marL="285750" indent="-285750">
              <a:buFontTx/>
              <a:buChar char="-"/>
            </a:pPr>
            <a:r>
              <a:rPr lang="en-US" dirty="0"/>
              <a:t>Component.js</a:t>
            </a:r>
          </a:p>
          <a:p>
            <a:pPr marL="285750" indent="-285750">
              <a:buFontTx/>
              <a:buChar char="-"/>
            </a:pPr>
            <a:r>
              <a:rPr lang="en-US" dirty="0"/>
              <a:t>View1.controller.js</a:t>
            </a:r>
          </a:p>
          <a:p>
            <a:pPr marL="285750" indent="-285750">
              <a:buFontTx/>
              <a:buChar char="-"/>
            </a:pPr>
            <a:endParaRPr lang="en-US" dirty="0"/>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F773F88C-2094-42D2-B546-1D90556E992D}"/>
              </a:ext>
            </a:extLst>
          </p:cNvPr>
          <p:cNvPicPr>
            <a:picLocks noChangeAspect="1"/>
          </p:cNvPicPr>
          <p:nvPr/>
        </p:nvPicPr>
        <p:blipFill>
          <a:blip r:embed="rId3"/>
          <a:stretch>
            <a:fillRect/>
          </a:stretch>
        </p:blipFill>
        <p:spPr>
          <a:xfrm>
            <a:off x="2823588" y="3956213"/>
            <a:ext cx="4312118" cy="2214513"/>
          </a:xfrm>
          <a:prstGeom prst="rect">
            <a:avLst/>
          </a:prstGeom>
          <a:ln/>
        </p:spPr>
        <p:style>
          <a:lnRef idx="2">
            <a:schemeClr val="dk1"/>
          </a:lnRef>
          <a:fillRef idx="1">
            <a:schemeClr val="lt1"/>
          </a:fillRef>
          <a:effectRef idx="0">
            <a:schemeClr val="dk1"/>
          </a:effectRef>
          <a:fontRef idx="minor">
            <a:schemeClr val="dk1"/>
          </a:fontRef>
        </p:style>
      </p:pic>
      <p:pic>
        <p:nvPicPr>
          <p:cNvPr id="1026" name="Picture 2">
            <a:extLst>
              <a:ext uri="{FF2B5EF4-FFF2-40B4-BE49-F238E27FC236}">
                <a16:creationId xmlns:a16="http://schemas.microsoft.com/office/drawing/2014/main" id="{557276CC-AA08-4254-82C2-6FC727B4D01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18118" y="3962450"/>
            <a:ext cx="4312118" cy="2208276"/>
          </a:xfrm>
          <a:prstGeom prst="rect">
            <a:avLst/>
          </a:prstGeom>
          <a:ln/>
        </p:spPr>
        <p:style>
          <a:lnRef idx="2">
            <a:schemeClr val="dk1"/>
          </a:lnRef>
          <a:fillRef idx="1">
            <a:schemeClr val="lt1"/>
          </a:fillRef>
          <a:effectRef idx="0">
            <a:schemeClr val="dk1"/>
          </a:effectRef>
          <a:fontRef idx="minor">
            <a:schemeClr val="dk1"/>
          </a:fontRef>
        </p:style>
      </p:pic>
      <p:sp>
        <p:nvSpPr>
          <p:cNvPr id="6" name="Arrow: Right 5">
            <a:extLst>
              <a:ext uri="{FF2B5EF4-FFF2-40B4-BE49-F238E27FC236}">
                <a16:creationId xmlns:a16="http://schemas.microsoft.com/office/drawing/2014/main" id="{36221ED0-2C4A-4F47-8203-70026FAB79DF}"/>
              </a:ext>
            </a:extLst>
          </p:cNvPr>
          <p:cNvSpPr/>
          <p:nvPr/>
        </p:nvSpPr>
        <p:spPr>
          <a:xfrm>
            <a:off x="6832879" y="5024176"/>
            <a:ext cx="934497" cy="301450"/>
          </a:xfrm>
          <a:prstGeom prst="righ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118750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Hands – no: Route Match Handler</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2031325"/>
          </a:xfrm>
          <a:prstGeom prst="rect">
            <a:avLst/>
          </a:prstGeom>
          <a:noFill/>
        </p:spPr>
        <p:txBody>
          <a:bodyPr wrap="square" rtlCol="0">
            <a:spAutoFit/>
          </a:bodyPr>
          <a:lstStyle/>
          <a:p>
            <a:r>
              <a:rPr lang="en-US" b="1" dirty="0">
                <a:solidFill>
                  <a:schemeClr val="accent6"/>
                </a:solidFill>
              </a:rPr>
              <a:t>Route Match Handler</a:t>
            </a:r>
            <a:r>
              <a:rPr lang="en-US" dirty="0"/>
              <a:t>: It is a function which gets triggered every time when Route, End Point, Hash Tag Changes.</a:t>
            </a:r>
          </a:p>
          <a:p>
            <a:r>
              <a:rPr lang="en-US" dirty="0"/>
              <a:t>Now using the route match handler we will load the data of the selected fruit.</a:t>
            </a:r>
          </a:p>
          <a:p>
            <a:endParaRPr lang="en-US" dirty="0"/>
          </a:p>
          <a:p>
            <a:r>
              <a:rPr lang="en-US" dirty="0"/>
              <a:t>Code Link:- </a:t>
            </a:r>
          </a:p>
          <a:p>
            <a:pPr marL="285750" indent="-285750">
              <a:buFontTx/>
              <a:buChar char="-"/>
            </a:pPr>
            <a:r>
              <a:rPr lang="en-US" dirty="0"/>
              <a:t>View1.controller.js</a:t>
            </a:r>
          </a:p>
          <a:p>
            <a:pPr marL="285750" indent="-285750">
              <a:buFontTx/>
              <a:buChar char="-"/>
            </a:pPr>
            <a:r>
              <a:rPr lang="en-US" dirty="0"/>
              <a:t>View2.controller.js</a:t>
            </a:r>
          </a:p>
          <a:p>
            <a:pPr marL="285750" indent="-285750">
              <a:buFontTx/>
              <a:buChar char="-"/>
            </a:pPr>
            <a:r>
              <a:rPr lang="en-US" dirty="0"/>
              <a:t>manifest.js</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D03F51C3-13C1-4E8C-9124-B66C38665759}"/>
              </a:ext>
            </a:extLst>
          </p:cNvPr>
          <p:cNvPicPr>
            <a:picLocks noChangeAspect="1"/>
          </p:cNvPicPr>
          <p:nvPr/>
        </p:nvPicPr>
        <p:blipFill>
          <a:blip r:embed="rId3"/>
          <a:stretch>
            <a:fillRect/>
          </a:stretch>
        </p:blipFill>
        <p:spPr>
          <a:xfrm>
            <a:off x="3577212" y="1971313"/>
            <a:ext cx="8102321" cy="4152545"/>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26782475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30278" y="2339163"/>
            <a:ext cx="9161718" cy="4518837"/>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0" y="-1"/>
            <a:ext cx="12192000" cy="487793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7" y="-1"/>
            <a:ext cx="12188826" cy="487793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6" y="-10291"/>
            <a:ext cx="12187238" cy="4888227"/>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1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660" y="5992677"/>
            <a:ext cx="3636124" cy="646331"/>
          </a:xfrm>
          <a:prstGeom prst="rect">
            <a:avLst/>
          </a:prstGeom>
        </p:spPr>
        <p:txBody>
          <a:bodyPr wrap="square">
            <a:spAutoFit/>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421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80349" y="2925900"/>
            <a:ext cx="3230283" cy="276999"/>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995" y="3113774"/>
            <a:ext cx="1801916"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880" y="3113774"/>
            <a:ext cx="1801916"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6601" y="3111414"/>
            <a:ext cx="1801916"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592" y="2279542"/>
            <a:ext cx="640226" cy="640226"/>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6417" y="2272463"/>
            <a:ext cx="672103" cy="672103"/>
          </a:xfrm>
          <a:prstGeom prst="rect">
            <a:avLst/>
          </a:prstGeom>
        </p:spPr>
      </p:pic>
      <p:sp>
        <p:nvSpPr>
          <p:cNvPr id="48" name="Rectangle 47"/>
          <p:cNvSpPr/>
          <p:nvPr/>
        </p:nvSpPr>
        <p:spPr>
          <a:xfrm>
            <a:off x="632685" y="691519"/>
            <a:ext cx="6572671" cy="1015663"/>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Most Desirable Resource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660" y="4998907"/>
            <a:ext cx="3901573" cy="89255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2741" y="2194371"/>
            <a:ext cx="852087" cy="852087"/>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9296" y="3369105"/>
            <a:ext cx="5612646" cy="3381741"/>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3739" y="5575313"/>
            <a:ext cx="2196807" cy="54749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hlinkClick r:id="rId9"/>
            <a:extLst>
              <a:ext uri="{FF2B5EF4-FFF2-40B4-BE49-F238E27FC236}">
                <a16:creationId xmlns:a16="http://schemas.microsoft.com/office/drawing/2014/main" id="{B7D41E04-1B35-BD4F-8B37-C6CC88C6B995}"/>
              </a:ext>
            </a:extLst>
          </p:cNvPr>
          <p:cNvSpPr/>
          <p:nvPr/>
        </p:nvSpPr>
        <p:spPr>
          <a:xfrm>
            <a:off x="4400880" y="5490869"/>
            <a:ext cx="2196807" cy="547494"/>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4221" y="5590861"/>
            <a:ext cx="14670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23">
            <a:extLst>
              <a:ext uri="{FF2B5EF4-FFF2-40B4-BE49-F238E27FC236}">
                <a16:creationId xmlns:a16="http://schemas.microsoft.com/office/drawing/2014/main" id="{50EE5CC4-6884-48A9-8EE9-C0C15B8FD140}"/>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8651916" y="501199"/>
            <a:ext cx="1956681" cy="1932623"/>
          </a:xfrm>
          <a:prstGeom prst="rect">
            <a:avLst/>
          </a:prstGeom>
        </p:spPr>
      </p:pic>
    </p:spTree>
    <p:extLst>
      <p:ext uri="{BB962C8B-B14F-4D97-AF65-F5344CB8AC3E}">
        <p14:creationId xmlns:p14="http://schemas.microsoft.com/office/powerpoint/2010/main" val="19376076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8A4613-6F8A-40A2-B2DE-12F49D2C9098}"/>
              </a:ext>
            </a:extLst>
          </p:cNvPr>
          <p:cNvSpPr txBox="1"/>
          <p:nvPr/>
        </p:nvSpPr>
        <p:spPr>
          <a:xfrm>
            <a:off x="92365" y="180309"/>
            <a:ext cx="11462326" cy="646331"/>
          </a:xfrm>
          <a:prstGeom prst="rect">
            <a:avLst/>
          </a:prstGeom>
          <a:noFill/>
        </p:spPr>
        <p:txBody>
          <a:bodyPr wrap="square">
            <a:spAutoFit/>
          </a:bodyPr>
          <a:lstStyle/>
          <a:p>
            <a:r>
              <a:rPr lang="en-US" sz="3600" dirty="0">
                <a:latin typeface="Cooper Black" panose="0208090404030B020404" pitchFamily="18" charset="0"/>
              </a:rPr>
              <a:t>More from AnubhavTrainings.com</a:t>
            </a:r>
          </a:p>
        </p:txBody>
      </p:sp>
      <p:pic>
        <p:nvPicPr>
          <p:cNvPr id="6" name="Picture 5">
            <a:hlinkClick r:id="rId2"/>
            <a:extLst>
              <a:ext uri="{FF2B5EF4-FFF2-40B4-BE49-F238E27FC236}">
                <a16:creationId xmlns:a16="http://schemas.microsoft.com/office/drawing/2014/main" id="{3C11E744-8456-4A37-9BA0-092AF3415D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9878" y="826640"/>
            <a:ext cx="5727192" cy="3452752"/>
          </a:xfrm>
          <a:prstGeom prst="rect">
            <a:avLst/>
          </a:prstGeom>
          <a:scene3d>
            <a:camera prst="perspectiveLeft"/>
            <a:lightRig rig="threePt" dir="t"/>
          </a:scene3d>
        </p:spPr>
      </p:pic>
      <p:pic>
        <p:nvPicPr>
          <p:cNvPr id="8" name="Picture 7">
            <a:hlinkClick r:id="rId4"/>
            <a:extLst>
              <a:ext uri="{FF2B5EF4-FFF2-40B4-BE49-F238E27FC236}">
                <a16:creationId xmlns:a16="http://schemas.microsoft.com/office/drawing/2014/main" id="{D78BFE9E-91A1-40B2-B91E-34E16BAEAB5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4930" y="1061561"/>
            <a:ext cx="5956261" cy="3337560"/>
          </a:xfrm>
          <a:prstGeom prst="rect">
            <a:avLst/>
          </a:prstGeom>
          <a:scene3d>
            <a:camera prst="perspectiveLeft"/>
            <a:lightRig rig="threePt" dir="t"/>
          </a:scene3d>
        </p:spPr>
      </p:pic>
      <p:pic>
        <p:nvPicPr>
          <p:cNvPr id="10" name="Picture 9">
            <a:hlinkClick r:id="rId6"/>
            <a:extLst>
              <a:ext uri="{FF2B5EF4-FFF2-40B4-BE49-F238E27FC236}">
                <a16:creationId xmlns:a16="http://schemas.microsoft.com/office/drawing/2014/main" id="{4B4996AA-9A5C-4627-ABFF-5F312BFC766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29877" y="3132709"/>
            <a:ext cx="5727193" cy="3539652"/>
          </a:xfrm>
          <a:prstGeom prst="rect">
            <a:avLst/>
          </a:prstGeom>
          <a:scene3d>
            <a:camera prst="perspectiveLeft"/>
            <a:lightRig rig="threePt" dir="t"/>
          </a:scene3d>
        </p:spPr>
      </p:pic>
      <p:pic>
        <p:nvPicPr>
          <p:cNvPr id="11" name="Picture 10">
            <a:hlinkClick r:id="rId8"/>
            <a:extLst>
              <a:ext uri="{FF2B5EF4-FFF2-40B4-BE49-F238E27FC236}">
                <a16:creationId xmlns:a16="http://schemas.microsoft.com/office/drawing/2014/main" id="{82B165D0-C409-4669-9E36-D2FB63835D83}"/>
              </a:ext>
            </a:extLst>
          </p:cNvPr>
          <p:cNvPicPr>
            <a:picLocks noChangeAspect="1"/>
          </p:cNvPicPr>
          <p:nvPr/>
        </p:nvPicPr>
        <p:blipFill>
          <a:blip r:embed="rId9"/>
          <a:stretch>
            <a:fillRect/>
          </a:stretch>
        </p:blipFill>
        <p:spPr>
          <a:xfrm>
            <a:off x="192258" y="3340131"/>
            <a:ext cx="5998933" cy="3304731"/>
          </a:xfrm>
          <a:prstGeom prst="rect">
            <a:avLst/>
          </a:prstGeom>
          <a:scene3d>
            <a:camera prst="perspectiveLeft"/>
            <a:lightRig rig="threePt" dir="t"/>
          </a:scene3d>
        </p:spPr>
      </p:pic>
    </p:spTree>
    <p:extLst>
      <p:ext uri="{BB962C8B-B14F-4D97-AF65-F5344CB8AC3E}">
        <p14:creationId xmlns:p14="http://schemas.microsoft.com/office/powerpoint/2010/main" val="26475416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Title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dirty="0"/>
              <a:t>Content</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3216820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2395</TotalTime>
  <Words>1137</Words>
  <Application>Microsoft Office PowerPoint</Application>
  <PresentationFormat>Widescreen</PresentationFormat>
  <Paragraphs>141</Paragraphs>
  <Slides>10</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72 Black</vt:lpstr>
      <vt:lpstr>Arial</vt:lpstr>
      <vt:lpstr>Calibri</vt:lpstr>
      <vt:lpstr>Calibri (Body)</vt:lpstr>
      <vt:lpstr>Calibri Light</vt:lpstr>
      <vt:lpstr>Consolas</vt:lpstr>
      <vt:lpstr>Cooper Black</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cvedi@soyuztechnologies.com</dc:creator>
  <cp:lastModifiedBy>Anubhav Oberoy</cp:lastModifiedBy>
  <cp:revision>23</cp:revision>
  <dcterms:created xsi:type="dcterms:W3CDTF">2023-08-10T16:09:42Z</dcterms:created>
  <dcterms:modified xsi:type="dcterms:W3CDTF">2026-05-05T04:31:18Z</dcterms:modified>
</cp:coreProperties>
</file>