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463" r:id="rId3"/>
    <p:sldId id="696" r:id="rId4"/>
    <p:sldId id="697" r:id="rId5"/>
    <p:sldId id="539" r:id="rId6"/>
    <p:sldId id="540" r:id="rId7"/>
    <p:sldId id="541" r:id="rId8"/>
    <p:sldId id="542" r:id="rId9"/>
    <p:sldId id="521" r:id="rId10"/>
    <p:sldId id="522" r:id="rId11"/>
    <p:sldId id="523" r:id="rId12"/>
    <p:sldId id="524" r:id="rId13"/>
    <p:sldId id="525" r:id="rId14"/>
    <p:sldId id="530" r:id="rId15"/>
    <p:sldId id="532" r:id="rId16"/>
    <p:sldId id="526" r:id="rId17"/>
    <p:sldId id="531" r:id="rId18"/>
    <p:sldId id="520" r:id="rId19"/>
    <p:sldId id="677" r:id="rId20"/>
    <p:sldId id="673" r:id="rId21"/>
    <p:sldId id="674" r:id="rId22"/>
    <p:sldId id="675" r:id="rId23"/>
    <p:sldId id="516" r:id="rId24"/>
    <p:sldId id="517" r:id="rId25"/>
    <p:sldId id="518" r:id="rId26"/>
    <p:sldId id="519" r:id="rId27"/>
    <p:sldId id="678" r:id="rId28"/>
    <p:sldId id="679" r:id="rId29"/>
    <p:sldId id="680" r:id="rId30"/>
    <p:sldId id="681" r:id="rId31"/>
    <p:sldId id="508" r:id="rId32"/>
    <p:sldId id="509" r:id="rId33"/>
    <p:sldId id="510" r:id="rId34"/>
    <p:sldId id="477" r:id="rId35"/>
    <p:sldId id="399" r:id="rId36"/>
    <p:sldId id="409" r:id="rId37"/>
    <p:sldId id="481" r:id="rId38"/>
    <p:sldId id="482" r:id="rId39"/>
    <p:sldId id="507"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46" autoAdjust="0"/>
    <p:restoredTop sz="94660"/>
  </p:normalViewPr>
  <p:slideViewPr>
    <p:cSldViewPr snapToGrid="0">
      <p:cViewPr varScale="1">
        <p:scale>
          <a:sx n="104" d="100"/>
          <a:sy n="104" d="100"/>
        </p:scale>
        <p:origin x="528"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22D637-C006-42E6-A174-C6026AE378E9}" type="datetimeFigureOut">
              <a:rPr lang="en-US" smtClean="0"/>
              <a:t>5/10/2026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901250-761B-44F6-8368-AF30FD50D892}" type="slidenum">
              <a:rPr lang="en-US" smtClean="0"/>
              <a:t>‹#›</a:t>
            </a:fld>
            <a:endParaRPr lang="en-US"/>
          </a:p>
        </p:txBody>
      </p:sp>
    </p:spTree>
    <p:extLst>
      <p:ext uri="{BB962C8B-B14F-4D97-AF65-F5344CB8AC3E}">
        <p14:creationId xmlns:p14="http://schemas.microsoft.com/office/powerpoint/2010/main" val="2515092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01775E-EDE2-4DE5-A02D-A8BD8C6F6AC0}" type="slidenum">
              <a:rPr lang="en-US" smtClean="0"/>
              <a:t>1</a:t>
            </a:fld>
            <a:endParaRPr lang="en-US"/>
          </a:p>
        </p:txBody>
      </p:sp>
    </p:spTree>
    <p:extLst>
      <p:ext uri="{BB962C8B-B14F-4D97-AF65-F5344CB8AC3E}">
        <p14:creationId xmlns:p14="http://schemas.microsoft.com/office/powerpoint/2010/main" val="1318605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01775E-EDE2-4DE5-A02D-A8BD8C6F6AC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3034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963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395E-E079-DACB-6D25-57F51D4C98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11E57C-29F5-F905-5B42-98C60F0F8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1F71E9-5DA9-7716-49A2-F07114C2248C}"/>
              </a:ext>
            </a:extLst>
          </p:cNvPr>
          <p:cNvSpPr>
            <a:spLocks noGrp="1"/>
          </p:cNvSpPr>
          <p:nvPr>
            <p:ph type="dt" sz="half" idx="10"/>
          </p:nvPr>
        </p:nvSpPr>
        <p:spPr/>
        <p:txBody>
          <a:bodyPr/>
          <a:lstStyle/>
          <a:p>
            <a:fld id="{A07C0A8A-41AC-4DAE-9E4E-FDD64E7E0D14}" type="datetimeFigureOut">
              <a:rPr lang="en-US" smtClean="0"/>
              <a:t>5/10/2026</a:t>
            </a:fld>
            <a:endParaRPr lang="en-US"/>
          </a:p>
        </p:txBody>
      </p:sp>
      <p:sp>
        <p:nvSpPr>
          <p:cNvPr id="5" name="Footer Placeholder 4">
            <a:extLst>
              <a:ext uri="{FF2B5EF4-FFF2-40B4-BE49-F238E27FC236}">
                <a16:creationId xmlns:a16="http://schemas.microsoft.com/office/drawing/2014/main" id="{0E18502B-4907-75FF-A9BB-80D9AAFE7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71CF6-B4C0-BF2D-11DE-E0BEA28BC5A0}"/>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410285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889E8-FCB4-9DA9-0A7D-8655E39CB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D7BFB0-8F07-3C1B-C37E-6D7CB0A185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12626-62C0-F477-6CCC-65005110E278}"/>
              </a:ext>
            </a:extLst>
          </p:cNvPr>
          <p:cNvSpPr>
            <a:spLocks noGrp="1"/>
          </p:cNvSpPr>
          <p:nvPr>
            <p:ph type="dt" sz="half" idx="10"/>
          </p:nvPr>
        </p:nvSpPr>
        <p:spPr/>
        <p:txBody>
          <a:bodyPr/>
          <a:lstStyle/>
          <a:p>
            <a:fld id="{A07C0A8A-41AC-4DAE-9E4E-FDD64E7E0D14}" type="datetimeFigureOut">
              <a:rPr lang="en-US" smtClean="0"/>
              <a:t>5/10/2026</a:t>
            </a:fld>
            <a:endParaRPr lang="en-US"/>
          </a:p>
        </p:txBody>
      </p:sp>
      <p:sp>
        <p:nvSpPr>
          <p:cNvPr id="5" name="Footer Placeholder 4">
            <a:extLst>
              <a:ext uri="{FF2B5EF4-FFF2-40B4-BE49-F238E27FC236}">
                <a16:creationId xmlns:a16="http://schemas.microsoft.com/office/drawing/2014/main" id="{73E81A14-A92C-660C-BFF1-2256458CE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FDDE6-514B-C120-9491-856D93CD7E4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249925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DE49-66CB-31F1-9FB1-26059AA7D3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883F89-DD41-2E22-51DF-3F664083C9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A42583-9B81-8E22-40D8-D858C6B2C5C6}"/>
              </a:ext>
            </a:extLst>
          </p:cNvPr>
          <p:cNvSpPr>
            <a:spLocks noGrp="1"/>
          </p:cNvSpPr>
          <p:nvPr>
            <p:ph type="dt" sz="half" idx="10"/>
          </p:nvPr>
        </p:nvSpPr>
        <p:spPr/>
        <p:txBody>
          <a:bodyPr/>
          <a:lstStyle/>
          <a:p>
            <a:fld id="{A07C0A8A-41AC-4DAE-9E4E-FDD64E7E0D14}" type="datetimeFigureOut">
              <a:rPr lang="en-US" smtClean="0"/>
              <a:t>5/10/2026</a:t>
            </a:fld>
            <a:endParaRPr lang="en-US"/>
          </a:p>
        </p:txBody>
      </p:sp>
      <p:sp>
        <p:nvSpPr>
          <p:cNvPr id="5" name="Footer Placeholder 4">
            <a:extLst>
              <a:ext uri="{FF2B5EF4-FFF2-40B4-BE49-F238E27FC236}">
                <a16:creationId xmlns:a16="http://schemas.microsoft.com/office/drawing/2014/main" id="{6A9E60ED-6415-E3A1-C265-30E2362C3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46095-DBBF-DE47-6DE3-AC6B04F450F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426469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F89F-1659-6ADC-5C23-CA6D6DC1D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97093D-9C34-89BA-4CAE-C09D987F01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E4605B-DED1-0FE9-A171-7732D075D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056C3D-7BEB-7411-21D9-DA641225474C}"/>
              </a:ext>
            </a:extLst>
          </p:cNvPr>
          <p:cNvSpPr>
            <a:spLocks noGrp="1"/>
          </p:cNvSpPr>
          <p:nvPr>
            <p:ph type="dt" sz="half" idx="10"/>
          </p:nvPr>
        </p:nvSpPr>
        <p:spPr/>
        <p:txBody>
          <a:bodyPr/>
          <a:lstStyle/>
          <a:p>
            <a:fld id="{A07C0A8A-41AC-4DAE-9E4E-FDD64E7E0D14}" type="datetimeFigureOut">
              <a:rPr lang="en-US" smtClean="0"/>
              <a:t>5/10/2026</a:t>
            </a:fld>
            <a:endParaRPr lang="en-US"/>
          </a:p>
        </p:txBody>
      </p:sp>
      <p:sp>
        <p:nvSpPr>
          <p:cNvPr id="6" name="Footer Placeholder 5">
            <a:extLst>
              <a:ext uri="{FF2B5EF4-FFF2-40B4-BE49-F238E27FC236}">
                <a16:creationId xmlns:a16="http://schemas.microsoft.com/office/drawing/2014/main" id="{E2E14848-119F-0F22-5E3E-EF27FC13B6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3F5BDF-DA69-6CA4-0E68-1D9BD9F2159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333675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D7A2-D118-7739-D659-DFF55A9486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897781-3927-4358-341E-FBC58DA9B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66BBA0-9B8D-A118-6CB6-3A58186FF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D9F280-F299-00B9-8708-87B5B5566F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469B73-0A37-32C7-7EFE-CA944A25F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722BFB-5D16-D151-CDC9-0503AD186C75}"/>
              </a:ext>
            </a:extLst>
          </p:cNvPr>
          <p:cNvSpPr>
            <a:spLocks noGrp="1"/>
          </p:cNvSpPr>
          <p:nvPr>
            <p:ph type="dt" sz="half" idx="10"/>
          </p:nvPr>
        </p:nvSpPr>
        <p:spPr/>
        <p:txBody>
          <a:bodyPr/>
          <a:lstStyle/>
          <a:p>
            <a:fld id="{A07C0A8A-41AC-4DAE-9E4E-FDD64E7E0D14}" type="datetimeFigureOut">
              <a:rPr lang="en-US" smtClean="0"/>
              <a:t>5/10/2026</a:t>
            </a:fld>
            <a:endParaRPr lang="en-US"/>
          </a:p>
        </p:txBody>
      </p:sp>
      <p:sp>
        <p:nvSpPr>
          <p:cNvPr id="8" name="Footer Placeholder 7">
            <a:extLst>
              <a:ext uri="{FF2B5EF4-FFF2-40B4-BE49-F238E27FC236}">
                <a16:creationId xmlns:a16="http://schemas.microsoft.com/office/drawing/2014/main" id="{D787A83C-873D-2132-A807-823449AC61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039121-25AA-5210-271C-D81FADD017C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06212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B2B7-ADD3-F38E-0BC4-21ED3359EB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3E4067-9BC8-6E83-5B87-013F4232E9F3}"/>
              </a:ext>
            </a:extLst>
          </p:cNvPr>
          <p:cNvSpPr>
            <a:spLocks noGrp="1"/>
          </p:cNvSpPr>
          <p:nvPr>
            <p:ph type="dt" sz="half" idx="10"/>
          </p:nvPr>
        </p:nvSpPr>
        <p:spPr/>
        <p:txBody>
          <a:bodyPr/>
          <a:lstStyle/>
          <a:p>
            <a:fld id="{A07C0A8A-41AC-4DAE-9E4E-FDD64E7E0D14}" type="datetimeFigureOut">
              <a:rPr lang="en-US" smtClean="0"/>
              <a:t>5/10/2026</a:t>
            </a:fld>
            <a:endParaRPr lang="en-US"/>
          </a:p>
        </p:txBody>
      </p:sp>
      <p:sp>
        <p:nvSpPr>
          <p:cNvPr id="4" name="Footer Placeholder 3">
            <a:extLst>
              <a:ext uri="{FF2B5EF4-FFF2-40B4-BE49-F238E27FC236}">
                <a16:creationId xmlns:a16="http://schemas.microsoft.com/office/drawing/2014/main" id="{FDD0997B-C324-3856-6EA1-C25D9F703E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1111C-142F-7C72-5849-8AA401A2FD5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90340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1EDFE2-60CD-B3B1-B4B2-42D1FDA3C74E}"/>
              </a:ext>
            </a:extLst>
          </p:cNvPr>
          <p:cNvSpPr>
            <a:spLocks noGrp="1"/>
          </p:cNvSpPr>
          <p:nvPr>
            <p:ph type="dt" sz="half" idx="10"/>
          </p:nvPr>
        </p:nvSpPr>
        <p:spPr/>
        <p:txBody>
          <a:bodyPr/>
          <a:lstStyle/>
          <a:p>
            <a:fld id="{A07C0A8A-41AC-4DAE-9E4E-FDD64E7E0D14}" type="datetimeFigureOut">
              <a:rPr lang="en-US" smtClean="0"/>
              <a:t>5/10/2026</a:t>
            </a:fld>
            <a:endParaRPr lang="en-US"/>
          </a:p>
        </p:txBody>
      </p:sp>
      <p:sp>
        <p:nvSpPr>
          <p:cNvPr id="3" name="Footer Placeholder 2">
            <a:extLst>
              <a:ext uri="{FF2B5EF4-FFF2-40B4-BE49-F238E27FC236}">
                <a16:creationId xmlns:a16="http://schemas.microsoft.com/office/drawing/2014/main" id="{D2B317B3-B0F4-473A-0AF2-297BAD47F4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8378CF-1FF8-0175-AB59-DDDB669A221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415970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9E2DA-CD90-4D21-CECB-9C6D5B8F3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BE4B0E-7D6B-BC5C-4F21-A013E8D541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E58BE8-98A4-EBA6-E87B-9A490FF09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7C946-03D1-3B40-1975-BBBCCB6D7E10}"/>
              </a:ext>
            </a:extLst>
          </p:cNvPr>
          <p:cNvSpPr>
            <a:spLocks noGrp="1"/>
          </p:cNvSpPr>
          <p:nvPr>
            <p:ph type="dt" sz="half" idx="10"/>
          </p:nvPr>
        </p:nvSpPr>
        <p:spPr/>
        <p:txBody>
          <a:bodyPr/>
          <a:lstStyle/>
          <a:p>
            <a:fld id="{A07C0A8A-41AC-4DAE-9E4E-FDD64E7E0D14}" type="datetimeFigureOut">
              <a:rPr lang="en-US" smtClean="0"/>
              <a:t>5/10/2026</a:t>
            </a:fld>
            <a:endParaRPr lang="en-US"/>
          </a:p>
        </p:txBody>
      </p:sp>
      <p:sp>
        <p:nvSpPr>
          <p:cNvPr id="6" name="Footer Placeholder 5">
            <a:extLst>
              <a:ext uri="{FF2B5EF4-FFF2-40B4-BE49-F238E27FC236}">
                <a16:creationId xmlns:a16="http://schemas.microsoft.com/office/drawing/2014/main" id="{E5377332-801A-85BB-0C55-AA0F32C50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5D4EAC-E46E-EE20-FB5B-CA709ED0F4F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77985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D2EC4-5BAC-99BD-A525-A130C8B42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EF67D5-1C5D-9DCF-4AE1-082A7C519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DD2C99-36B1-C8B8-21D0-3540E714E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5886B7-56B2-05F6-417C-4429B1615BC7}"/>
              </a:ext>
            </a:extLst>
          </p:cNvPr>
          <p:cNvSpPr>
            <a:spLocks noGrp="1"/>
          </p:cNvSpPr>
          <p:nvPr>
            <p:ph type="dt" sz="half" idx="10"/>
          </p:nvPr>
        </p:nvSpPr>
        <p:spPr/>
        <p:txBody>
          <a:bodyPr/>
          <a:lstStyle/>
          <a:p>
            <a:fld id="{A07C0A8A-41AC-4DAE-9E4E-FDD64E7E0D14}" type="datetimeFigureOut">
              <a:rPr lang="en-US" smtClean="0"/>
              <a:t>5/10/2026</a:t>
            </a:fld>
            <a:endParaRPr lang="en-US"/>
          </a:p>
        </p:txBody>
      </p:sp>
      <p:sp>
        <p:nvSpPr>
          <p:cNvPr id="6" name="Footer Placeholder 5">
            <a:extLst>
              <a:ext uri="{FF2B5EF4-FFF2-40B4-BE49-F238E27FC236}">
                <a16:creationId xmlns:a16="http://schemas.microsoft.com/office/drawing/2014/main" id="{BE26761A-6FDB-FF76-70E2-C4AE1D0B77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53415-C75E-0F45-3E41-EDDDC147856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32502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6F19-9775-741C-EC49-DCCF3BD2C4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8F0242-646E-6F4E-4E1B-AC31A2A15A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5D07D-9B81-ABE3-7185-B4C08B8F46C9}"/>
              </a:ext>
            </a:extLst>
          </p:cNvPr>
          <p:cNvSpPr>
            <a:spLocks noGrp="1"/>
          </p:cNvSpPr>
          <p:nvPr>
            <p:ph type="dt" sz="half" idx="10"/>
          </p:nvPr>
        </p:nvSpPr>
        <p:spPr/>
        <p:txBody>
          <a:bodyPr/>
          <a:lstStyle/>
          <a:p>
            <a:fld id="{A07C0A8A-41AC-4DAE-9E4E-FDD64E7E0D14}" type="datetimeFigureOut">
              <a:rPr lang="en-US" smtClean="0"/>
              <a:t>5/10/2026</a:t>
            </a:fld>
            <a:endParaRPr lang="en-US"/>
          </a:p>
        </p:txBody>
      </p:sp>
      <p:sp>
        <p:nvSpPr>
          <p:cNvPr id="5" name="Footer Placeholder 4">
            <a:extLst>
              <a:ext uri="{FF2B5EF4-FFF2-40B4-BE49-F238E27FC236}">
                <a16:creationId xmlns:a16="http://schemas.microsoft.com/office/drawing/2014/main" id="{066A1A36-FE5F-FA2B-E9EB-26D3D7CB15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A02252-D52F-CD5B-E286-2EBB19BBECD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763561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644E3-D095-45E8-8EA0-E2AFF3A4DA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36AE5F-5955-AAB2-4652-F50EBBA57F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DC67C-13F0-0123-EE54-C39B5162E443}"/>
              </a:ext>
            </a:extLst>
          </p:cNvPr>
          <p:cNvSpPr>
            <a:spLocks noGrp="1"/>
          </p:cNvSpPr>
          <p:nvPr>
            <p:ph type="dt" sz="half" idx="10"/>
          </p:nvPr>
        </p:nvSpPr>
        <p:spPr/>
        <p:txBody>
          <a:bodyPr/>
          <a:lstStyle/>
          <a:p>
            <a:fld id="{A07C0A8A-41AC-4DAE-9E4E-FDD64E7E0D14}" type="datetimeFigureOut">
              <a:rPr lang="en-US" smtClean="0"/>
              <a:t>5/10/2026</a:t>
            </a:fld>
            <a:endParaRPr lang="en-US"/>
          </a:p>
        </p:txBody>
      </p:sp>
      <p:sp>
        <p:nvSpPr>
          <p:cNvPr id="5" name="Footer Placeholder 4">
            <a:extLst>
              <a:ext uri="{FF2B5EF4-FFF2-40B4-BE49-F238E27FC236}">
                <a16:creationId xmlns:a16="http://schemas.microsoft.com/office/drawing/2014/main" id="{27D9E99A-F71D-6B91-D588-F6996A617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73557B-A0F3-3845-E09A-48858AAB998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94514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92000"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230258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E32D0-F8E7-6CFB-FABB-8CC60C479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799FAE-B5CA-E0E4-F007-632D8D52C4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84C42-F4BB-671F-8EC9-FE1A75D3E2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7C0A8A-41AC-4DAE-9E4E-FDD64E7E0D14}" type="datetimeFigureOut">
              <a:rPr lang="en-US" smtClean="0"/>
              <a:t>5/10/2026</a:t>
            </a:fld>
            <a:endParaRPr lang="en-US"/>
          </a:p>
        </p:txBody>
      </p:sp>
      <p:sp>
        <p:nvSpPr>
          <p:cNvPr id="5" name="Footer Placeholder 4">
            <a:extLst>
              <a:ext uri="{FF2B5EF4-FFF2-40B4-BE49-F238E27FC236}">
                <a16:creationId xmlns:a16="http://schemas.microsoft.com/office/drawing/2014/main" id="{7A4E3665-1FF2-646B-F7DC-DBF5D5822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627846-5AAA-0208-57FF-05A7D36F6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859B9F-1392-4886-95E1-6327877061A5}" type="slidenum">
              <a:rPr lang="en-US" smtClean="0"/>
              <a:t>‹#›</a:t>
            </a:fld>
            <a:endParaRPr lang="en-US"/>
          </a:p>
        </p:txBody>
      </p:sp>
    </p:spTree>
    <p:extLst>
      <p:ext uri="{BB962C8B-B14F-4D97-AF65-F5344CB8AC3E}">
        <p14:creationId xmlns:p14="http://schemas.microsoft.com/office/powerpoint/2010/main" val="862183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github.com/soyuztechnologies/Nvidia_Ui5_Fiori_Feb1/blob/master/Day%2012/GetEntitySet.txt" TargetMode="Externa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hyperlink" Target="https://github.com/soyuztechnologies/Nvidia_Ui5_Fiori_Feb1/blob/master/Day%2012/GETEntity%20(Single%20Record)%20Method.txt"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postman.com/downloads/" TargetMode="Externa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github.com/soyuztechnologies/Nvidia_Ui5_Fiori_Feb1/blob/master/Day%2013/Create_Update&amp;Delete%20ProductSet/CreateEntity(Post%20call).txt" TargetMode="Externa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github.com/soyuztechnologies/Nvidia_Ui5_Fiori_Feb1/blob/master/Day%2013/Create_Update&amp;Delete%20ProductSet/UpdateEntity.txt" TargetMode="External"/><Relationship Id="rId5" Type="http://schemas.openxmlformats.org/officeDocument/2006/relationships/hyperlink" Target="https://github.com/soyuztechnologies/Nvidia_Ui5_Fiori_Feb1/blob/master/Day%2013/Create_Update&amp;Delete%20ProductSet/DeleteEntity.txt" TargetMode="Externa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github.com/soyuztechnologies/Nvidia_Ui5_Fiori_Feb1/blob/master/Day%2013/SupplierSet/GetSupplierEntity.txt"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hyperlink" Target="https://github.com/soyuztechnologies/Nvidia_Ui5_Fiori_Feb1/blob/master/Day%2013/Association/Association.txt"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github.com/soyuztechnologies/Nvidia_Ui5_Fiori_Feb1/blob/master/Day%2013/Function_Import/function_import.txt" TargetMode="Externa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hyperlink" Target="https://tools.hana.ondemand.com/#cloud" TargetMode="External"/><Relationship Id="rId7" Type="http://schemas.openxmlformats.org/officeDocument/2006/relationships/image" Target="../media/image5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hyperlink" Target="https://localhost:8443/" TargetMode="External"/><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4.png"/><Relationship Id="rId4" Type="http://schemas.openxmlformats.org/officeDocument/2006/relationships/image" Target="../media/image73.png"/></Relationships>
</file>

<file path=ppt/slides/_rels/slide34.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6.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8" Type="http://schemas.openxmlformats.org/officeDocument/2006/relationships/image" Target="../media/image83.jpeg"/><Relationship Id="rId3" Type="http://schemas.openxmlformats.org/officeDocument/2006/relationships/image" Target="../media/image78.jpeg"/><Relationship Id="rId7" Type="http://schemas.openxmlformats.org/officeDocument/2006/relationships/image" Target="../media/image82.tiff"/><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1.tiff"/><Relationship Id="rId5" Type="http://schemas.openxmlformats.org/officeDocument/2006/relationships/image" Target="../media/image80.tiff"/><Relationship Id="rId10" Type="http://schemas.openxmlformats.org/officeDocument/2006/relationships/image" Target="../media/image2.png"/><Relationship Id="rId4" Type="http://schemas.openxmlformats.org/officeDocument/2006/relationships/image" Target="../media/image79.tiff"/><Relationship Id="rId9" Type="http://schemas.openxmlformats.org/officeDocument/2006/relationships/hyperlink" Target="https://anubhavtrainings.com/" TargetMode="External"/></Relationships>
</file>

<file path=ppt/slides/_rels/slide38.xml.rels><?xml version="1.0" encoding="UTF-8" standalone="yes"?>
<Relationships xmlns="http://schemas.openxmlformats.org/package/2006/relationships"><Relationship Id="rId8" Type="http://schemas.openxmlformats.org/officeDocument/2006/relationships/hyperlink" Target="https://www.youtube.com/watch?v=NV8UD9QnJ4A&amp;list=PLcxqFaocb9WLaza2kOjkUCDIQGbzNos6p" TargetMode="External"/><Relationship Id="rId3" Type="http://schemas.openxmlformats.org/officeDocument/2006/relationships/image" Target="../media/image84.jpg"/><Relationship Id="rId7" Type="http://schemas.openxmlformats.org/officeDocument/2006/relationships/image" Target="../media/image86.jpg"/><Relationship Id="rId2" Type="http://schemas.openxmlformats.org/officeDocument/2006/relationships/hyperlink" Target="https://www.youtube.com/watch?v=vlKBQ3g0w_E&amp;list=PLcxqFaocb9WIQJ-kptyPuiMSVWZVd2ff_&amp;index=1" TargetMode="External"/><Relationship Id="rId1" Type="http://schemas.openxmlformats.org/officeDocument/2006/relationships/slideLayout" Target="../slideLayouts/slideLayout7.xml"/><Relationship Id="rId6" Type="http://schemas.openxmlformats.org/officeDocument/2006/relationships/hyperlink" Target="https://www.youtube.com/watch?v=xQzhXhq1ZyI&amp;list=PLcxqFaocb9WLtnq-rpXbRy5hnKECxr95G" TargetMode="External"/><Relationship Id="rId5" Type="http://schemas.openxmlformats.org/officeDocument/2006/relationships/image" Target="../media/image85.jpg"/><Relationship Id="rId4" Type="http://schemas.openxmlformats.org/officeDocument/2006/relationships/hyperlink" Target="https://www.youtube.com/watch?v=aVPk_FE9O3s&amp;list=PLcxqFaocb9WJ8g8TZPsHQIEcSjKW9F0IE&amp;index=2" TargetMode="External"/><Relationship Id="rId9" Type="http://schemas.openxmlformats.org/officeDocument/2006/relationships/image" Target="../media/image87.png"/></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8915400 w 12192000"/>
              <a:gd name="connsiteY2" fmla="*/ 4593771 h 6858000"/>
              <a:gd name="connsiteX3" fmla="*/ 0 w 12192000"/>
              <a:gd name="connsiteY3" fmla="*/ 6858000 h 6858000"/>
              <a:gd name="connsiteX4" fmla="*/ 0 w 12192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8915400" y="4593771"/>
                </a:lnTo>
                <a:lnTo>
                  <a:pt x="0" y="6858000"/>
                </a:lnTo>
                <a:lnTo>
                  <a:pt x="0" y="0"/>
                </a:lnTo>
                <a:close/>
              </a:path>
            </a:pathLst>
          </a:custGeom>
          <a:blipFill dpi="0" rotWithShape="1">
            <a:blip r:embed="rId3">
              <a:extLst>
                <a:ext uri="{BEBA8EAE-BF5A-486C-A8C5-ECC9F3942E4B}">
                  <a14:imgProps xmlns:a14="http://schemas.microsoft.com/office/drawing/2010/main">
                    <a14:imgLayer r:embed="rId4">
                      <a14:imgEffect>
                        <a14:brightnessContrast bright="-7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122712" y="2918300"/>
            <a:ext cx="6629399" cy="646331"/>
          </a:xfrm>
          <a:prstGeom prst="rect">
            <a:avLst/>
          </a:prstGeom>
          <a:noFill/>
        </p:spPr>
        <p:txBody>
          <a:bodyPr wrap="square" rtlCol="0">
            <a:spAutoFit/>
          </a:bodyPr>
          <a:lstStyle/>
          <a:p>
            <a:r>
              <a:rPr lang="en-US" sz="3600" spc="-150" dirty="0">
                <a:solidFill>
                  <a:schemeClr val="bg1"/>
                </a:solidFill>
              </a:rPr>
              <a:t>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28355" y="5017269"/>
            <a:ext cx="1863645" cy="1840731"/>
          </a:xfrm>
          <a:prstGeom prst="rect">
            <a:avLst/>
          </a:prstGeom>
        </p:spPr>
      </p:pic>
      <p:sp>
        <p:nvSpPr>
          <p:cNvPr id="8" name="TextBox 7"/>
          <p:cNvSpPr txBox="1"/>
          <p:nvPr/>
        </p:nvSpPr>
        <p:spPr>
          <a:xfrm>
            <a:off x="167491" y="3579798"/>
            <a:ext cx="6629399" cy="830997"/>
          </a:xfrm>
          <a:prstGeom prst="rect">
            <a:avLst/>
          </a:prstGeom>
          <a:noFill/>
        </p:spPr>
        <p:txBody>
          <a:bodyPr wrap="square" rtlCol="0">
            <a:spAutoFit/>
          </a:bodyPr>
          <a:lstStyle/>
          <a:p>
            <a:r>
              <a:rPr lang="en-US" sz="4800" spc="-150" dirty="0">
                <a:solidFill>
                  <a:schemeClr val="bg1"/>
                </a:solidFill>
                <a:latin typeface="Cooper Black" panose="0208090404030B020404" pitchFamily="18" charset="0"/>
              </a:rPr>
              <a:t>Day – 20 </a:t>
            </a:r>
          </a:p>
        </p:txBody>
      </p:sp>
      <p:sp>
        <p:nvSpPr>
          <p:cNvPr id="9" name="TextBox 8">
            <a:extLst>
              <a:ext uri="{FF2B5EF4-FFF2-40B4-BE49-F238E27FC236}">
                <a16:creationId xmlns:a16="http://schemas.microsoft.com/office/drawing/2014/main" id="{029AD5CA-C2E2-40A6-8CE6-90DA460ACF0D}"/>
              </a:ext>
            </a:extLst>
          </p:cNvPr>
          <p:cNvSpPr txBox="1"/>
          <p:nvPr/>
        </p:nvSpPr>
        <p:spPr>
          <a:xfrm>
            <a:off x="122712" y="154049"/>
            <a:ext cx="11664004" cy="1754326"/>
          </a:xfrm>
          <a:prstGeom prst="rect">
            <a:avLst/>
          </a:prstGeom>
          <a:noFill/>
        </p:spPr>
        <p:txBody>
          <a:bodyPr wrap="square" rtlCol="0">
            <a:spAutoFit/>
          </a:bodyPr>
          <a:lstStyle/>
          <a:p>
            <a:r>
              <a:rPr lang="en-US" sz="5400" b="1" cap="all" spc="-150" dirty="0">
                <a:solidFill>
                  <a:srgbClr val="92D050"/>
                </a:solidFill>
              </a:rPr>
              <a:t>SAP </a:t>
            </a:r>
            <a:r>
              <a:rPr lang="en-US" sz="5400" b="1" dirty="0">
                <a:solidFill>
                  <a:srgbClr val="92D050"/>
                </a:solidFill>
              </a:rPr>
              <a:t>UI5 &amp; FIORI with OData TRAINING using BAS</a:t>
            </a:r>
          </a:p>
        </p:txBody>
      </p:sp>
    </p:spTree>
    <p:extLst>
      <p:ext uri="{BB962C8B-B14F-4D97-AF65-F5344CB8AC3E}">
        <p14:creationId xmlns:p14="http://schemas.microsoft.com/office/powerpoint/2010/main" val="69812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20B393-B059-4008-BE9A-31AEBF787D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0042" y="779090"/>
            <a:ext cx="5353730" cy="535373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i="0" u="none" strike="noStrike" kern="1200" cap="none" spc="0" normalizeH="0" baseline="0" noProof="0" dirty="0">
                <a:ln>
                  <a:noFill/>
                </a:ln>
                <a:solidFill>
                  <a:prstClr val="black"/>
                </a:solidFill>
                <a:effectLst/>
                <a:uLnTx/>
                <a:uFillTx/>
                <a:latin typeface="Cooper Black" panose="0208090404030B020404" pitchFamily="18" charset="0"/>
              </a:rPr>
              <a:t>Agenda – Day 20</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3" name="TextBox 2">
            <a:extLst>
              <a:ext uri="{FF2B5EF4-FFF2-40B4-BE49-F238E27FC236}">
                <a16:creationId xmlns:a16="http://schemas.microsoft.com/office/drawing/2014/main" id="{73A79EAA-1647-4107-B296-669CE3D2F38F}"/>
              </a:ext>
            </a:extLst>
          </p:cNvPr>
          <p:cNvSpPr txBox="1"/>
          <p:nvPr/>
        </p:nvSpPr>
        <p:spPr>
          <a:xfrm>
            <a:off x="638228" y="899721"/>
            <a:ext cx="5353730" cy="6463308"/>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dirty="0"/>
              <a:t>Building Get Entity set Method</a:t>
            </a:r>
          </a:p>
          <a:p>
            <a:pPr marL="285750" indent="-285750">
              <a:buClr>
                <a:schemeClr val="tx1"/>
              </a:buClr>
              <a:buFont typeface="Arial" panose="020B0604020202020204" pitchFamily="34" charset="0"/>
              <a:buChar char="•"/>
            </a:pPr>
            <a:r>
              <a:rPr lang="en-US" dirty="0"/>
              <a:t>Testing the Get Entity set Method in Browser</a:t>
            </a:r>
          </a:p>
          <a:p>
            <a:pPr marL="285750" indent="-285750">
              <a:buClr>
                <a:schemeClr val="tx1"/>
              </a:buClr>
              <a:buFont typeface="Arial" panose="020B0604020202020204" pitchFamily="34" charset="0"/>
              <a:buChar char="•"/>
            </a:pPr>
            <a:r>
              <a:rPr lang="en-US" dirty="0"/>
              <a:t>Building Get Entity method (Single Product)</a:t>
            </a:r>
          </a:p>
          <a:p>
            <a:pPr marL="285750" indent="-285750">
              <a:buClr>
                <a:schemeClr val="tx1"/>
              </a:buClr>
              <a:buFont typeface="Arial" panose="020B0604020202020204" pitchFamily="34" charset="0"/>
              <a:buChar char="•"/>
            </a:pPr>
            <a:r>
              <a:rPr lang="en-US" dirty="0"/>
              <a:t>Introduction to the Postman Tool</a:t>
            </a:r>
          </a:p>
          <a:p>
            <a:pPr marL="285750" indent="-285750">
              <a:buClr>
                <a:schemeClr val="tx1"/>
              </a:buClr>
              <a:buFont typeface="Arial" panose="020B0604020202020204" pitchFamily="34" charset="0"/>
              <a:buChar char="•"/>
            </a:pPr>
            <a:r>
              <a:rPr lang="en-US" dirty="0"/>
              <a:t>Setting the Authorization in Postman</a:t>
            </a:r>
          </a:p>
          <a:p>
            <a:pPr marL="285750" indent="-285750">
              <a:buClr>
                <a:schemeClr val="tx1"/>
              </a:buClr>
              <a:buFont typeface="Arial" panose="020B0604020202020204" pitchFamily="34" charset="0"/>
              <a:buChar char="•"/>
            </a:pPr>
            <a:r>
              <a:rPr lang="en-US" dirty="0"/>
              <a:t>Testing Get Entity and Entity set using Postman</a:t>
            </a:r>
          </a:p>
          <a:p>
            <a:pPr marL="285750" indent="-285750">
              <a:buClr>
                <a:schemeClr val="tx1"/>
              </a:buClr>
              <a:buFont typeface="Arial" panose="020B0604020202020204" pitchFamily="34" charset="0"/>
              <a:buChar char="•"/>
            </a:pPr>
            <a:r>
              <a:rPr lang="en-US" dirty="0"/>
              <a:t>Implementing Create in OData Service</a:t>
            </a:r>
          </a:p>
          <a:p>
            <a:pPr marL="285750" indent="-285750">
              <a:buClr>
                <a:schemeClr val="tx1"/>
              </a:buClr>
              <a:buFont typeface="Arial" panose="020B0604020202020204" pitchFamily="34" charset="0"/>
              <a:buChar char="•"/>
            </a:pPr>
            <a:r>
              <a:rPr lang="en-US" dirty="0"/>
              <a:t>Testing POST calls in the SAP Logon</a:t>
            </a:r>
          </a:p>
          <a:p>
            <a:pPr marL="285750" indent="-285750">
              <a:buClr>
                <a:schemeClr val="tx1"/>
              </a:buClr>
              <a:buFont typeface="Arial" panose="020B0604020202020204" pitchFamily="34" charset="0"/>
              <a:buChar char="•"/>
            </a:pPr>
            <a:r>
              <a:rPr lang="en-US" dirty="0"/>
              <a:t>Testing POST calls using postman</a:t>
            </a:r>
          </a:p>
          <a:p>
            <a:pPr marL="285750" indent="-285750">
              <a:buClr>
                <a:schemeClr val="tx1"/>
              </a:buClr>
              <a:buFont typeface="Arial" panose="020B0604020202020204" pitchFamily="34" charset="0"/>
              <a:buChar char="•"/>
            </a:pPr>
            <a:r>
              <a:rPr lang="en-US" dirty="0"/>
              <a:t>How to set payload in postman to test POST call</a:t>
            </a:r>
          </a:p>
          <a:p>
            <a:pPr marL="285750" indent="-285750">
              <a:buClr>
                <a:schemeClr val="tx1"/>
              </a:buClr>
              <a:buFont typeface="Arial" panose="020B0604020202020204" pitchFamily="34" charset="0"/>
              <a:buChar char="•"/>
            </a:pPr>
            <a:r>
              <a:rPr lang="en-US" dirty="0"/>
              <a:t>Introduction to x-csrf-token</a:t>
            </a:r>
          </a:p>
          <a:p>
            <a:pPr marL="285750" indent="-285750">
              <a:buClr>
                <a:schemeClr val="tx1"/>
              </a:buClr>
              <a:buFont typeface="Arial" panose="020B0604020202020204" pitchFamily="34" charset="0"/>
              <a:buChar char="•"/>
            </a:pPr>
            <a:r>
              <a:rPr lang="en-US" dirty="0"/>
              <a:t>Implementing Update and Delete in service</a:t>
            </a:r>
          </a:p>
          <a:p>
            <a:pPr marL="285750" indent="-285750">
              <a:buClr>
                <a:schemeClr val="tx1"/>
              </a:buClr>
              <a:buFont typeface="Arial" panose="020B0604020202020204" pitchFamily="34" charset="0"/>
              <a:buChar char="•"/>
            </a:pPr>
            <a:r>
              <a:rPr lang="en-US" dirty="0"/>
              <a:t>Adding Supplier Entity set</a:t>
            </a:r>
          </a:p>
          <a:p>
            <a:pPr marL="285750" indent="-285750">
              <a:buClr>
                <a:schemeClr val="tx1"/>
              </a:buClr>
              <a:buFont typeface="Arial" panose="020B0604020202020204" pitchFamily="34" charset="0"/>
              <a:buChar char="•"/>
            </a:pPr>
            <a:r>
              <a:rPr lang="en-US" dirty="0"/>
              <a:t>Introduction to Association</a:t>
            </a:r>
          </a:p>
          <a:p>
            <a:pPr marL="285750" indent="-285750">
              <a:buClr>
                <a:schemeClr val="tx1"/>
              </a:buClr>
              <a:buFont typeface="Arial" panose="020B0604020202020204" pitchFamily="34" charset="0"/>
              <a:buChar char="•"/>
            </a:pPr>
            <a:r>
              <a:rPr lang="en-US" dirty="0"/>
              <a:t>Associating Supplier Set to Product Set</a:t>
            </a:r>
          </a:p>
          <a:p>
            <a:pPr marL="285750" indent="-285750">
              <a:buClr>
                <a:schemeClr val="tx1"/>
              </a:buClr>
              <a:buFont typeface="Arial" panose="020B0604020202020204" pitchFamily="34" charset="0"/>
              <a:buChar char="•"/>
            </a:pPr>
            <a:r>
              <a:rPr lang="en-US" dirty="0"/>
              <a:t>Introduction to Function Import</a:t>
            </a:r>
          </a:p>
          <a:p>
            <a:pPr marL="285750" indent="-285750">
              <a:buClr>
                <a:schemeClr val="tx1"/>
              </a:buClr>
              <a:buFont typeface="Arial" panose="020B0604020202020204" pitchFamily="34" charset="0"/>
              <a:buChar char="•"/>
            </a:pPr>
            <a:r>
              <a:rPr lang="en-US" dirty="0"/>
              <a:t>Creating a Function to get Most expensive product</a:t>
            </a:r>
          </a:p>
          <a:p>
            <a:pPr marL="285750" indent="-285750">
              <a:buFont typeface="Arial" panose="020B0604020202020204" pitchFamily="34" charset="0"/>
              <a:buChar char="•"/>
            </a:pPr>
            <a:r>
              <a:rPr lang="it-IT" dirty="0">
                <a:solidFill>
                  <a:srgbClr val="242424"/>
                </a:solidFill>
              </a:rPr>
              <a:t>Basics of Connectivity</a:t>
            </a:r>
          </a:p>
          <a:p>
            <a:pPr marL="285750" indent="-285750">
              <a:buFont typeface="Arial" panose="020B0604020202020204" pitchFamily="34" charset="0"/>
              <a:buChar char="•"/>
            </a:pPr>
            <a:r>
              <a:rPr lang="it-IT" dirty="0">
                <a:solidFill>
                  <a:srgbClr val="242424"/>
                </a:solidFill>
              </a:rPr>
              <a:t>Introduction to Cloud Connector</a:t>
            </a:r>
          </a:p>
          <a:p>
            <a:pPr marL="285750" indent="-285750">
              <a:buFont typeface="Arial" panose="020B0604020202020204" pitchFamily="34" charset="0"/>
              <a:buChar char="•"/>
            </a:pPr>
            <a:r>
              <a:rPr lang="it-IT" dirty="0">
                <a:solidFill>
                  <a:srgbClr val="242424"/>
                </a:solidFill>
              </a:rPr>
              <a:t>Steps to Setup the Cloud Connection.</a:t>
            </a:r>
          </a:p>
          <a:p>
            <a:pPr marL="285750" indent="-285750">
              <a:buFont typeface="Arial" panose="020B0604020202020204" pitchFamily="34" charset="0"/>
              <a:buChar char="•"/>
            </a:pPr>
            <a:r>
              <a:rPr lang="it-IT" dirty="0">
                <a:solidFill>
                  <a:srgbClr val="242424"/>
                </a:solidFill>
              </a:rPr>
              <a:t>Creating the destination in the BTP for BAS</a:t>
            </a:r>
          </a:p>
          <a:p>
            <a:pPr marL="285750" indent="-285750">
              <a:buClr>
                <a:schemeClr val="tx1"/>
              </a:buClr>
              <a:buFont typeface="Arial" panose="020B0604020202020204" pitchFamily="34" charset="0"/>
              <a:buChar char="•"/>
            </a:pPr>
            <a:r>
              <a:rPr lang="en-US" dirty="0"/>
              <a:t>Creating the destination in the Vscode</a:t>
            </a:r>
          </a:p>
          <a:p>
            <a:pPr>
              <a:buClr>
                <a:schemeClr val="tx1"/>
              </a:buClr>
            </a:pPr>
            <a:endParaRPr lang="en-US" dirty="0"/>
          </a:p>
        </p:txBody>
      </p:sp>
      <p:sp>
        <p:nvSpPr>
          <p:cNvPr id="9" name="Footer Placeholder 45">
            <a:extLst>
              <a:ext uri="{FF2B5EF4-FFF2-40B4-BE49-F238E27FC236}">
                <a16:creationId xmlns:a16="http://schemas.microsoft.com/office/drawing/2014/main" id="{51D77C38-BB47-4E3F-84A5-C28B2149205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21857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18914"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Building Get Entity Set Method for ProductSet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ProductSet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Get EntitySet method(with filter, top and skip) in DPC Extension  (Class Builder tcode- </a:t>
            </a:r>
            <a:r>
              <a:rPr lang="en-US" b="1" dirty="0">
                <a:solidFill>
                  <a:prstClr val="black"/>
                </a:solidFill>
                <a:latin typeface="Calibri" panose="020F0502020204030204"/>
              </a:rPr>
              <a:t>se24</a:t>
            </a:r>
            <a:r>
              <a:rPr lang="en-US" dirty="0">
                <a:solidFill>
                  <a:prstClr val="black"/>
                </a:solidFill>
                <a:latin typeface="Calibri" panose="020F0502020204030204"/>
              </a:rPr>
              <a: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AECBB02-A318-4BDB-A665-A8893C67A678}"/>
              </a:ext>
            </a:extLst>
          </p:cNvPr>
          <p:cNvPicPr>
            <a:picLocks noChangeAspect="1"/>
          </p:cNvPicPr>
          <p:nvPr/>
        </p:nvPicPr>
        <p:blipFill>
          <a:blip r:embed="rId3"/>
          <a:stretch>
            <a:fillRect/>
          </a:stretch>
        </p:blipFill>
        <p:spPr>
          <a:xfrm>
            <a:off x="424871" y="1426866"/>
            <a:ext cx="3825582" cy="1969575"/>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618A748E-CF17-4CD5-8BFE-36868CADE80B}"/>
              </a:ext>
            </a:extLst>
          </p:cNvPr>
          <p:cNvPicPr>
            <a:picLocks noChangeAspect="1"/>
          </p:cNvPicPr>
          <p:nvPr/>
        </p:nvPicPr>
        <p:blipFill rotWithShape="1">
          <a:blip r:embed="rId4"/>
          <a:srcRect t="8381" r="29952" b="10997"/>
          <a:stretch/>
        </p:blipFill>
        <p:spPr>
          <a:xfrm>
            <a:off x="5545915" y="1420609"/>
            <a:ext cx="6049625" cy="3372455"/>
          </a:xfrm>
          <a:prstGeom prst="rect">
            <a:avLst/>
          </a:prstGeom>
        </p:spPr>
        <p:style>
          <a:lnRef idx="2">
            <a:schemeClr val="dk1"/>
          </a:lnRef>
          <a:fillRef idx="1">
            <a:schemeClr val="lt1"/>
          </a:fillRef>
          <a:effectRef idx="0">
            <a:schemeClr val="dk1"/>
          </a:effectRef>
          <a:fontRef idx="minor">
            <a:schemeClr val="dk1"/>
          </a:fontRef>
        </p:style>
      </p:pic>
      <p:pic>
        <p:nvPicPr>
          <p:cNvPr id="9" name="Picture 8">
            <a:extLst>
              <a:ext uri="{FF2B5EF4-FFF2-40B4-BE49-F238E27FC236}">
                <a16:creationId xmlns:a16="http://schemas.microsoft.com/office/drawing/2014/main" id="{6756E161-56DE-48E7-AD4D-F5091AA4C287}"/>
              </a:ext>
            </a:extLst>
          </p:cNvPr>
          <p:cNvPicPr>
            <a:picLocks noChangeAspect="1"/>
          </p:cNvPicPr>
          <p:nvPr/>
        </p:nvPicPr>
        <p:blipFill rotWithShape="1">
          <a:blip r:embed="rId5"/>
          <a:srcRect r="21122"/>
          <a:stretch/>
        </p:blipFill>
        <p:spPr>
          <a:xfrm>
            <a:off x="424871" y="3719139"/>
            <a:ext cx="4915441" cy="2847692"/>
          </a:xfrm>
          <a:prstGeom prst="rect">
            <a:avLst/>
          </a:prstGeom>
        </p:spPr>
        <p:style>
          <a:lnRef idx="2">
            <a:schemeClr val="dk1"/>
          </a:lnRef>
          <a:fillRef idx="1">
            <a:schemeClr val="lt1"/>
          </a:fillRef>
          <a:effectRef idx="0">
            <a:schemeClr val="dk1"/>
          </a:effectRef>
          <a:fontRef idx="minor">
            <a:schemeClr val="dk1"/>
          </a:fontRef>
        </p:style>
      </p:pic>
      <p:sp>
        <p:nvSpPr>
          <p:cNvPr id="3" name="Arrow: Right 2">
            <a:extLst>
              <a:ext uri="{FF2B5EF4-FFF2-40B4-BE49-F238E27FC236}">
                <a16:creationId xmlns:a16="http://schemas.microsoft.com/office/drawing/2014/main" id="{F6BF3F09-91F0-4EBD-B3AF-3113B4311C73}"/>
              </a:ext>
            </a:extLst>
          </p:cNvPr>
          <p:cNvSpPr/>
          <p:nvPr/>
        </p:nvSpPr>
        <p:spPr>
          <a:xfrm>
            <a:off x="4456057" y="2225458"/>
            <a:ext cx="884255"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5697374-FCE0-4988-86EB-BBAFE5698772}"/>
              </a:ext>
            </a:extLst>
          </p:cNvPr>
          <p:cNvSpPr txBox="1"/>
          <p:nvPr/>
        </p:nvSpPr>
        <p:spPr>
          <a:xfrm>
            <a:off x="5545915" y="5142985"/>
            <a:ext cx="4743597" cy="923330"/>
          </a:xfrm>
          <a:prstGeom prst="rect">
            <a:avLst/>
          </a:prstGeom>
          <a:noFill/>
        </p:spPr>
        <p:txBody>
          <a:bodyPr wrap="square" rtlCol="0">
            <a:spAutoFit/>
          </a:bodyPr>
          <a:lstStyle/>
          <a:p>
            <a:r>
              <a:rPr lang="en-US" dirty="0"/>
              <a:t>After adding the code just activate the service.</a:t>
            </a:r>
          </a:p>
          <a:p>
            <a:r>
              <a:rPr lang="en-US" dirty="0">
                <a:solidFill>
                  <a:schemeClr val="accent6"/>
                </a:solidFill>
              </a:rPr>
              <a:t>Code for PRODUCTSET_GET_ENTITYSET:</a:t>
            </a:r>
          </a:p>
          <a:p>
            <a:r>
              <a:rPr lang="en-US" dirty="0">
                <a:hlinkClick r:id="rId6"/>
              </a:rPr>
              <a:t>GetEntitySet</a:t>
            </a:r>
            <a:endParaRPr lang="en-US" dirty="0"/>
          </a:p>
        </p:txBody>
      </p:sp>
    </p:spTree>
    <p:extLst>
      <p:ext uri="{BB962C8B-B14F-4D97-AF65-F5344CB8AC3E}">
        <p14:creationId xmlns:p14="http://schemas.microsoft.com/office/powerpoint/2010/main" val="169520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0198571"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solidFill>
                  <a:prstClr val="black"/>
                </a:solidFill>
                <a:latin typeface="Cooper Black" panose="0208090404030B020404" pitchFamily="18" charset="0"/>
                <a:ea typeface="+mn-ea"/>
                <a:cs typeface="+mn-cs"/>
              </a:rPr>
              <a:t>Test the Get Entity Set in Browser</a:t>
            </a:r>
            <a:endPar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923330"/>
          </a:xfrm>
          <a:prstGeom prst="rect">
            <a:avLst/>
          </a:prstGeom>
          <a:noFill/>
        </p:spPr>
        <p:txBody>
          <a:bodyPr wrap="square" rtlCol="0">
            <a:spAutoFit/>
          </a:bodyPr>
          <a:lstStyle/>
          <a:p>
            <a:pPr marL="285750" indent="-285750">
              <a:buFont typeface="Wingdings" panose="05000000000000000000" pitchFamily="2" charset="2"/>
              <a:buChar cha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enter the Tcode - </a:t>
            </a:r>
            <a:r>
              <a:rPr kumimoji="0" lang="en-US" sz="1800" b="0" i="0" u="none" strike="noStrike" kern="1200" cap="none" spc="0" normalizeH="0" baseline="0" noProof="0" dirty="0">
                <a:ln>
                  <a:noFill/>
                </a:ln>
                <a:solidFill>
                  <a:schemeClr val="accent6"/>
                </a:solidFill>
                <a:effectLst/>
                <a:uLnTx/>
                <a:uFillTx/>
                <a:latin typeface="Calibri" panose="020F0502020204030204"/>
                <a:ea typeface="+mn-ea"/>
                <a:cs typeface="+mn-cs"/>
              </a:rPr>
              <a:t>/</a:t>
            </a:r>
            <a:r>
              <a:rPr lang="en-US" dirty="0">
                <a:solidFill>
                  <a:schemeClr val="accent6"/>
                </a:solidFill>
                <a:latin typeface="Calibri" panose="020F0502020204030204"/>
              </a:rPr>
              <a:t>n/iwfnd/maint_service </a:t>
            </a:r>
            <a:r>
              <a:rPr lang="en-US" dirty="0">
                <a:solidFill>
                  <a:prstClr val="black"/>
                </a:solidFill>
                <a:latin typeface="Calibri" panose="020F0502020204030204"/>
              </a:rPr>
              <a:t>and, there search our service using the filter option.</a:t>
            </a:r>
          </a:p>
          <a:p>
            <a:pPr marL="285750" indent="-285750">
              <a:buFont typeface="Wingdings" panose="05000000000000000000" pitchFamily="2" charset="2"/>
              <a:buChar char="§"/>
            </a:pPr>
            <a:r>
              <a:rPr lang="en-US" dirty="0">
                <a:solidFill>
                  <a:prstClr val="black"/>
                </a:solidFill>
                <a:latin typeface="Calibri" panose="020F0502020204030204"/>
              </a:rPr>
              <a:t>Now select the service and press the Call Browser button to open it in the Browser window.</a:t>
            </a:r>
          </a:p>
          <a:p>
            <a:pPr marL="285750" indent="-285750">
              <a:buFont typeface="Wingdings" panose="05000000000000000000" pitchFamily="2" charset="2"/>
              <a:buChar char="§"/>
            </a:pPr>
            <a:r>
              <a:rPr lang="en-US" dirty="0">
                <a:solidFill>
                  <a:prstClr val="black"/>
                </a:solidFill>
                <a:latin typeface="Calibri" panose="020F0502020204030204"/>
              </a:rPr>
              <a:t>Just add </a:t>
            </a:r>
            <a:r>
              <a:rPr lang="en-US" dirty="0">
                <a:solidFill>
                  <a:schemeClr val="accent6"/>
                </a:solidFill>
                <a:latin typeface="Calibri" panose="020F0502020204030204"/>
              </a:rPr>
              <a:t>/ProductSet </a:t>
            </a:r>
            <a:r>
              <a:rPr lang="en-US" dirty="0">
                <a:solidFill>
                  <a:prstClr val="black"/>
                </a:solidFill>
                <a:latin typeface="Calibri" panose="020F0502020204030204"/>
              </a:rPr>
              <a:t>at the end of the service to call the get product get entity set method</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D8DB59B-601D-49E2-BE5C-50821D9ADB06}"/>
              </a:ext>
            </a:extLst>
          </p:cNvPr>
          <p:cNvPicPr>
            <a:picLocks noChangeAspect="1"/>
          </p:cNvPicPr>
          <p:nvPr/>
        </p:nvPicPr>
        <p:blipFill rotWithShape="1">
          <a:blip r:embed="rId3"/>
          <a:srcRect r="20448" b="11175"/>
          <a:stretch/>
        </p:blipFill>
        <p:spPr>
          <a:xfrm>
            <a:off x="398163" y="1742882"/>
            <a:ext cx="2757019" cy="2194185"/>
          </a:xfrm>
          <a:prstGeom prst="rect">
            <a:avLst/>
          </a:prstGeom>
        </p:spPr>
      </p:pic>
      <p:pic>
        <p:nvPicPr>
          <p:cNvPr id="7" name="Picture 6">
            <a:extLst>
              <a:ext uri="{FF2B5EF4-FFF2-40B4-BE49-F238E27FC236}">
                <a16:creationId xmlns:a16="http://schemas.microsoft.com/office/drawing/2014/main" id="{05DAEDCF-B7E7-48FF-A927-8411DBD33713}"/>
              </a:ext>
            </a:extLst>
          </p:cNvPr>
          <p:cNvPicPr>
            <a:picLocks noChangeAspect="1"/>
          </p:cNvPicPr>
          <p:nvPr/>
        </p:nvPicPr>
        <p:blipFill rotWithShape="1">
          <a:blip r:embed="rId4"/>
          <a:srcRect r="16159" b="14573"/>
          <a:stretch/>
        </p:blipFill>
        <p:spPr>
          <a:xfrm>
            <a:off x="398163" y="4353434"/>
            <a:ext cx="2757019" cy="1959945"/>
          </a:xfrm>
          <a:prstGeom prst="rect">
            <a:avLst/>
          </a:prstGeom>
        </p:spPr>
      </p:pic>
      <p:sp>
        <p:nvSpPr>
          <p:cNvPr id="3" name="Arrow: Right 2">
            <a:extLst>
              <a:ext uri="{FF2B5EF4-FFF2-40B4-BE49-F238E27FC236}">
                <a16:creationId xmlns:a16="http://schemas.microsoft.com/office/drawing/2014/main" id="{FE631925-8080-4B1E-A83B-E72BEAD68591}"/>
              </a:ext>
            </a:extLst>
          </p:cNvPr>
          <p:cNvSpPr/>
          <p:nvPr/>
        </p:nvSpPr>
        <p:spPr>
          <a:xfrm>
            <a:off x="3903909" y="3960585"/>
            <a:ext cx="126609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Down 3">
            <a:extLst>
              <a:ext uri="{FF2B5EF4-FFF2-40B4-BE49-F238E27FC236}">
                <a16:creationId xmlns:a16="http://schemas.microsoft.com/office/drawing/2014/main" id="{9E8551E7-BB62-44B1-94F9-37BBF62B0F7E}"/>
              </a:ext>
            </a:extLst>
          </p:cNvPr>
          <p:cNvSpPr/>
          <p:nvPr/>
        </p:nvSpPr>
        <p:spPr>
          <a:xfrm>
            <a:off x="1768510" y="3937068"/>
            <a:ext cx="301450" cy="4163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10C3C7F-2120-4EC8-AA40-333AB86C940D}"/>
              </a:ext>
            </a:extLst>
          </p:cNvPr>
          <p:cNvPicPr>
            <a:picLocks noChangeAspect="1"/>
          </p:cNvPicPr>
          <p:nvPr/>
        </p:nvPicPr>
        <p:blipFill>
          <a:blip r:embed="rId5"/>
          <a:stretch>
            <a:fillRect/>
          </a:stretch>
        </p:blipFill>
        <p:spPr>
          <a:xfrm>
            <a:off x="5384021" y="1745042"/>
            <a:ext cx="5996657" cy="4518533"/>
          </a:xfrm>
          <a:prstGeom prst="rect">
            <a:avLst/>
          </a:prstGeom>
        </p:spPr>
        <p:style>
          <a:lnRef idx="2">
            <a:schemeClr val="dk1"/>
          </a:lnRef>
          <a:fillRef idx="1">
            <a:schemeClr val="lt1"/>
          </a:fillRef>
          <a:effectRef idx="0">
            <a:schemeClr val="dk1"/>
          </a:effectRef>
          <a:fontRef idx="minor">
            <a:schemeClr val="dk1"/>
          </a:fontRef>
        </p:style>
      </p:pic>
      <p:sp>
        <p:nvSpPr>
          <p:cNvPr id="12" name="TextBox 11">
            <a:extLst>
              <a:ext uri="{FF2B5EF4-FFF2-40B4-BE49-F238E27FC236}">
                <a16:creationId xmlns:a16="http://schemas.microsoft.com/office/drawing/2014/main" id="{E97982D5-3B11-481E-952B-87BECBFF4341}"/>
              </a:ext>
            </a:extLst>
          </p:cNvPr>
          <p:cNvSpPr txBox="1"/>
          <p:nvPr/>
        </p:nvSpPr>
        <p:spPr>
          <a:xfrm>
            <a:off x="6933362" y="6313379"/>
            <a:ext cx="3617407" cy="369332"/>
          </a:xfrm>
          <a:prstGeom prst="rect">
            <a:avLst/>
          </a:prstGeom>
          <a:noFill/>
        </p:spPr>
        <p:txBody>
          <a:bodyPr wrap="square" rtlCol="0">
            <a:spAutoFit/>
          </a:bodyPr>
          <a:lstStyle/>
          <a:p>
            <a:r>
              <a:rPr lang="en-US" dirty="0"/>
              <a:t>Calling the ProductSet in browser</a:t>
            </a:r>
          </a:p>
        </p:txBody>
      </p:sp>
    </p:spTree>
    <p:extLst>
      <p:ext uri="{BB962C8B-B14F-4D97-AF65-F5344CB8AC3E}">
        <p14:creationId xmlns:p14="http://schemas.microsoft.com/office/powerpoint/2010/main" val="2884058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rPr>
              <a:t>Go to DPC Extension class of our service and redefine the method  PRODUCTSET_GET_ENTITY and put the below provided code. </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itle 3">
            <a:extLst>
              <a:ext uri="{FF2B5EF4-FFF2-40B4-BE49-F238E27FC236}">
                <a16:creationId xmlns:a16="http://schemas.microsoft.com/office/drawing/2014/main" id="{5841C0E6-B7A1-447B-B516-FCCE8EB87DB6}"/>
              </a:ext>
            </a:extLst>
          </p:cNvPr>
          <p:cNvSpPr txBox="1">
            <a:spLocks/>
          </p:cNvSpPr>
          <p:nvPr/>
        </p:nvSpPr>
        <p:spPr>
          <a:xfrm>
            <a:off x="261763" y="188641"/>
            <a:ext cx="10198571"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Building Get Entity Method</a:t>
            </a:r>
          </a:p>
        </p:txBody>
      </p:sp>
      <p:pic>
        <p:nvPicPr>
          <p:cNvPr id="7" name="Picture 6">
            <a:extLst>
              <a:ext uri="{FF2B5EF4-FFF2-40B4-BE49-F238E27FC236}">
                <a16:creationId xmlns:a16="http://schemas.microsoft.com/office/drawing/2014/main" id="{DE3CD4BA-9E68-468B-9A3E-969C71127C9C}"/>
              </a:ext>
            </a:extLst>
          </p:cNvPr>
          <p:cNvPicPr>
            <a:picLocks noChangeAspect="1"/>
          </p:cNvPicPr>
          <p:nvPr/>
        </p:nvPicPr>
        <p:blipFill rotWithShape="1">
          <a:blip r:embed="rId3"/>
          <a:srcRect t="10355" r="25109" b="8792"/>
          <a:stretch/>
        </p:blipFill>
        <p:spPr>
          <a:xfrm>
            <a:off x="261763" y="1874686"/>
            <a:ext cx="4938973" cy="3774230"/>
          </a:xfrm>
          <a:prstGeom prst="rect">
            <a:avLst/>
          </a:prstGeom>
        </p:spPr>
      </p:pic>
      <p:pic>
        <p:nvPicPr>
          <p:cNvPr id="9" name="Picture 8">
            <a:hlinkClick r:id="rId4"/>
            <a:extLst>
              <a:ext uri="{FF2B5EF4-FFF2-40B4-BE49-F238E27FC236}">
                <a16:creationId xmlns:a16="http://schemas.microsoft.com/office/drawing/2014/main" id="{C4E513FD-DAB7-45B8-A5D6-D960641D03A5}"/>
              </a:ext>
            </a:extLst>
          </p:cNvPr>
          <p:cNvPicPr>
            <a:picLocks noChangeAspect="1"/>
          </p:cNvPicPr>
          <p:nvPr/>
        </p:nvPicPr>
        <p:blipFill>
          <a:blip r:embed="rId5"/>
          <a:stretch>
            <a:fillRect/>
          </a:stretch>
        </p:blipFill>
        <p:spPr>
          <a:xfrm>
            <a:off x="6734364" y="1874686"/>
            <a:ext cx="5363014" cy="3773451"/>
          </a:xfrm>
          <a:prstGeom prst="rect">
            <a:avLst/>
          </a:prstGeom>
        </p:spPr>
      </p:pic>
      <p:sp>
        <p:nvSpPr>
          <p:cNvPr id="3" name="Arrow: Right 2">
            <a:extLst>
              <a:ext uri="{FF2B5EF4-FFF2-40B4-BE49-F238E27FC236}">
                <a16:creationId xmlns:a16="http://schemas.microsoft.com/office/drawing/2014/main" id="{0610EDB4-92BC-4836-9A28-84F79F27DFB2}"/>
              </a:ext>
            </a:extLst>
          </p:cNvPr>
          <p:cNvSpPr/>
          <p:nvPr/>
        </p:nvSpPr>
        <p:spPr>
          <a:xfrm>
            <a:off x="5548364" y="3690981"/>
            <a:ext cx="773723"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8B85F4D-EEBC-41D9-9301-7B39CF8ACDCA}"/>
              </a:ext>
            </a:extLst>
          </p:cNvPr>
          <p:cNvSpPr txBox="1"/>
          <p:nvPr/>
        </p:nvSpPr>
        <p:spPr>
          <a:xfrm>
            <a:off x="6734464" y="5755744"/>
            <a:ext cx="4809523" cy="646331"/>
          </a:xfrm>
          <a:prstGeom prst="rect">
            <a:avLst/>
          </a:prstGeom>
          <a:noFill/>
        </p:spPr>
        <p:txBody>
          <a:bodyPr wrap="square" rtlCol="0">
            <a:spAutoFit/>
          </a:bodyPr>
          <a:lstStyle/>
          <a:p>
            <a:r>
              <a:rPr lang="en-US" dirty="0">
                <a:solidFill>
                  <a:schemeClr val="accent6"/>
                </a:solidFill>
              </a:rPr>
              <a:t>Code for PRODUCTSET_GET_ENTITY:</a:t>
            </a:r>
          </a:p>
          <a:p>
            <a:r>
              <a:rPr lang="en-US" dirty="0" err="1">
                <a:hlinkClick r:id="rId4"/>
              </a:rPr>
              <a:t>GetEntity</a:t>
            </a:r>
            <a:endParaRPr lang="en-US" dirty="0"/>
          </a:p>
        </p:txBody>
      </p:sp>
    </p:spTree>
    <p:extLst>
      <p:ext uri="{BB962C8B-B14F-4D97-AF65-F5344CB8AC3E}">
        <p14:creationId xmlns:p14="http://schemas.microsoft.com/office/powerpoint/2010/main" val="1869956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Postman</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8680"/>
          </a:xfrm>
          <a:prstGeom prst="rect">
            <a:avLst/>
          </a:prstGeom>
          <a:noFill/>
        </p:spPr>
        <p:txBody>
          <a:bodyPr wrap="square" rtlCol="0">
            <a:spAutoFit/>
          </a:bodyPr>
          <a:lstStyle/>
          <a:p>
            <a:pPr marL="285750" indent="-285750" algn="just" defTabSz="914126">
              <a:buFontTx/>
              <a:buChar char="-"/>
            </a:pPr>
            <a:r>
              <a:rPr lang="en-US" sz="1799" dirty="0">
                <a:solidFill>
                  <a:prstClr val="black"/>
                </a:solidFill>
                <a:latin typeface="Calibri"/>
              </a:rPr>
              <a:t>Postman is a free tool which can be used to test any kind of REST/OData Services outside of the system. This allows us to consume the data as if an external consumer would really do.</a:t>
            </a:r>
          </a:p>
          <a:p>
            <a:pPr marL="285750" indent="-285750" algn="just" defTabSz="914126">
              <a:buFontTx/>
              <a:buChar char="-"/>
            </a:pPr>
            <a:r>
              <a:rPr kumimoji="0" lang="en-US" sz="180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Postman is an API platform for building and using APIs. Postman simplifies each step of the API lifecycle and streamlines collaboration so you can create better APIs—faster.</a:t>
            </a:r>
            <a:endParaRPr kumimoji="0" lang="en-US" sz="1799" i="0" u="none" strike="noStrike" kern="1200" cap="none" spc="0" normalizeH="0" baseline="0" noProof="0" dirty="0">
              <a:ln>
                <a:noFill/>
              </a:ln>
              <a:solidFill>
                <a:prstClr val="black"/>
              </a:solidFill>
              <a:effectLst/>
              <a:uLnTx/>
              <a:uFillTx/>
              <a:latin typeface="Calibri"/>
              <a:ea typeface="+mn-ea"/>
              <a:cs typeface="Calibri" panose="020F0502020204030204" pitchFamily="34" charset="0"/>
            </a:endParaRPr>
          </a:p>
          <a:p>
            <a:pPr marL="285750" indent="-285750" algn="just" defTabSz="914126">
              <a:buFontTx/>
              <a:buChar char="-"/>
            </a:pPr>
            <a:r>
              <a:rPr lang="en-US" sz="1799" dirty="0">
                <a:solidFill>
                  <a:prstClr val="black"/>
                </a:solidFill>
                <a:latin typeface="Calibri"/>
              </a:rPr>
              <a:t>As an ABAP developer, you can develop postman collection and deliver it to Fiori Developers for consumption to showcase, what our service is capable of.</a:t>
            </a:r>
          </a:p>
          <a:p>
            <a:pPr marL="285750" indent="-285750" algn="just" defTabSz="914126">
              <a:buFontTx/>
              <a:buChar char="-"/>
            </a:pPr>
            <a:r>
              <a:rPr lang="en-US" dirty="0">
                <a:solidFill>
                  <a:srgbClr val="202124"/>
                </a:solidFill>
              </a:rPr>
              <a:t>Postman can run GET, POST, PUT, PATCH, MERGE, DELETE, and various other request methods as well, and has utilities to help with developing APIs. </a:t>
            </a:r>
            <a:r>
              <a:rPr lang="en-US" b="1" dirty="0">
                <a:solidFill>
                  <a:srgbClr val="202124"/>
                </a:solidFill>
              </a:rPr>
              <a:t>Free and paid versions</a:t>
            </a:r>
            <a:r>
              <a:rPr lang="en-US" dirty="0">
                <a:solidFill>
                  <a:srgbClr val="202124"/>
                </a:solidFill>
              </a:rPr>
              <a:t> are available for Mac, Windows, Linux, and as a Chrome app.</a:t>
            </a:r>
          </a:p>
          <a:p>
            <a:pPr marL="285750" indent="-285750" algn="just" defTabSz="914126">
              <a:buFontTx/>
              <a:buChar char="-"/>
            </a:pPr>
            <a:r>
              <a:rPr lang="en-US" dirty="0">
                <a:solidFill>
                  <a:srgbClr val="202124"/>
                </a:solidFill>
              </a:rPr>
              <a:t>You can Download the postman tool from the link give below: </a:t>
            </a:r>
            <a:r>
              <a:rPr lang="en-US" dirty="0">
                <a:hlinkClick r:id="rId3"/>
              </a:rPr>
              <a:t>https://www.postman.com/downloads/</a:t>
            </a:r>
            <a:endParaRPr lang="en-US" dirty="0"/>
          </a:p>
          <a:p>
            <a:pPr lvl="1" algn="just" defTabSz="914126"/>
            <a:endParaRPr lang="en-US" sz="1799" dirty="0">
              <a:solidFill>
                <a:prstClr val="black"/>
              </a:solidFill>
              <a:latin typeface="Calibri"/>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7" name="Picture 2">
            <a:extLst>
              <a:ext uri="{FF2B5EF4-FFF2-40B4-BE49-F238E27FC236}">
                <a16:creationId xmlns:a16="http://schemas.microsoft.com/office/drawing/2014/main" id="{0E200E29-E2BB-4F85-8893-32CE3DF7F9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0305" y="4290188"/>
            <a:ext cx="1788722" cy="1788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36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Postman App Layout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The below screen shot shows a basic layout of a request in Postman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4E3E7E9B-D63E-4F2A-B36D-DB78953A8BD4}"/>
              </a:ext>
            </a:extLst>
          </p:cNvPr>
          <p:cNvPicPr>
            <a:picLocks noChangeAspect="1"/>
          </p:cNvPicPr>
          <p:nvPr/>
        </p:nvPicPr>
        <p:blipFill>
          <a:blip r:embed="rId3"/>
          <a:stretch>
            <a:fillRect/>
          </a:stretch>
        </p:blipFill>
        <p:spPr>
          <a:xfrm>
            <a:off x="964507" y="1325025"/>
            <a:ext cx="9756155" cy="5388043"/>
          </a:xfrm>
          <a:prstGeom prst="rect">
            <a:avLst/>
          </a:prstGeom>
        </p:spPr>
      </p:pic>
    </p:spTree>
    <p:extLst>
      <p:ext uri="{BB962C8B-B14F-4D97-AF65-F5344CB8AC3E}">
        <p14:creationId xmlns:p14="http://schemas.microsoft.com/office/powerpoint/2010/main" val="914040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Setting Basic Auth in Postman </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3894600" cy="369332"/>
          </a:xfrm>
          <a:prstGeom prst="rect">
            <a:avLst/>
          </a:prstGeom>
          <a:noFill/>
        </p:spPr>
        <p:txBody>
          <a:bodyPr wrap="square" rtlCol="0">
            <a:spAutoFit/>
          </a:bodyPr>
          <a:lstStyle/>
          <a:p>
            <a:r>
              <a:rPr lang="en-US" dirty="0"/>
              <a:t>Step 1: Go to the </a:t>
            </a:r>
            <a:r>
              <a:rPr lang="en-US" b="1" dirty="0">
                <a:solidFill>
                  <a:schemeClr val="accent6"/>
                </a:solidFill>
              </a:rPr>
              <a:t>Authorization</a:t>
            </a:r>
            <a:r>
              <a:rPr lang="en-US" dirty="0"/>
              <a:t> section.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458708D5-BE86-4AE5-91E8-794BC682F448}"/>
              </a:ext>
            </a:extLst>
          </p:cNvPr>
          <p:cNvPicPr>
            <a:picLocks noChangeAspect="1"/>
          </p:cNvPicPr>
          <p:nvPr/>
        </p:nvPicPr>
        <p:blipFill>
          <a:blip r:embed="rId3"/>
          <a:stretch>
            <a:fillRect/>
          </a:stretch>
        </p:blipFill>
        <p:spPr>
          <a:xfrm>
            <a:off x="261764" y="1239457"/>
            <a:ext cx="2743259" cy="998828"/>
          </a:xfrm>
          <a:prstGeom prst="rect">
            <a:avLst/>
          </a:prstGeom>
        </p:spPr>
      </p:pic>
      <p:sp>
        <p:nvSpPr>
          <p:cNvPr id="9" name="TextBox 8">
            <a:extLst>
              <a:ext uri="{FF2B5EF4-FFF2-40B4-BE49-F238E27FC236}">
                <a16:creationId xmlns:a16="http://schemas.microsoft.com/office/drawing/2014/main" id="{43911D6D-CE2F-4166-882A-32AF4A1C2A0E}"/>
              </a:ext>
            </a:extLst>
          </p:cNvPr>
          <p:cNvSpPr txBox="1"/>
          <p:nvPr/>
        </p:nvSpPr>
        <p:spPr>
          <a:xfrm>
            <a:off x="261764" y="2417390"/>
            <a:ext cx="3312709" cy="369332"/>
          </a:xfrm>
          <a:prstGeom prst="rect">
            <a:avLst/>
          </a:prstGeom>
          <a:noFill/>
        </p:spPr>
        <p:txBody>
          <a:bodyPr wrap="square" rtlCol="0">
            <a:spAutoFit/>
          </a:bodyPr>
          <a:lstStyle/>
          <a:p>
            <a:r>
              <a:rPr lang="en-US" dirty="0"/>
              <a:t>Step 2: Select </a:t>
            </a:r>
            <a:r>
              <a:rPr lang="en-US" b="1" dirty="0">
                <a:solidFill>
                  <a:schemeClr val="accent6"/>
                </a:solidFill>
              </a:rPr>
              <a:t>Basic Auth</a:t>
            </a:r>
            <a:r>
              <a:rPr lang="en-US" dirty="0">
                <a:solidFill>
                  <a:schemeClr val="accent6"/>
                </a:solidFill>
              </a:rPr>
              <a:t> </a:t>
            </a:r>
            <a:r>
              <a:rPr lang="en-US" dirty="0"/>
              <a:t>as Type</a:t>
            </a:r>
          </a:p>
        </p:txBody>
      </p:sp>
      <p:pic>
        <p:nvPicPr>
          <p:cNvPr id="6" name="Picture 5">
            <a:extLst>
              <a:ext uri="{FF2B5EF4-FFF2-40B4-BE49-F238E27FC236}">
                <a16:creationId xmlns:a16="http://schemas.microsoft.com/office/drawing/2014/main" id="{2FD1830C-F4F5-4322-9EBF-D6A2BA01E746}"/>
              </a:ext>
            </a:extLst>
          </p:cNvPr>
          <p:cNvPicPr>
            <a:picLocks noChangeAspect="1"/>
          </p:cNvPicPr>
          <p:nvPr/>
        </p:nvPicPr>
        <p:blipFill>
          <a:blip r:embed="rId4"/>
          <a:stretch>
            <a:fillRect/>
          </a:stretch>
        </p:blipFill>
        <p:spPr>
          <a:xfrm>
            <a:off x="261764" y="3000252"/>
            <a:ext cx="3059789" cy="3425557"/>
          </a:xfrm>
          <a:prstGeom prst="rect">
            <a:avLst/>
          </a:prstGeom>
        </p:spPr>
      </p:pic>
      <p:cxnSp>
        <p:nvCxnSpPr>
          <p:cNvPr id="10" name="Straight Connector 9">
            <a:extLst>
              <a:ext uri="{FF2B5EF4-FFF2-40B4-BE49-F238E27FC236}">
                <a16:creationId xmlns:a16="http://schemas.microsoft.com/office/drawing/2014/main" id="{6B01DC08-F16D-4597-B5A5-8F92504820D0}"/>
              </a:ext>
            </a:extLst>
          </p:cNvPr>
          <p:cNvCxnSpPr>
            <a:cxnSpLocks/>
          </p:cNvCxnSpPr>
          <p:nvPr/>
        </p:nvCxnSpPr>
        <p:spPr>
          <a:xfrm>
            <a:off x="4592782" y="696191"/>
            <a:ext cx="0" cy="5943148"/>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4D403FA-1846-44E2-97A2-21032BD32B10}"/>
              </a:ext>
            </a:extLst>
          </p:cNvPr>
          <p:cNvSpPr txBox="1"/>
          <p:nvPr/>
        </p:nvSpPr>
        <p:spPr>
          <a:xfrm>
            <a:off x="4592782" y="779090"/>
            <a:ext cx="6787896" cy="369332"/>
          </a:xfrm>
          <a:prstGeom prst="rect">
            <a:avLst/>
          </a:prstGeom>
          <a:noFill/>
        </p:spPr>
        <p:txBody>
          <a:bodyPr wrap="square" rtlCol="0">
            <a:spAutoFit/>
          </a:bodyPr>
          <a:lstStyle/>
          <a:p>
            <a:r>
              <a:rPr lang="en-US" dirty="0"/>
              <a:t>Step 3: Set the Username and Password.</a:t>
            </a:r>
          </a:p>
        </p:txBody>
      </p:sp>
      <p:pic>
        <p:nvPicPr>
          <p:cNvPr id="14" name="Picture 13">
            <a:extLst>
              <a:ext uri="{FF2B5EF4-FFF2-40B4-BE49-F238E27FC236}">
                <a16:creationId xmlns:a16="http://schemas.microsoft.com/office/drawing/2014/main" id="{CE2BC205-A82A-47F4-AEE2-2C9E18321EB1}"/>
              </a:ext>
            </a:extLst>
          </p:cNvPr>
          <p:cNvPicPr>
            <a:picLocks noChangeAspect="1"/>
          </p:cNvPicPr>
          <p:nvPr/>
        </p:nvPicPr>
        <p:blipFill>
          <a:blip r:embed="rId5"/>
          <a:stretch>
            <a:fillRect/>
          </a:stretch>
        </p:blipFill>
        <p:spPr>
          <a:xfrm>
            <a:off x="4845702" y="1231321"/>
            <a:ext cx="6119578" cy="1498242"/>
          </a:xfrm>
          <a:prstGeom prst="rect">
            <a:avLst/>
          </a:prstGeom>
        </p:spPr>
      </p:pic>
      <p:sp>
        <p:nvSpPr>
          <p:cNvPr id="17" name="TextBox 16">
            <a:extLst>
              <a:ext uri="{FF2B5EF4-FFF2-40B4-BE49-F238E27FC236}">
                <a16:creationId xmlns:a16="http://schemas.microsoft.com/office/drawing/2014/main" id="{343EA730-8E4F-4CBD-BB12-DA7D7C60A8AB}"/>
              </a:ext>
            </a:extLst>
          </p:cNvPr>
          <p:cNvSpPr txBox="1"/>
          <p:nvPr/>
        </p:nvSpPr>
        <p:spPr>
          <a:xfrm>
            <a:off x="4641688" y="2968538"/>
            <a:ext cx="6787896" cy="369332"/>
          </a:xfrm>
          <a:prstGeom prst="rect">
            <a:avLst/>
          </a:prstGeom>
          <a:noFill/>
        </p:spPr>
        <p:txBody>
          <a:bodyPr wrap="square" rtlCol="0">
            <a:spAutoFit/>
          </a:bodyPr>
          <a:lstStyle/>
          <a:p>
            <a:r>
              <a:rPr lang="en-US" dirty="0"/>
              <a:t>Step 4: Save.</a:t>
            </a:r>
          </a:p>
        </p:txBody>
      </p:sp>
      <p:pic>
        <p:nvPicPr>
          <p:cNvPr id="16" name="Picture 15">
            <a:extLst>
              <a:ext uri="{FF2B5EF4-FFF2-40B4-BE49-F238E27FC236}">
                <a16:creationId xmlns:a16="http://schemas.microsoft.com/office/drawing/2014/main" id="{465ED1EE-60C4-4224-B45B-42D45F530057}"/>
              </a:ext>
            </a:extLst>
          </p:cNvPr>
          <p:cNvPicPr>
            <a:picLocks noChangeAspect="1"/>
          </p:cNvPicPr>
          <p:nvPr/>
        </p:nvPicPr>
        <p:blipFill>
          <a:blip r:embed="rId6"/>
          <a:stretch>
            <a:fillRect/>
          </a:stretch>
        </p:blipFill>
        <p:spPr>
          <a:xfrm>
            <a:off x="4845702" y="3520131"/>
            <a:ext cx="6449028" cy="2456542"/>
          </a:xfrm>
          <a:prstGeom prst="rect">
            <a:avLst/>
          </a:prstGeom>
        </p:spPr>
      </p:pic>
    </p:spTree>
    <p:extLst>
      <p:ext uri="{BB962C8B-B14F-4D97-AF65-F5344CB8AC3E}">
        <p14:creationId xmlns:p14="http://schemas.microsoft.com/office/powerpoint/2010/main" val="2181129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0118755"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Building </a:t>
            </a:r>
            <a:r>
              <a:rPr lang="en-IN" sz="3600" dirty="0">
                <a:solidFill>
                  <a:prstClr val="black"/>
                </a:solidFill>
                <a:latin typeface="Cooper Black" panose="0208090404030B020404" pitchFamily="18" charset="0"/>
                <a:ea typeface="+mn-ea"/>
                <a:cs typeface="+mn-cs"/>
              </a:rPr>
              <a:t>Create</a:t>
            </a:r>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Entity</a:t>
            </a:r>
            <a:r>
              <a:rPr lang="en-IN" sz="3600" dirty="0">
                <a:solidFill>
                  <a:prstClr val="black"/>
                </a:solidFill>
                <a:latin typeface="Cooper Black" panose="0208090404030B020404" pitchFamily="18" charset="0"/>
                <a:ea typeface="+mn-ea"/>
                <a:cs typeface="+mn-cs"/>
              </a:rPr>
              <a:t>(POST)</a:t>
            </a:r>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 Method</a:t>
            </a: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pPr algn="just"/>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rPr>
              <a:t>To implement the Create operation in our odata service, go to DPC Extension class of over service and redefine the method  PRODUCTSET_CREATE_ENTITY </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4F6FB20-C82E-4F1B-B70B-0C5F36FBF94B}"/>
              </a:ext>
            </a:extLst>
          </p:cNvPr>
          <p:cNvPicPr>
            <a:picLocks noChangeAspect="1"/>
          </p:cNvPicPr>
          <p:nvPr/>
        </p:nvPicPr>
        <p:blipFill rotWithShape="1">
          <a:blip r:embed="rId3"/>
          <a:srcRect t="21867" r="15538" b="5633"/>
          <a:stretch/>
        </p:blipFill>
        <p:spPr>
          <a:xfrm>
            <a:off x="261762" y="1634435"/>
            <a:ext cx="5289827" cy="3948619"/>
          </a:xfrm>
          <a:prstGeom prst="rect">
            <a:avLst/>
          </a:prstGeom>
        </p:spPr>
      </p:pic>
      <p:pic>
        <p:nvPicPr>
          <p:cNvPr id="7" name="Picture 6">
            <a:extLst>
              <a:ext uri="{FF2B5EF4-FFF2-40B4-BE49-F238E27FC236}">
                <a16:creationId xmlns:a16="http://schemas.microsoft.com/office/drawing/2014/main" id="{40DA8942-661F-46ED-BA50-3EC409BCFCD7}"/>
              </a:ext>
            </a:extLst>
          </p:cNvPr>
          <p:cNvPicPr>
            <a:picLocks noChangeAspect="1"/>
          </p:cNvPicPr>
          <p:nvPr/>
        </p:nvPicPr>
        <p:blipFill>
          <a:blip r:embed="rId4"/>
          <a:stretch>
            <a:fillRect/>
          </a:stretch>
        </p:blipFill>
        <p:spPr>
          <a:xfrm>
            <a:off x="6640408" y="1634435"/>
            <a:ext cx="5289827" cy="4027247"/>
          </a:xfrm>
          <a:prstGeom prst="rect">
            <a:avLst/>
          </a:prstGeom>
        </p:spPr>
      </p:pic>
      <p:sp>
        <p:nvSpPr>
          <p:cNvPr id="3" name="Arrow: Right 2">
            <a:extLst>
              <a:ext uri="{FF2B5EF4-FFF2-40B4-BE49-F238E27FC236}">
                <a16:creationId xmlns:a16="http://schemas.microsoft.com/office/drawing/2014/main" id="{3909DDF9-B92D-4B24-AB05-24758CD14CC7}"/>
              </a:ext>
            </a:extLst>
          </p:cNvPr>
          <p:cNvSpPr/>
          <p:nvPr/>
        </p:nvSpPr>
        <p:spPr>
          <a:xfrm>
            <a:off x="5777802" y="3512127"/>
            <a:ext cx="720974" cy="4067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E394AF-30B0-4476-B1B5-3FEF035E3B6E}"/>
              </a:ext>
            </a:extLst>
          </p:cNvPr>
          <p:cNvSpPr txBox="1"/>
          <p:nvPr/>
        </p:nvSpPr>
        <p:spPr>
          <a:xfrm>
            <a:off x="384464" y="6068291"/>
            <a:ext cx="4700002" cy="646331"/>
          </a:xfrm>
          <a:prstGeom prst="rect">
            <a:avLst/>
          </a:prstGeom>
          <a:noFill/>
        </p:spPr>
        <p:txBody>
          <a:bodyPr wrap="square" rtlCol="0">
            <a:spAutoFit/>
          </a:bodyPr>
          <a:lstStyle/>
          <a:p>
            <a:r>
              <a:rPr lang="en-US" dirty="0">
                <a:solidFill>
                  <a:schemeClr val="accent6"/>
                </a:solidFill>
              </a:rPr>
              <a:t>Code for PRODUCTSET_CREATE_ENTITY:</a:t>
            </a:r>
            <a:r>
              <a:rPr lang="en-US" dirty="0"/>
              <a:t> </a:t>
            </a:r>
            <a:r>
              <a:rPr lang="en-US" dirty="0">
                <a:hlinkClick r:id="rId5"/>
              </a:rPr>
              <a:t>CreateProductEntity</a:t>
            </a:r>
            <a:endParaRPr lang="en-US" dirty="0"/>
          </a:p>
        </p:txBody>
      </p:sp>
    </p:spTree>
    <p:extLst>
      <p:ext uri="{BB962C8B-B14F-4D97-AF65-F5344CB8AC3E}">
        <p14:creationId xmlns:p14="http://schemas.microsoft.com/office/powerpoint/2010/main" val="2553090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18914"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Testing Create Method at Sap Gateway client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lang="en-US" b="1" dirty="0">
                <a:solidFill>
                  <a:prstClr val="black"/>
                </a:solidFill>
                <a:latin typeface="Calibri" panose="020F0502020204030204"/>
              </a:rPr>
              <a:t>Step:1</a:t>
            </a:r>
            <a:r>
              <a:rPr lang="en-US" dirty="0">
                <a:solidFill>
                  <a:prstClr val="black"/>
                </a:solidFill>
                <a:latin typeface="Calibri" panose="020F0502020204030204"/>
              </a:rPr>
              <a:t> Go to sap service maintance(tcode- </a:t>
            </a:r>
            <a:r>
              <a:rPr lang="en-US" b="1" dirty="0">
                <a:solidFill>
                  <a:prstClr val="black"/>
                </a:solidFill>
                <a:latin typeface="Calibri" panose="020F0502020204030204"/>
              </a:rPr>
              <a:t>/iwfnd/maint_service</a:t>
            </a:r>
            <a:r>
              <a:rPr lang="en-US" dirty="0">
                <a:solidFill>
                  <a:prstClr val="black"/>
                </a:solidFill>
                <a:latin typeface="Calibri" panose="020F0502020204030204"/>
              </a:rPr>
              <a:t>) and search for the service and then select the service and click on the sap gateway client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C2BF6E93-6467-4D37-8AF4-5B167D994FD6}"/>
              </a:ext>
            </a:extLst>
          </p:cNvPr>
          <p:cNvPicPr>
            <a:picLocks noChangeAspect="1"/>
          </p:cNvPicPr>
          <p:nvPr/>
        </p:nvPicPr>
        <p:blipFill>
          <a:blip r:embed="rId3"/>
          <a:stretch>
            <a:fillRect/>
          </a:stretch>
        </p:blipFill>
        <p:spPr>
          <a:xfrm>
            <a:off x="261763" y="1967130"/>
            <a:ext cx="5150745" cy="3353015"/>
          </a:xfrm>
          <a:prstGeom prst="rect">
            <a:avLst/>
          </a:prstGeom>
        </p:spPr>
      </p:pic>
      <p:pic>
        <p:nvPicPr>
          <p:cNvPr id="7" name="Picture 6">
            <a:extLst>
              <a:ext uri="{FF2B5EF4-FFF2-40B4-BE49-F238E27FC236}">
                <a16:creationId xmlns:a16="http://schemas.microsoft.com/office/drawing/2014/main" id="{A1A99DFA-D60D-4C7D-A426-8D3EEEF31869}"/>
              </a:ext>
            </a:extLst>
          </p:cNvPr>
          <p:cNvPicPr>
            <a:picLocks noChangeAspect="1"/>
          </p:cNvPicPr>
          <p:nvPr/>
        </p:nvPicPr>
        <p:blipFill>
          <a:blip r:embed="rId4"/>
          <a:stretch>
            <a:fillRect/>
          </a:stretch>
        </p:blipFill>
        <p:spPr>
          <a:xfrm>
            <a:off x="6636331" y="1967129"/>
            <a:ext cx="5284677" cy="3353015"/>
          </a:xfrm>
          <a:prstGeom prst="rect">
            <a:avLst/>
          </a:prstGeom>
        </p:spPr>
      </p:pic>
      <p:sp>
        <p:nvSpPr>
          <p:cNvPr id="3" name="Arrow: Right 2">
            <a:extLst>
              <a:ext uri="{FF2B5EF4-FFF2-40B4-BE49-F238E27FC236}">
                <a16:creationId xmlns:a16="http://schemas.microsoft.com/office/drawing/2014/main" id="{C1374CE9-0B53-4F2E-9A2B-634268F8FBDD}"/>
              </a:ext>
            </a:extLst>
          </p:cNvPr>
          <p:cNvSpPr/>
          <p:nvPr/>
        </p:nvSpPr>
        <p:spPr>
          <a:xfrm>
            <a:off x="5551633" y="3371850"/>
            <a:ext cx="945572" cy="342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8444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8196436"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Testing Create Method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lang="en-US" b="1" dirty="0">
                <a:solidFill>
                  <a:prstClr val="black"/>
                </a:solidFill>
                <a:latin typeface="Calibri" panose="020F0502020204030204"/>
              </a:rPr>
              <a:t>Step:2</a:t>
            </a:r>
            <a:r>
              <a:rPr lang="en-US" dirty="0">
                <a:solidFill>
                  <a:prstClr val="black"/>
                </a:solidFill>
                <a:latin typeface="Calibri" panose="020F0502020204030204"/>
              </a:rPr>
              <a:t> Go to sap service maintance(tcode- </a:t>
            </a:r>
            <a:r>
              <a:rPr lang="en-US" b="1" dirty="0">
                <a:solidFill>
                  <a:prstClr val="black"/>
                </a:solidFill>
                <a:latin typeface="Calibri" panose="020F0502020204030204"/>
              </a:rPr>
              <a:t>/iwfnd/maint_service</a:t>
            </a:r>
            <a:r>
              <a:rPr lang="en-US" dirty="0">
                <a:solidFill>
                  <a:prstClr val="black"/>
                </a:solidFill>
                <a:latin typeface="Calibri" panose="020F0502020204030204"/>
              </a:rPr>
              <a:t>) and search for the service and then select the service and click on the sap gateway client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90CCECD6-2B2B-4317-A199-54782F18F657}"/>
              </a:ext>
            </a:extLst>
          </p:cNvPr>
          <p:cNvPicPr>
            <a:picLocks noChangeAspect="1"/>
          </p:cNvPicPr>
          <p:nvPr/>
        </p:nvPicPr>
        <p:blipFill>
          <a:blip r:embed="rId3"/>
          <a:stretch>
            <a:fillRect/>
          </a:stretch>
        </p:blipFill>
        <p:spPr>
          <a:xfrm>
            <a:off x="261764" y="2014293"/>
            <a:ext cx="5632481" cy="4064617"/>
          </a:xfrm>
          <a:prstGeom prst="rect">
            <a:avLst/>
          </a:prstGeom>
        </p:spPr>
      </p:pic>
      <p:pic>
        <p:nvPicPr>
          <p:cNvPr id="7" name="Picture 6">
            <a:extLst>
              <a:ext uri="{FF2B5EF4-FFF2-40B4-BE49-F238E27FC236}">
                <a16:creationId xmlns:a16="http://schemas.microsoft.com/office/drawing/2014/main" id="{E7315C22-07EB-421E-8C75-D990FC0F50FF}"/>
              </a:ext>
            </a:extLst>
          </p:cNvPr>
          <p:cNvPicPr>
            <a:picLocks noChangeAspect="1"/>
          </p:cNvPicPr>
          <p:nvPr/>
        </p:nvPicPr>
        <p:blipFill>
          <a:blip r:embed="rId4"/>
          <a:stretch>
            <a:fillRect/>
          </a:stretch>
        </p:blipFill>
        <p:spPr>
          <a:xfrm>
            <a:off x="7669127" y="2014293"/>
            <a:ext cx="4261109" cy="4396841"/>
          </a:xfrm>
          <a:prstGeom prst="rect">
            <a:avLst/>
          </a:prstGeom>
        </p:spPr>
      </p:pic>
      <p:sp>
        <p:nvSpPr>
          <p:cNvPr id="3" name="Arrow: Right 2">
            <a:extLst>
              <a:ext uri="{FF2B5EF4-FFF2-40B4-BE49-F238E27FC236}">
                <a16:creationId xmlns:a16="http://schemas.microsoft.com/office/drawing/2014/main" id="{703FA2C6-756C-42A1-8B1E-D3D03132F1C2}"/>
              </a:ext>
            </a:extLst>
          </p:cNvPr>
          <p:cNvSpPr/>
          <p:nvPr/>
        </p:nvSpPr>
        <p:spPr>
          <a:xfrm>
            <a:off x="6061136" y="3709555"/>
            <a:ext cx="1406236" cy="4052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0399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8113309"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Testing Create Method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923330"/>
          </a:xfrm>
          <a:prstGeom prst="rect">
            <a:avLst/>
          </a:prstGeom>
          <a:noFill/>
        </p:spPr>
        <p:txBody>
          <a:bodyPr wrap="square" rtlCol="0">
            <a:spAutoFit/>
          </a:bodyPr>
          <a:lstStyle/>
          <a:p>
            <a:r>
              <a:rPr lang="en-US" b="1" dirty="0">
                <a:solidFill>
                  <a:prstClr val="black"/>
                </a:solidFill>
                <a:latin typeface="Calibri" panose="020F0502020204030204"/>
              </a:rPr>
              <a:t>Step:3</a:t>
            </a:r>
            <a:r>
              <a:rPr lang="en-US" dirty="0">
                <a:solidFill>
                  <a:prstClr val="black"/>
                </a:solidFill>
                <a:latin typeface="Calibri" panose="020F0502020204030204"/>
              </a:rPr>
              <a:t> Perform a getEntity in the Product set to get the payload to post (</a:t>
            </a:r>
            <a:r>
              <a:rPr lang="en-US" b="1" dirty="0">
                <a:solidFill>
                  <a:prstClr val="black"/>
                </a:solidFill>
                <a:latin typeface="Calibri" panose="020F0502020204030204"/>
              </a:rPr>
              <a:t>/sap/opu/odata/sap/Z_FIRST_SRV/ProductSet('HT-1000')?$format=json</a:t>
            </a:r>
            <a:r>
              <a:rPr lang="en-US" dirty="0">
                <a:solidFill>
                  <a:prstClr val="black"/>
                </a:solidFill>
                <a:latin typeface="Calibri" panose="020F0502020204030204"/>
              </a:rPr>
              <a:t>) and then clean the data and modify the payload as new.</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5707A2D-46DA-4C97-AA59-827D8C00992B}"/>
              </a:ext>
            </a:extLst>
          </p:cNvPr>
          <p:cNvPicPr>
            <a:picLocks noChangeAspect="1"/>
          </p:cNvPicPr>
          <p:nvPr/>
        </p:nvPicPr>
        <p:blipFill>
          <a:blip r:embed="rId3"/>
          <a:stretch>
            <a:fillRect/>
          </a:stretch>
        </p:blipFill>
        <p:spPr>
          <a:xfrm>
            <a:off x="261764" y="2057016"/>
            <a:ext cx="5315773" cy="3824238"/>
          </a:xfrm>
          <a:prstGeom prst="rect">
            <a:avLst/>
          </a:prstGeom>
        </p:spPr>
      </p:pic>
      <p:pic>
        <p:nvPicPr>
          <p:cNvPr id="7" name="Picture 2">
            <a:extLst>
              <a:ext uri="{FF2B5EF4-FFF2-40B4-BE49-F238E27FC236}">
                <a16:creationId xmlns:a16="http://schemas.microsoft.com/office/drawing/2014/main" id="{9D213D4A-6D41-4AEC-BA1C-6B9B03B60D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0782" y="2057016"/>
            <a:ext cx="4679454" cy="4017817"/>
          </a:xfrm>
          <a:prstGeom prst="rect">
            <a:avLst/>
          </a:prstGeom>
          <a:noFill/>
          <a:extLst>
            <a:ext uri="{909E8E84-426E-40DD-AFC4-6F175D3DCCD1}">
              <a14:hiddenFill xmlns:a14="http://schemas.microsoft.com/office/drawing/2010/main">
                <a:solidFill>
                  <a:srgbClr val="FFFFFF"/>
                </a:solidFill>
              </a14:hiddenFill>
            </a:ext>
          </a:extLst>
        </p:spPr>
      </p:pic>
      <p:sp>
        <p:nvSpPr>
          <p:cNvPr id="3" name="Arrow: Right 2">
            <a:extLst>
              <a:ext uri="{FF2B5EF4-FFF2-40B4-BE49-F238E27FC236}">
                <a16:creationId xmlns:a16="http://schemas.microsoft.com/office/drawing/2014/main" id="{A9233CE9-FF84-4EF9-B1FD-7EBAEC295C06}"/>
              </a:ext>
            </a:extLst>
          </p:cNvPr>
          <p:cNvSpPr/>
          <p:nvPr/>
        </p:nvSpPr>
        <p:spPr>
          <a:xfrm>
            <a:off x="5668983" y="3782291"/>
            <a:ext cx="1506681" cy="342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0750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8279563"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Testing Create Method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Step:4</a:t>
            </a:r>
            <a:r>
              <a:rPr lang="en-US" dirty="0">
                <a:solidFill>
                  <a:prstClr val="black"/>
                </a:solidFill>
                <a:latin typeface="Calibri" panose="020F0502020204030204"/>
              </a:rPr>
              <a:t> send the post request at (</a:t>
            </a:r>
            <a:r>
              <a:rPr lang="en-US" b="1" dirty="0">
                <a:solidFill>
                  <a:prstClr val="black"/>
                </a:solidFill>
                <a:latin typeface="Calibri" panose="020F0502020204030204"/>
              </a:rPr>
              <a:t>/sap/opu/odata/sap/Z_FIRST_SRV/ProductSet</a:t>
            </a:r>
            <a:r>
              <a:rPr lang="en-US" dirty="0">
                <a:solidFill>
                  <a:prstClr val="black"/>
                </a:solidFill>
                <a:latin typeface="Calibri" panose="020F0502020204030204"/>
              </a:rPr>
              <a: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790AEDAC-0761-44A7-981C-553FAA1910A1}"/>
              </a:ext>
            </a:extLst>
          </p:cNvPr>
          <p:cNvPicPr>
            <a:picLocks noChangeAspect="1"/>
          </p:cNvPicPr>
          <p:nvPr/>
        </p:nvPicPr>
        <p:blipFill>
          <a:blip r:embed="rId3"/>
          <a:stretch>
            <a:fillRect/>
          </a:stretch>
        </p:blipFill>
        <p:spPr>
          <a:xfrm>
            <a:off x="261764" y="1213961"/>
            <a:ext cx="11443855" cy="4621175"/>
          </a:xfrm>
          <a:prstGeom prst="rect">
            <a:avLst/>
          </a:prstGeom>
        </p:spPr>
      </p:pic>
    </p:spTree>
    <p:extLst>
      <p:ext uri="{BB962C8B-B14F-4D97-AF65-F5344CB8AC3E}">
        <p14:creationId xmlns:p14="http://schemas.microsoft.com/office/powerpoint/2010/main" val="255694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18914"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Setting the Payload for POST and PUT request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2865900" cy="369332"/>
          </a:xfrm>
          <a:prstGeom prst="rect">
            <a:avLst/>
          </a:prstGeom>
          <a:noFill/>
        </p:spPr>
        <p:txBody>
          <a:bodyPr wrap="square" rtlCol="0">
            <a:spAutoFit/>
          </a:bodyPr>
          <a:lstStyle/>
          <a:p>
            <a:r>
              <a:rPr lang="en-US" dirty="0"/>
              <a:t>Step 1: Go to Body Section.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C410C7EE-5168-4105-A6A0-65FC285226A5}"/>
              </a:ext>
            </a:extLst>
          </p:cNvPr>
          <p:cNvPicPr>
            <a:picLocks noChangeAspect="1"/>
          </p:cNvPicPr>
          <p:nvPr/>
        </p:nvPicPr>
        <p:blipFill>
          <a:blip r:embed="rId3"/>
          <a:stretch>
            <a:fillRect/>
          </a:stretch>
        </p:blipFill>
        <p:spPr>
          <a:xfrm>
            <a:off x="261764" y="1148422"/>
            <a:ext cx="4397306" cy="1563605"/>
          </a:xfrm>
          <a:prstGeom prst="rect">
            <a:avLst/>
          </a:prstGeom>
        </p:spPr>
      </p:pic>
      <p:sp>
        <p:nvSpPr>
          <p:cNvPr id="9" name="TextBox 8">
            <a:extLst>
              <a:ext uri="{FF2B5EF4-FFF2-40B4-BE49-F238E27FC236}">
                <a16:creationId xmlns:a16="http://schemas.microsoft.com/office/drawing/2014/main" id="{6DA8EB7E-C3D7-4D13-9355-49953CF3E35B}"/>
              </a:ext>
            </a:extLst>
          </p:cNvPr>
          <p:cNvSpPr txBox="1"/>
          <p:nvPr/>
        </p:nvSpPr>
        <p:spPr>
          <a:xfrm>
            <a:off x="261764" y="2712027"/>
            <a:ext cx="8715981" cy="369332"/>
          </a:xfrm>
          <a:prstGeom prst="rect">
            <a:avLst/>
          </a:prstGeom>
          <a:noFill/>
        </p:spPr>
        <p:txBody>
          <a:bodyPr wrap="square" rtlCol="0">
            <a:spAutoFit/>
          </a:bodyPr>
          <a:lstStyle/>
          <a:p>
            <a:r>
              <a:rPr lang="en-US" dirty="0"/>
              <a:t>Step 2: Select the </a:t>
            </a:r>
            <a:r>
              <a:rPr lang="en-US" b="1" dirty="0"/>
              <a:t>raw </a:t>
            </a:r>
            <a:r>
              <a:rPr lang="en-US" dirty="0"/>
              <a:t>option form the radio button and then select the data type as JSON.</a:t>
            </a:r>
          </a:p>
        </p:txBody>
      </p:sp>
      <p:pic>
        <p:nvPicPr>
          <p:cNvPr id="10" name="Picture 9">
            <a:extLst>
              <a:ext uri="{FF2B5EF4-FFF2-40B4-BE49-F238E27FC236}">
                <a16:creationId xmlns:a16="http://schemas.microsoft.com/office/drawing/2014/main" id="{9FEAD80F-600D-4884-9EA2-11333DCA3A87}"/>
              </a:ext>
            </a:extLst>
          </p:cNvPr>
          <p:cNvPicPr>
            <a:picLocks noChangeAspect="1"/>
          </p:cNvPicPr>
          <p:nvPr/>
        </p:nvPicPr>
        <p:blipFill>
          <a:blip r:embed="rId4"/>
          <a:stretch>
            <a:fillRect/>
          </a:stretch>
        </p:blipFill>
        <p:spPr>
          <a:xfrm>
            <a:off x="261764" y="3081359"/>
            <a:ext cx="6900352" cy="3214537"/>
          </a:xfrm>
          <a:prstGeom prst="rect">
            <a:avLst/>
          </a:prstGeom>
        </p:spPr>
      </p:pic>
    </p:spTree>
    <p:extLst>
      <p:ext uri="{BB962C8B-B14F-4D97-AF65-F5344CB8AC3E}">
        <p14:creationId xmlns:p14="http://schemas.microsoft.com/office/powerpoint/2010/main" val="396655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X-CSRF Token</a:t>
            </a:r>
            <a:endParaRPr lang="en-IN" sz="3600" b="0" i="0" dirty="0">
              <a:effectLst/>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rPr>
              <a:t>A CSRF Token is a secret, unique and unpredictable value a server-side application generates in order to protect CSRF vulnerable resources.</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rPr>
              <a:t>The tokens are generated and submitted by the server-side application in a subsequent HTTP request made by the client.</a:t>
            </a:r>
            <a:endParaRPr kumimoji="0" lang="en-US" sz="1800" u="none" strike="noStrike" kern="1200" cap="none" spc="0" normalizeH="0" baseline="0" noProof="0" dirty="0">
              <a:ln>
                <a:noFill/>
              </a:ln>
              <a:solidFill>
                <a:srgbClr val="202124"/>
              </a:solidFill>
              <a:uLnTx/>
              <a:uFillTx/>
              <a:ea typeface="+mn-ea"/>
              <a:cs typeface="Calibri" panose="020F0502020204030204" pitchFamily="34" charset="0"/>
            </a:endParaRPr>
          </a:p>
          <a:p>
            <a:pPr marR="0" lvl="0" algn="just" defTabSz="914400" rtl="0" eaLnBrk="1" fontAlgn="auto" latinLnBrk="0" hangingPunct="1">
              <a:lnSpc>
                <a:spcPct val="100000"/>
              </a:lnSpc>
              <a:spcBef>
                <a:spcPts val="0"/>
              </a:spcBef>
              <a:spcAft>
                <a:spcPts val="0"/>
              </a:spcAft>
              <a:buClrTx/>
              <a:buSzTx/>
              <a:tabLst/>
              <a:defRPr/>
            </a:pPr>
            <a:r>
              <a:rPr lang="en-US" i="0" dirty="0">
                <a:solidFill>
                  <a:srgbClr val="202124"/>
                </a:solidFill>
                <a:effectLst/>
                <a:cs typeface="Calibri" panose="020F0502020204030204" pitchFamily="34" charset="0"/>
              </a:rPr>
              <a:t>Steps to Get the x-</a:t>
            </a:r>
            <a:r>
              <a:rPr lang="en-US" i="0" dirty="0" err="1">
                <a:solidFill>
                  <a:srgbClr val="202124"/>
                </a:solidFill>
                <a:effectLst/>
                <a:cs typeface="Calibri" panose="020F0502020204030204" pitchFamily="34" charset="0"/>
              </a:rPr>
              <a:t>csrf</a:t>
            </a:r>
            <a:r>
              <a:rPr lang="en-US" i="0" dirty="0">
                <a:solidFill>
                  <a:srgbClr val="202124"/>
                </a:solidFill>
                <a:effectLst/>
                <a:cs typeface="Calibri" panose="020F0502020204030204" pitchFamily="34" charset="0"/>
              </a:rPr>
              <a:t> token.</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cs typeface="Calibri" panose="020F0502020204030204" pitchFamily="34" charset="0"/>
              </a:rPr>
              <a:t>To </a:t>
            </a:r>
            <a:r>
              <a:rPr lang="en-US" dirty="0">
                <a:solidFill>
                  <a:srgbClr val="202124"/>
                </a:solidFill>
                <a:cs typeface="Calibri" panose="020F0502020204030204" pitchFamily="34" charset="0"/>
              </a:rPr>
              <a:t>get the x-</a:t>
            </a:r>
            <a:r>
              <a:rPr lang="en-US" dirty="0" err="1">
                <a:solidFill>
                  <a:srgbClr val="202124"/>
                </a:solidFill>
                <a:cs typeface="Calibri" panose="020F0502020204030204" pitchFamily="34" charset="0"/>
              </a:rPr>
              <a:t>csrf</a:t>
            </a:r>
            <a:r>
              <a:rPr lang="en-US" dirty="0">
                <a:solidFill>
                  <a:srgbClr val="202124"/>
                </a:solidFill>
                <a:cs typeface="Calibri" panose="020F0502020204030204" pitchFamily="34" charset="0"/>
              </a:rPr>
              <a:t> token we need to pass the value of </a:t>
            </a:r>
            <a:r>
              <a:rPr lang="en-US" b="1" dirty="0">
                <a:solidFill>
                  <a:srgbClr val="202124"/>
                </a:solidFill>
                <a:cs typeface="Calibri" panose="020F0502020204030204" pitchFamily="34" charset="0"/>
              </a:rPr>
              <a:t>x-</a:t>
            </a:r>
            <a:r>
              <a:rPr lang="en-US" b="1" dirty="0" err="1">
                <a:solidFill>
                  <a:srgbClr val="202124"/>
                </a:solidFill>
                <a:cs typeface="Calibri" panose="020F0502020204030204" pitchFamily="34" charset="0"/>
              </a:rPr>
              <a:t>csrf</a:t>
            </a:r>
            <a:r>
              <a:rPr lang="en-US" b="1" dirty="0">
                <a:solidFill>
                  <a:srgbClr val="202124"/>
                </a:solidFill>
                <a:cs typeface="Calibri" panose="020F0502020204030204" pitchFamily="34" charset="0"/>
              </a:rPr>
              <a:t> token</a:t>
            </a:r>
            <a:r>
              <a:rPr lang="en-US" dirty="0">
                <a:solidFill>
                  <a:srgbClr val="202124"/>
                </a:solidFill>
                <a:cs typeface="Calibri" panose="020F0502020204030204" pitchFamily="34" charset="0"/>
              </a:rPr>
              <a:t> as </a:t>
            </a:r>
            <a:r>
              <a:rPr lang="en-US" b="1" dirty="0">
                <a:solidFill>
                  <a:srgbClr val="202124"/>
                </a:solidFill>
                <a:cs typeface="Calibri" panose="020F0502020204030204" pitchFamily="34" charset="0"/>
              </a:rPr>
              <a:t>fetch</a:t>
            </a:r>
            <a:r>
              <a:rPr lang="en-US" dirty="0">
                <a:solidFill>
                  <a:srgbClr val="202124"/>
                </a:solidFill>
                <a:cs typeface="Calibri" panose="020F0502020204030204" pitchFamily="34" charset="0"/>
              </a:rPr>
              <a:t> with the GET call.</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cs typeface="Calibri" panose="020F0502020204030204" pitchFamily="34" charset="0"/>
              </a:rPr>
              <a:t>After ex</a:t>
            </a:r>
            <a:r>
              <a:rPr lang="en-US" dirty="0">
                <a:solidFill>
                  <a:srgbClr val="202124"/>
                </a:solidFill>
                <a:cs typeface="Calibri" panose="020F0502020204030204" pitchFamily="34" charset="0"/>
              </a:rPr>
              <a:t>ecuting the get call we will find the token in the </a:t>
            </a:r>
            <a:r>
              <a:rPr lang="en-US" b="1" dirty="0">
                <a:solidFill>
                  <a:srgbClr val="202124"/>
                </a:solidFill>
                <a:cs typeface="Calibri" panose="020F0502020204030204" pitchFamily="34" charset="0"/>
              </a:rPr>
              <a:t>Header </a:t>
            </a:r>
            <a:r>
              <a:rPr lang="en-US" dirty="0">
                <a:solidFill>
                  <a:srgbClr val="202124"/>
                </a:solidFill>
                <a:cs typeface="Calibri" panose="020F0502020204030204" pitchFamily="34" charset="0"/>
              </a:rPr>
              <a:t>Section of the </a:t>
            </a:r>
            <a:r>
              <a:rPr lang="en-US" b="1" dirty="0">
                <a:solidFill>
                  <a:srgbClr val="202124"/>
                </a:solidFill>
                <a:cs typeface="Calibri" panose="020F0502020204030204" pitchFamily="34" charset="0"/>
              </a:rPr>
              <a:t>Response.</a:t>
            </a:r>
            <a:endParaRPr lang="en-US" b="1" i="0" dirty="0">
              <a:solidFill>
                <a:srgbClr val="202124"/>
              </a:solidFill>
              <a:effectLst/>
              <a:cs typeface="Calibri" panose="020F0502020204030204" pitchFamily="34" charset="0"/>
            </a:endParaRPr>
          </a:p>
          <a:p>
            <a:pPr marR="0" lvl="0" algn="just" defTabSz="914400" rtl="0" eaLnBrk="1" fontAlgn="auto" latinLnBrk="0" hangingPunct="1">
              <a:lnSpc>
                <a:spcPct val="100000"/>
              </a:lnSpc>
              <a:spcBef>
                <a:spcPts val="0"/>
              </a:spcBef>
              <a:spcAft>
                <a:spcPts val="0"/>
              </a:spcAft>
              <a:buClrTx/>
              <a:buSzTx/>
              <a:tabLst/>
              <a:defRPr/>
            </a:pPr>
            <a:endParaRPr kumimoji="0" lang="en-IN" sz="1800" i="0" u="none" strike="noStrike" kern="1200" cap="none" spc="0" normalizeH="0" baseline="0" noProof="0" dirty="0">
              <a:ln>
                <a:noFill/>
              </a:ln>
              <a:effectLst/>
              <a:uLnTx/>
              <a:uFillTx/>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306350E5-10C4-41E5-B5DC-7C36753519DE}"/>
              </a:ext>
            </a:extLst>
          </p:cNvPr>
          <p:cNvPicPr>
            <a:picLocks noChangeAspect="1"/>
          </p:cNvPicPr>
          <p:nvPr/>
        </p:nvPicPr>
        <p:blipFill>
          <a:blip r:embed="rId3"/>
          <a:stretch>
            <a:fillRect/>
          </a:stretch>
        </p:blipFill>
        <p:spPr>
          <a:xfrm>
            <a:off x="643904" y="2795733"/>
            <a:ext cx="5840024" cy="2145953"/>
          </a:xfrm>
          <a:prstGeom prst="rect">
            <a:avLst/>
          </a:prstGeom>
        </p:spPr>
      </p:pic>
      <p:sp>
        <p:nvSpPr>
          <p:cNvPr id="5" name="TextBox 4">
            <a:extLst>
              <a:ext uri="{FF2B5EF4-FFF2-40B4-BE49-F238E27FC236}">
                <a16:creationId xmlns:a16="http://schemas.microsoft.com/office/drawing/2014/main" id="{B0F7B041-418F-4781-9E24-8FB0A98DA7F0}"/>
              </a:ext>
            </a:extLst>
          </p:cNvPr>
          <p:cNvSpPr txBox="1"/>
          <p:nvPr/>
        </p:nvSpPr>
        <p:spPr>
          <a:xfrm>
            <a:off x="261764" y="4941686"/>
            <a:ext cx="7471064" cy="369332"/>
          </a:xfrm>
          <a:prstGeom prst="rect">
            <a:avLst/>
          </a:prstGeom>
          <a:noFill/>
        </p:spPr>
        <p:txBody>
          <a:bodyPr wrap="square" rtlCol="0">
            <a:spAutoFit/>
          </a:bodyPr>
          <a:lstStyle/>
          <a:p>
            <a:r>
              <a:rPr lang="en-US" dirty="0"/>
              <a:t>- In POST call we need to pass this value of x-</a:t>
            </a:r>
            <a:r>
              <a:rPr lang="en-US" dirty="0" err="1"/>
              <a:t>csrf</a:t>
            </a:r>
            <a:r>
              <a:rPr lang="en-US" dirty="0"/>
              <a:t> token in the header section.</a:t>
            </a:r>
          </a:p>
        </p:txBody>
      </p:sp>
      <p:pic>
        <p:nvPicPr>
          <p:cNvPr id="7" name="Picture 6">
            <a:extLst>
              <a:ext uri="{FF2B5EF4-FFF2-40B4-BE49-F238E27FC236}">
                <a16:creationId xmlns:a16="http://schemas.microsoft.com/office/drawing/2014/main" id="{E5B98DA5-5EDA-4292-B2CA-6F204039D59F}"/>
              </a:ext>
            </a:extLst>
          </p:cNvPr>
          <p:cNvPicPr>
            <a:picLocks noChangeAspect="1"/>
          </p:cNvPicPr>
          <p:nvPr/>
        </p:nvPicPr>
        <p:blipFill>
          <a:blip r:embed="rId4"/>
          <a:stretch>
            <a:fillRect/>
          </a:stretch>
        </p:blipFill>
        <p:spPr>
          <a:xfrm>
            <a:off x="1245883" y="5369696"/>
            <a:ext cx="5774372" cy="1320673"/>
          </a:xfrm>
          <a:prstGeom prst="rect">
            <a:avLst/>
          </a:prstGeom>
        </p:spPr>
      </p:pic>
    </p:spTree>
    <p:extLst>
      <p:ext uri="{BB962C8B-B14F-4D97-AF65-F5344CB8AC3E}">
        <p14:creationId xmlns:p14="http://schemas.microsoft.com/office/powerpoint/2010/main" val="3665951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1386446" cy="10580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Implementing DELETE and Update (PUT) method</a:t>
            </a: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3" y="1246681"/>
            <a:ext cx="11161643" cy="369332"/>
          </a:xfrm>
          <a:prstGeom prst="rect">
            <a:avLst/>
          </a:prstGeom>
          <a:noFill/>
        </p:spPr>
        <p:txBody>
          <a:bodyPr wrap="square" rtlCol="0">
            <a:spAutoFit/>
          </a:bodyPr>
          <a:lstStyle/>
          <a:p>
            <a:r>
              <a:rPr lang="en-US" dirty="0">
                <a:solidFill>
                  <a:prstClr val="black"/>
                </a:solidFill>
                <a:latin typeface="Calibri" panose="020F0502020204030204"/>
              </a:rPr>
              <a:t>We can implement the delete and update method in the corresponding DPC extension classes. </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A6EEE1AB-531A-47AC-AD27-BBE9C8DD8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764" y="1787757"/>
            <a:ext cx="5235028" cy="428176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587772B4-AD23-44D5-A963-09DF88D34E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0377" y="1787757"/>
            <a:ext cx="5183029" cy="4338824"/>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FB0E8A40-DDAB-4D55-963A-4475393920B9}"/>
              </a:ext>
            </a:extLst>
          </p:cNvPr>
          <p:cNvCxnSpPr/>
          <p:nvPr/>
        </p:nvCxnSpPr>
        <p:spPr>
          <a:xfrm>
            <a:off x="5922818" y="1734332"/>
            <a:ext cx="0" cy="4552168"/>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3052E42-10B7-4998-B10C-1FE6A0C6699C}"/>
              </a:ext>
            </a:extLst>
          </p:cNvPr>
          <p:cNvSpPr txBox="1"/>
          <p:nvPr/>
        </p:nvSpPr>
        <p:spPr>
          <a:xfrm>
            <a:off x="261763" y="6126580"/>
            <a:ext cx="4812653" cy="646331"/>
          </a:xfrm>
          <a:prstGeom prst="rect">
            <a:avLst/>
          </a:prstGeom>
          <a:noFill/>
        </p:spPr>
        <p:txBody>
          <a:bodyPr wrap="square" rtlCol="0">
            <a:spAutoFit/>
          </a:bodyPr>
          <a:lstStyle/>
          <a:p>
            <a:r>
              <a:rPr lang="en-US" dirty="0">
                <a:solidFill>
                  <a:schemeClr val="accent6"/>
                </a:solidFill>
              </a:rPr>
              <a:t>Code for PRODUCTSET_DELETE_ENTITY: </a:t>
            </a:r>
            <a:r>
              <a:rPr lang="en-US" dirty="0">
                <a:hlinkClick r:id="rId5"/>
              </a:rPr>
              <a:t>ProductSetDeleteEntity</a:t>
            </a:r>
            <a:endParaRPr lang="en-US" dirty="0"/>
          </a:p>
        </p:txBody>
      </p:sp>
      <p:sp>
        <p:nvSpPr>
          <p:cNvPr id="11" name="TextBox 10">
            <a:extLst>
              <a:ext uri="{FF2B5EF4-FFF2-40B4-BE49-F238E27FC236}">
                <a16:creationId xmlns:a16="http://schemas.microsoft.com/office/drawing/2014/main" id="{C3A98753-1B20-455C-80DC-0AF27944EDC8}"/>
              </a:ext>
            </a:extLst>
          </p:cNvPr>
          <p:cNvSpPr txBox="1"/>
          <p:nvPr/>
        </p:nvSpPr>
        <p:spPr>
          <a:xfrm>
            <a:off x="6122236" y="6069522"/>
            <a:ext cx="5258442" cy="646331"/>
          </a:xfrm>
          <a:prstGeom prst="rect">
            <a:avLst/>
          </a:prstGeom>
          <a:noFill/>
        </p:spPr>
        <p:txBody>
          <a:bodyPr wrap="square" rtlCol="0">
            <a:spAutoFit/>
          </a:bodyPr>
          <a:lstStyle/>
          <a:p>
            <a:r>
              <a:rPr lang="en-US" dirty="0">
                <a:solidFill>
                  <a:schemeClr val="accent6"/>
                </a:solidFill>
              </a:rPr>
              <a:t>Code for PRODUCTSET_UPDATE_ENTITY </a:t>
            </a:r>
            <a:r>
              <a:rPr lang="en-US" dirty="0"/>
              <a:t>: </a:t>
            </a:r>
            <a:r>
              <a:rPr lang="en-US" dirty="0">
                <a:hlinkClick r:id="rId6"/>
              </a:rPr>
              <a:t>ProductSetUpdateEntity</a:t>
            </a:r>
            <a:endParaRPr lang="en-US" dirty="0"/>
          </a:p>
        </p:txBody>
      </p:sp>
    </p:spTree>
    <p:extLst>
      <p:ext uri="{BB962C8B-B14F-4D97-AF65-F5344CB8AC3E}">
        <p14:creationId xmlns:p14="http://schemas.microsoft.com/office/powerpoint/2010/main" val="2886123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915906"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Create Supplier Table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Create a Supplier entity Set in the Entity Type Section by following the steps used to create Product </a:t>
            </a:r>
            <a:r>
              <a:rPr lang="en-US" dirty="0" err="1"/>
              <a:t>entyity</a:t>
            </a:r>
            <a:r>
              <a:rPr lang="en-US" dirty="0"/>
              <a:t> Set.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D585116A-1B1A-4FA6-84B2-FB7740B637C8}"/>
              </a:ext>
            </a:extLst>
          </p:cNvPr>
          <p:cNvPicPr>
            <a:picLocks noChangeAspect="1"/>
          </p:cNvPicPr>
          <p:nvPr/>
        </p:nvPicPr>
        <p:blipFill>
          <a:blip r:embed="rId3"/>
          <a:stretch>
            <a:fillRect/>
          </a:stretch>
        </p:blipFill>
        <p:spPr>
          <a:xfrm>
            <a:off x="311948" y="1187698"/>
            <a:ext cx="9815538" cy="2402063"/>
          </a:xfrm>
          <a:prstGeom prst="rect">
            <a:avLst/>
          </a:prstGeom>
        </p:spPr>
      </p:pic>
      <p:sp>
        <p:nvSpPr>
          <p:cNvPr id="5" name="TextBox 4">
            <a:extLst>
              <a:ext uri="{FF2B5EF4-FFF2-40B4-BE49-F238E27FC236}">
                <a16:creationId xmlns:a16="http://schemas.microsoft.com/office/drawing/2014/main" id="{76C46E89-9839-4E6A-951E-375FE20A8548}"/>
              </a:ext>
            </a:extLst>
          </p:cNvPr>
          <p:cNvSpPr txBox="1"/>
          <p:nvPr/>
        </p:nvSpPr>
        <p:spPr>
          <a:xfrm>
            <a:off x="311948" y="3819163"/>
            <a:ext cx="11324737" cy="1477328"/>
          </a:xfrm>
          <a:prstGeom prst="rect">
            <a:avLst/>
          </a:prstGeom>
          <a:noFill/>
        </p:spPr>
        <p:txBody>
          <a:bodyPr wrap="square" rtlCol="0">
            <a:spAutoFit/>
          </a:bodyPr>
          <a:lstStyle/>
          <a:p>
            <a:r>
              <a:rPr lang="en-US" dirty="0"/>
              <a:t>Once the Entity sets are created, we can also implement the Get Entity for of Supplier Set in the same way as we have created for the Product Set.</a:t>
            </a:r>
          </a:p>
          <a:p>
            <a:endParaRPr lang="en-US" dirty="0"/>
          </a:p>
          <a:p>
            <a:r>
              <a:rPr lang="en-US" dirty="0">
                <a:solidFill>
                  <a:schemeClr val="accent6"/>
                </a:solidFill>
              </a:rPr>
              <a:t>Code to put in Supplier Set Get Entity:</a:t>
            </a:r>
          </a:p>
          <a:p>
            <a:r>
              <a:rPr lang="en-US" dirty="0">
                <a:hlinkClick r:id="rId4"/>
              </a:rPr>
              <a:t>SupplierSetGetEntity</a:t>
            </a:r>
            <a:endParaRPr lang="en-US" dirty="0"/>
          </a:p>
        </p:txBody>
      </p:sp>
      <p:sp>
        <p:nvSpPr>
          <p:cNvPr id="9" name="TextBox 8">
            <a:extLst>
              <a:ext uri="{FF2B5EF4-FFF2-40B4-BE49-F238E27FC236}">
                <a16:creationId xmlns:a16="http://schemas.microsoft.com/office/drawing/2014/main" id="{E06E4822-8F01-449B-BDA6-AAE7CFF74106}"/>
              </a:ext>
            </a:extLst>
          </p:cNvPr>
          <p:cNvSpPr txBox="1"/>
          <p:nvPr/>
        </p:nvSpPr>
        <p:spPr>
          <a:xfrm>
            <a:off x="10307782" y="1922318"/>
            <a:ext cx="1572270" cy="369332"/>
          </a:xfrm>
          <a:prstGeom prst="rect">
            <a:avLst/>
          </a:prstGeom>
          <a:noFill/>
        </p:spPr>
        <p:txBody>
          <a:bodyPr wrap="square" rtlCol="0">
            <a:spAutoFit/>
          </a:bodyPr>
          <a:lstStyle/>
          <a:p>
            <a:r>
              <a:rPr lang="en-US" dirty="0"/>
              <a:t>Supplier Set</a:t>
            </a:r>
          </a:p>
        </p:txBody>
      </p:sp>
    </p:spTree>
    <p:extLst>
      <p:ext uri="{BB962C8B-B14F-4D97-AF65-F5344CB8AC3E}">
        <p14:creationId xmlns:p14="http://schemas.microsoft.com/office/powerpoint/2010/main" val="134856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Association</a:t>
            </a:r>
            <a:endParaRPr lang="en-IN" sz="3600" b="0" i="0" dirty="0">
              <a:effectLst/>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8440109" cy="313919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rPr>
              <a:t>Associations are relationship Between entities.</a:t>
            </a:r>
          </a:p>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lang="en-US" dirty="0">
                <a:solidFill>
                  <a:prstClr val="black"/>
                </a:solidFill>
                <a:latin typeface="Calibri" panose="020F0502020204030204"/>
                <a:cs typeface="Calibri" panose="020F0502020204030204" pitchFamily="34" charset="0"/>
              </a:rPr>
              <a:t>At database level we have foreign key relationship and same is reflected at odata level.</a:t>
            </a:r>
          </a:p>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lang="en-US" dirty="0">
                <a:solidFill>
                  <a:prstClr val="black"/>
                </a:solidFill>
                <a:latin typeface="Calibri" panose="020F0502020204030204"/>
                <a:cs typeface="Calibri" panose="020F0502020204030204" pitchFamily="34" charset="0"/>
              </a:rPr>
              <a:t>Once a association is created only then we can create  navigation property.</a:t>
            </a:r>
          </a:p>
          <a:p>
            <a:pPr marL="285750" marR="0" lvl="0" indent="-28575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endParaRPr lang="en-US" sz="1799" dirty="0">
              <a:solidFill>
                <a:prstClr val="black"/>
              </a:solidFill>
              <a:latin typeface="Calibri" panose="020F0502020204030204"/>
              <a:cs typeface="Calibri" panose="020F0502020204030204" pitchFamily="34" charset="0"/>
            </a:endParaRPr>
          </a:p>
          <a:p>
            <a:pPr marL="285750" indent="-285750">
              <a:buFont typeface="Wingdings" panose="05000000000000000000" pitchFamily="2" charset="2"/>
              <a:buChar char="§"/>
              <a:defRPr/>
            </a:pPr>
            <a:r>
              <a:rPr lang="en-US" sz="1800" dirty="0"/>
              <a:t>In a typical ERP system the data is spread across multiple database tables. Example sales order header and items. We load this connected data using the foreign key relationship.</a:t>
            </a:r>
          </a:p>
          <a:p>
            <a:pPr marL="285750" indent="-285750">
              <a:buFont typeface="Wingdings" panose="05000000000000000000" pitchFamily="2" charset="2"/>
              <a:buChar char="§"/>
              <a:defRPr/>
            </a:pPr>
            <a:r>
              <a:rPr lang="en-US" sz="1800" dirty="0"/>
              <a:t>In case of OData service, each database table is transformed into an entity. Hence we also need a relation between these entities. So the foreign key is converted to a association.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9" name="Rectangle 8">
            <a:extLst>
              <a:ext uri="{FF2B5EF4-FFF2-40B4-BE49-F238E27FC236}">
                <a16:creationId xmlns:a16="http://schemas.microsoft.com/office/drawing/2014/main" id="{448ADD4A-A0DE-45C5-B441-1A74D44337B1}"/>
              </a:ext>
            </a:extLst>
          </p:cNvPr>
          <p:cNvSpPr/>
          <p:nvPr/>
        </p:nvSpPr>
        <p:spPr>
          <a:xfrm>
            <a:off x="378691" y="4508732"/>
            <a:ext cx="2688393" cy="1345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Product</a:t>
            </a:r>
          </a:p>
        </p:txBody>
      </p:sp>
      <p:sp>
        <p:nvSpPr>
          <p:cNvPr id="10" name="Rectangle 9">
            <a:extLst>
              <a:ext uri="{FF2B5EF4-FFF2-40B4-BE49-F238E27FC236}">
                <a16:creationId xmlns:a16="http://schemas.microsoft.com/office/drawing/2014/main" id="{44364F5C-F300-4433-B4A7-9DCBFEFABFBE}"/>
              </a:ext>
            </a:extLst>
          </p:cNvPr>
          <p:cNvSpPr/>
          <p:nvPr/>
        </p:nvSpPr>
        <p:spPr>
          <a:xfrm>
            <a:off x="5347243" y="4508732"/>
            <a:ext cx="2688393" cy="1345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Supplier</a:t>
            </a:r>
          </a:p>
        </p:txBody>
      </p:sp>
      <p:cxnSp>
        <p:nvCxnSpPr>
          <p:cNvPr id="11" name="Straight Connector 10">
            <a:extLst>
              <a:ext uri="{FF2B5EF4-FFF2-40B4-BE49-F238E27FC236}">
                <a16:creationId xmlns:a16="http://schemas.microsoft.com/office/drawing/2014/main" id="{CB257183-9C70-4C52-B46B-794AF238E395}"/>
              </a:ext>
            </a:extLst>
          </p:cNvPr>
          <p:cNvCxnSpPr>
            <a:stCxn id="9" idx="3"/>
            <a:endCxn id="10" idx="1"/>
          </p:cNvCxnSpPr>
          <p:nvPr/>
        </p:nvCxnSpPr>
        <p:spPr>
          <a:xfrm>
            <a:off x="3067084" y="5181654"/>
            <a:ext cx="2280159"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0098CE5-6421-4D6A-A355-64F70EE1117B}"/>
              </a:ext>
            </a:extLst>
          </p:cNvPr>
          <p:cNvSpPr txBox="1"/>
          <p:nvPr/>
        </p:nvSpPr>
        <p:spPr>
          <a:xfrm>
            <a:off x="3067084" y="4813552"/>
            <a:ext cx="2531431" cy="369332"/>
          </a:xfrm>
          <a:prstGeom prst="rect">
            <a:avLst/>
          </a:prstGeom>
          <a:noFill/>
        </p:spPr>
        <p:txBody>
          <a:bodyPr wrap="square" rtlCol="0">
            <a:spAutoFit/>
          </a:bodyPr>
          <a:lstStyle/>
          <a:p>
            <a:r>
              <a:rPr lang="en-US" dirty="0"/>
              <a:t>1            relation        1</a:t>
            </a:r>
          </a:p>
        </p:txBody>
      </p:sp>
      <p:pic>
        <p:nvPicPr>
          <p:cNvPr id="19" name="Picture 18">
            <a:extLst>
              <a:ext uri="{FF2B5EF4-FFF2-40B4-BE49-F238E27FC236}">
                <a16:creationId xmlns:a16="http://schemas.microsoft.com/office/drawing/2014/main" id="{F0D6DA0A-59C3-4B90-B07F-FF3DCDA437C2}"/>
              </a:ext>
            </a:extLst>
          </p:cNvPr>
          <p:cNvPicPr>
            <a:picLocks noChangeAspect="1"/>
          </p:cNvPicPr>
          <p:nvPr/>
        </p:nvPicPr>
        <p:blipFill>
          <a:blip r:embed="rId3"/>
          <a:stretch>
            <a:fillRect/>
          </a:stretch>
        </p:blipFill>
        <p:spPr>
          <a:xfrm>
            <a:off x="8811032" y="1742268"/>
            <a:ext cx="2954107" cy="3559625"/>
          </a:xfrm>
          <a:prstGeom prst="rect">
            <a:avLst/>
          </a:prstGeom>
        </p:spPr>
      </p:pic>
    </p:spTree>
    <p:extLst>
      <p:ext uri="{BB962C8B-B14F-4D97-AF65-F5344CB8AC3E}">
        <p14:creationId xmlns:p14="http://schemas.microsoft.com/office/powerpoint/2010/main" val="1921707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Calibri" panose="020F0502020204030204"/>
              </a:rPr>
              <a:t>Step:1 </a:t>
            </a:r>
            <a:r>
              <a:rPr lang="en-US" dirty="0">
                <a:solidFill>
                  <a:prstClr val="black"/>
                </a:solidFill>
                <a:latin typeface="Calibri" panose="020F0502020204030204"/>
              </a:rPr>
              <a:t>Right Click on Association and click on create</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A</a:t>
            </a:r>
            <a:r>
              <a:rPr lang="en-IN" sz="3600" dirty="0">
                <a:latin typeface="Cooper Black" panose="0208090404030B020404" pitchFamily="18" charset="0"/>
              </a:rPr>
              <a:t>ssociation (1:1)</a:t>
            </a:r>
            <a:endParaRPr lang="en-IN" sz="3600" b="0" i="0" dirty="0">
              <a:effectLst/>
              <a:latin typeface="Cooper Black" panose="0208090404030B020404" pitchFamily="18" charset="0"/>
            </a:endParaRPr>
          </a:p>
        </p:txBody>
      </p:sp>
      <p:pic>
        <p:nvPicPr>
          <p:cNvPr id="3" name="Picture 2">
            <a:extLst>
              <a:ext uri="{FF2B5EF4-FFF2-40B4-BE49-F238E27FC236}">
                <a16:creationId xmlns:a16="http://schemas.microsoft.com/office/drawing/2014/main" id="{1EE1A041-569E-4F42-AE08-F485C17AE310}"/>
              </a:ext>
            </a:extLst>
          </p:cNvPr>
          <p:cNvPicPr>
            <a:picLocks noChangeAspect="1"/>
          </p:cNvPicPr>
          <p:nvPr/>
        </p:nvPicPr>
        <p:blipFill>
          <a:blip r:embed="rId3"/>
          <a:stretch>
            <a:fillRect/>
          </a:stretch>
        </p:blipFill>
        <p:spPr>
          <a:xfrm>
            <a:off x="289402" y="1271240"/>
            <a:ext cx="2720576" cy="2202371"/>
          </a:xfrm>
          <a:prstGeom prst="rect">
            <a:avLst/>
          </a:prstGeom>
        </p:spPr>
      </p:pic>
      <p:pic>
        <p:nvPicPr>
          <p:cNvPr id="7" name="Picture 6">
            <a:extLst>
              <a:ext uri="{FF2B5EF4-FFF2-40B4-BE49-F238E27FC236}">
                <a16:creationId xmlns:a16="http://schemas.microsoft.com/office/drawing/2014/main" id="{A055FA6D-FB49-4F83-A68B-161432995A22}"/>
              </a:ext>
            </a:extLst>
          </p:cNvPr>
          <p:cNvPicPr>
            <a:picLocks noChangeAspect="1"/>
          </p:cNvPicPr>
          <p:nvPr/>
        </p:nvPicPr>
        <p:blipFill>
          <a:blip r:embed="rId4"/>
          <a:stretch>
            <a:fillRect/>
          </a:stretch>
        </p:blipFill>
        <p:spPr>
          <a:xfrm>
            <a:off x="3850124" y="1286974"/>
            <a:ext cx="3508352" cy="2294807"/>
          </a:xfrm>
          <a:prstGeom prst="rect">
            <a:avLst/>
          </a:prstGeom>
        </p:spPr>
      </p:pic>
      <p:pic>
        <p:nvPicPr>
          <p:cNvPr id="11" name="Picture 10">
            <a:extLst>
              <a:ext uri="{FF2B5EF4-FFF2-40B4-BE49-F238E27FC236}">
                <a16:creationId xmlns:a16="http://schemas.microsoft.com/office/drawing/2014/main" id="{E272CDDA-3374-4821-BF98-31B2DBEE1495}"/>
              </a:ext>
            </a:extLst>
          </p:cNvPr>
          <p:cNvPicPr>
            <a:picLocks noChangeAspect="1"/>
          </p:cNvPicPr>
          <p:nvPr/>
        </p:nvPicPr>
        <p:blipFill>
          <a:blip r:embed="rId5"/>
          <a:stretch>
            <a:fillRect/>
          </a:stretch>
        </p:blipFill>
        <p:spPr>
          <a:xfrm>
            <a:off x="8198622" y="1286974"/>
            <a:ext cx="3532260" cy="2294807"/>
          </a:xfrm>
          <a:prstGeom prst="rect">
            <a:avLst/>
          </a:prstGeom>
        </p:spPr>
      </p:pic>
      <p:pic>
        <p:nvPicPr>
          <p:cNvPr id="1026" name="Picture 2">
            <a:extLst>
              <a:ext uri="{FF2B5EF4-FFF2-40B4-BE49-F238E27FC236}">
                <a16:creationId xmlns:a16="http://schemas.microsoft.com/office/drawing/2014/main" id="{39EB320C-5535-4CFA-AEA0-588640377E5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51243" y="3794721"/>
            <a:ext cx="3626427" cy="2359007"/>
          </a:xfrm>
          <a:prstGeom prst="rect">
            <a:avLst/>
          </a:prstGeom>
          <a:noFill/>
          <a:extLst>
            <a:ext uri="{909E8E84-426E-40DD-AFC4-6F175D3DCCD1}">
              <a14:hiddenFill xmlns:a14="http://schemas.microsoft.com/office/drawing/2010/main">
                <a:solidFill>
                  <a:srgbClr val="FFFFFF"/>
                </a:solidFill>
              </a14:hiddenFill>
            </a:ext>
          </a:extLst>
        </p:spPr>
      </p:pic>
      <p:sp>
        <p:nvSpPr>
          <p:cNvPr id="12" name="Arrow: Right 11">
            <a:extLst>
              <a:ext uri="{FF2B5EF4-FFF2-40B4-BE49-F238E27FC236}">
                <a16:creationId xmlns:a16="http://schemas.microsoft.com/office/drawing/2014/main" id="{6389BCC9-6E0C-4B7B-8DE1-8CF80296141D}"/>
              </a:ext>
            </a:extLst>
          </p:cNvPr>
          <p:cNvSpPr/>
          <p:nvPr/>
        </p:nvSpPr>
        <p:spPr>
          <a:xfrm>
            <a:off x="3085886" y="2159092"/>
            <a:ext cx="72207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783791DE-E7E6-447C-8393-6E3F88EE8454}"/>
              </a:ext>
            </a:extLst>
          </p:cNvPr>
          <p:cNvSpPr/>
          <p:nvPr/>
        </p:nvSpPr>
        <p:spPr>
          <a:xfrm>
            <a:off x="7417513" y="2211046"/>
            <a:ext cx="72207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Connector: Elbow 14">
            <a:extLst>
              <a:ext uri="{FF2B5EF4-FFF2-40B4-BE49-F238E27FC236}">
                <a16:creationId xmlns:a16="http://schemas.microsoft.com/office/drawing/2014/main" id="{C8BE22A4-EC9C-43E0-AE5E-9C7638B5999C}"/>
              </a:ext>
            </a:extLst>
          </p:cNvPr>
          <p:cNvCxnSpPr>
            <a:stCxn id="11" idx="3"/>
            <a:endCxn id="1026" idx="3"/>
          </p:cNvCxnSpPr>
          <p:nvPr/>
        </p:nvCxnSpPr>
        <p:spPr>
          <a:xfrm flipH="1">
            <a:off x="10177670" y="2434378"/>
            <a:ext cx="1553212" cy="2539847"/>
          </a:xfrm>
          <a:prstGeom prst="bentConnector3">
            <a:avLst>
              <a:gd name="adj1" fmla="val -14718"/>
            </a:avLst>
          </a:prstGeom>
          <a:ln w="177800">
            <a:tailEnd type="triangle"/>
          </a:ln>
        </p:spPr>
        <p:style>
          <a:lnRef idx="1">
            <a:schemeClr val="accent1"/>
          </a:lnRef>
          <a:fillRef idx="0">
            <a:schemeClr val="accent1"/>
          </a:fillRef>
          <a:effectRef idx="0">
            <a:schemeClr val="accent1"/>
          </a:effectRef>
          <a:fontRef idx="minor">
            <a:schemeClr val="tx1"/>
          </a:fontRef>
        </p:style>
      </p:cxnSp>
      <p:sp>
        <p:nvSpPr>
          <p:cNvPr id="16" name="Footer Placeholder 45">
            <a:extLst>
              <a:ext uri="{FF2B5EF4-FFF2-40B4-BE49-F238E27FC236}">
                <a16:creationId xmlns:a16="http://schemas.microsoft.com/office/drawing/2014/main" id="{149D4B6B-67D1-45EE-9089-D4B1E67F1613}"/>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122D05A8-CEE5-4C79-A3FC-20B34828AF3D}"/>
              </a:ext>
            </a:extLst>
          </p:cNvPr>
          <p:cNvSpPr txBox="1"/>
          <p:nvPr/>
        </p:nvSpPr>
        <p:spPr>
          <a:xfrm>
            <a:off x="289402" y="4218709"/>
            <a:ext cx="5351356" cy="1200329"/>
          </a:xfrm>
          <a:prstGeom prst="rect">
            <a:avLst/>
          </a:prstGeom>
          <a:noFill/>
        </p:spPr>
        <p:txBody>
          <a:bodyPr wrap="square" rtlCol="0">
            <a:spAutoFit/>
          </a:bodyPr>
          <a:lstStyle/>
          <a:p>
            <a:r>
              <a:rPr lang="en-US" dirty="0"/>
              <a:t>After creating the Association for Supplier Set in Product Set, we need to change the Supplier Get entity.</a:t>
            </a:r>
          </a:p>
          <a:p>
            <a:r>
              <a:rPr lang="en-US" dirty="0">
                <a:solidFill>
                  <a:schemeClr val="accent6"/>
                </a:solidFill>
              </a:rPr>
              <a:t>Code Link:</a:t>
            </a:r>
          </a:p>
          <a:p>
            <a:r>
              <a:rPr lang="en-US" dirty="0">
                <a:hlinkClick r:id="rId7"/>
              </a:rPr>
              <a:t>SUPPLIER_GET_ENTITY</a:t>
            </a:r>
            <a:r>
              <a:rPr lang="en-US" dirty="0"/>
              <a:t> (Association)</a:t>
            </a:r>
          </a:p>
        </p:txBody>
      </p:sp>
    </p:spTree>
    <p:extLst>
      <p:ext uri="{BB962C8B-B14F-4D97-AF65-F5344CB8AC3E}">
        <p14:creationId xmlns:p14="http://schemas.microsoft.com/office/powerpoint/2010/main" val="2212625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11668472" cy="923330"/>
          </a:xfrm>
          <a:prstGeom prst="rect">
            <a:avLst/>
          </a:prstGeom>
          <a:noFill/>
        </p:spPr>
        <p:txBody>
          <a:bodyPr wrap="square" rtlCol="0">
            <a:spAutoFit/>
          </a:bodyPr>
          <a:lstStyle/>
          <a:p>
            <a:pPr algn="just"/>
            <a:r>
              <a:rPr lang="en-US" dirty="0"/>
              <a:t>At times, we need to implement the logic inside of OData which is not a direct CRUD operation e.g. calling a workflow, calling a BAPI which does some processing, Sending request to another server and </a:t>
            </a:r>
            <a:r>
              <a:rPr lang="en-US" b="0" i="0" dirty="0">
                <a:effectLst/>
                <a:latin typeface="Benton Sans"/>
              </a:rPr>
              <a:t>can be invoked by the HTTP methods GET or POST .</a:t>
            </a:r>
            <a:endParaRPr lang="en-US" dirty="0"/>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sp>
        <p:nvSpPr>
          <p:cNvPr id="2" name="TextBox 1">
            <a:extLst>
              <a:ext uri="{FF2B5EF4-FFF2-40B4-BE49-F238E27FC236}">
                <a16:creationId xmlns:a16="http://schemas.microsoft.com/office/drawing/2014/main" id="{4BD68D54-EA22-479C-B797-1BAE902C2F63}"/>
              </a:ext>
            </a:extLst>
          </p:cNvPr>
          <p:cNvSpPr txBox="1"/>
          <p:nvPr/>
        </p:nvSpPr>
        <p:spPr>
          <a:xfrm>
            <a:off x="261763" y="1739924"/>
            <a:ext cx="11533071" cy="369332"/>
          </a:xfrm>
          <a:prstGeom prst="rect">
            <a:avLst/>
          </a:prstGeom>
          <a:noFill/>
        </p:spPr>
        <p:txBody>
          <a:bodyPr wrap="square" rtlCol="0">
            <a:spAutoFit/>
          </a:bodyPr>
          <a:lstStyle/>
          <a:p>
            <a:r>
              <a:rPr lang="en-US" b="1" dirty="0"/>
              <a:t>For example: </a:t>
            </a:r>
            <a:r>
              <a:rPr lang="en-US" dirty="0"/>
              <a:t>we can create the function import to GetMostExpensiveProduct in our Product set by the Category.</a:t>
            </a:r>
            <a:endParaRPr lang="en-IN" b="1" dirty="0"/>
          </a:p>
        </p:txBody>
      </p:sp>
      <p:sp>
        <p:nvSpPr>
          <p:cNvPr id="3" name="TextBox 2">
            <a:extLst>
              <a:ext uri="{FF2B5EF4-FFF2-40B4-BE49-F238E27FC236}">
                <a16:creationId xmlns:a16="http://schemas.microsoft.com/office/drawing/2014/main" id="{D33862A5-CE6D-4190-975D-2C98030EF56F}"/>
              </a:ext>
            </a:extLst>
          </p:cNvPr>
          <p:cNvSpPr txBox="1"/>
          <p:nvPr/>
        </p:nvSpPr>
        <p:spPr>
          <a:xfrm>
            <a:off x="261764" y="2016923"/>
            <a:ext cx="11533072" cy="646331"/>
          </a:xfrm>
          <a:prstGeom prst="rect">
            <a:avLst/>
          </a:prstGeom>
          <a:noFill/>
        </p:spPr>
        <p:txBody>
          <a:bodyPr wrap="square" rtlCol="0">
            <a:spAutoFit/>
          </a:bodyPr>
          <a:lstStyle/>
          <a:p>
            <a:pPr algn="just"/>
            <a:r>
              <a:rPr lang="en-US" b="1" dirty="0"/>
              <a:t>Step1: </a:t>
            </a:r>
            <a:r>
              <a:rPr lang="en-US" dirty="0"/>
              <a:t>Right click the Data Model folder and select Create and then select Function Import. Create Function Import dialog opens </a:t>
            </a:r>
            <a:endParaRPr lang="en-IN" dirty="0"/>
          </a:p>
        </p:txBody>
      </p:sp>
      <p:pic>
        <p:nvPicPr>
          <p:cNvPr id="7" name="Picture 6">
            <a:extLst>
              <a:ext uri="{FF2B5EF4-FFF2-40B4-BE49-F238E27FC236}">
                <a16:creationId xmlns:a16="http://schemas.microsoft.com/office/drawing/2014/main" id="{F955E166-4599-41F9-AF92-B92B4BD8F4BC}"/>
              </a:ext>
            </a:extLst>
          </p:cNvPr>
          <p:cNvPicPr>
            <a:picLocks noChangeAspect="1"/>
          </p:cNvPicPr>
          <p:nvPr/>
        </p:nvPicPr>
        <p:blipFill>
          <a:blip r:embed="rId3"/>
          <a:stretch>
            <a:fillRect/>
          </a:stretch>
        </p:blipFill>
        <p:spPr>
          <a:xfrm>
            <a:off x="415599" y="2855476"/>
            <a:ext cx="3528366" cy="2392887"/>
          </a:xfrm>
          <a:prstGeom prst="rect">
            <a:avLst/>
          </a:prstGeom>
        </p:spPr>
      </p:pic>
      <p:pic>
        <p:nvPicPr>
          <p:cNvPr id="11" name="Picture 10">
            <a:extLst>
              <a:ext uri="{FF2B5EF4-FFF2-40B4-BE49-F238E27FC236}">
                <a16:creationId xmlns:a16="http://schemas.microsoft.com/office/drawing/2014/main" id="{634EFEB2-74A7-4442-8B8B-FF3091A07F1C}"/>
              </a:ext>
            </a:extLst>
          </p:cNvPr>
          <p:cNvPicPr>
            <a:picLocks noChangeAspect="1"/>
          </p:cNvPicPr>
          <p:nvPr/>
        </p:nvPicPr>
        <p:blipFill>
          <a:blip r:embed="rId4"/>
          <a:stretch>
            <a:fillRect/>
          </a:stretch>
        </p:blipFill>
        <p:spPr>
          <a:xfrm>
            <a:off x="5778943" y="2855476"/>
            <a:ext cx="4938188" cy="2392887"/>
          </a:xfrm>
          <a:prstGeom prst="rect">
            <a:avLst/>
          </a:prstGeom>
        </p:spPr>
      </p:pic>
      <p:sp>
        <p:nvSpPr>
          <p:cNvPr id="12" name="Arrow: Chevron 11">
            <a:extLst>
              <a:ext uri="{FF2B5EF4-FFF2-40B4-BE49-F238E27FC236}">
                <a16:creationId xmlns:a16="http://schemas.microsoft.com/office/drawing/2014/main" id="{37E1A1BD-84A4-4D94-9EE8-859124A8B28B}"/>
              </a:ext>
            </a:extLst>
          </p:cNvPr>
          <p:cNvSpPr/>
          <p:nvPr/>
        </p:nvSpPr>
        <p:spPr>
          <a:xfrm>
            <a:off x="4378037" y="3325091"/>
            <a:ext cx="738910" cy="135060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Footer Placeholder 45">
            <a:extLst>
              <a:ext uri="{FF2B5EF4-FFF2-40B4-BE49-F238E27FC236}">
                <a16:creationId xmlns:a16="http://schemas.microsoft.com/office/drawing/2014/main" id="{6DBA8C3F-1B5A-4640-957F-BD5244876FCA}"/>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4240442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Calibri" panose="020F0502020204030204"/>
              </a:rPr>
              <a:t>Step2: </a:t>
            </a:r>
            <a:r>
              <a:rPr lang="en-US" dirty="0">
                <a:solidFill>
                  <a:prstClr val="black"/>
                </a:solidFill>
                <a:latin typeface="Calibri" panose="020F0502020204030204"/>
              </a:rPr>
              <a:t>Enter return type kind, return type, return cardinality &amp; HTTP method Type</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pic>
        <p:nvPicPr>
          <p:cNvPr id="3" name="Picture 2">
            <a:extLst>
              <a:ext uri="{FF2B5EF4-FFF2-40B4-BE49-F238E27FC236}">
                <a16:creationId xmlns:a16="http://schemas.microsoft.com/office/drawing/2014/main" id="{73B7C9EB-8F8A-4108-A4C7-427F9AD1A8DC}"/>
              </a:ext>
            </a:extLst>
          </p:cNvPr>
          <p:cNvPicPr>
            <a:picLocks noChangeAspect="1"/>
          </p:cNvPicPr>
          <p:nvPr/>
        </p:nvPicPr>
        <p:blipFill rotWithShape="1">
          <a:blip r:embed="rId3"/>
          <a:srcRect r="5220" b="61563"/>
          <a:stretch/>
        </p:blipFill>
        <p:spPr>
          <a:xfrm>
            <a:off x="307545" y="1361417"/>
            <a:ext cx="10928157" cy="1051564"/>
          </a:xfrm>
          <a:prstGeom prst="rect">
            <a:avLst/>
          </a:prstGeom>
        </p:spPr>
      </p:pic>
      <p:sp>
        <p:nvSpPr>
          <p:cNvPr id="6" name="TextBox 5">
            <a:extLst>
              <a:ext uri="{FF2B5EF4-FFF2-40B4-BE49-F238E27FC236}">
                <a16:creationId xmlns:a16="http://schemas.microsoft.com/office/drawing/2014/main" id="{FD1D4727-05F9-42FE-8FFB-C95726DDF9A2}"/>
              </a:ext>
            </a:extLst>
          </p:cNvPr>
          <p:cNvSpPr txBox="1"/>
          <p:nvPr/>
        </p:nvSpPr>
        <p:spPr>
          <a:xfrm>
            <a:off x="261764" y="2780145"/>
            <a:ext cx="10928157" cy="369332"/>
          </a:xfrm>
          <a:prstGeom prst="rect">
            <a:avLst/>
          </a:prstGeom>
          <a:noFill/>
        </p:spPr>
        <p:txBody>
          <a:bodyPr wrap="square" rtlCol="0">
            <a:spAutoFit/>
          </a:bodyPr>
          <a:lstStyle/>
          <a:p>
            <a:r>
              <a:rPr lang="en-US" b="1" dirty="0"/>
              <a:t>Step3: </a:t>
            </a:r>
            <a:r>
              <a:rPr lang="en-US" dirty="0"/>
              <a:t>Giving function import parameters (I_CATEGORY)</a:t>
            </a:r>
            <a:endParaRPr lang="en-IN" b="1" dirty="0"/>
          </a:p>
        </p:txBody>
      </p:sp>
      <p:pic>
        <p:nvPicPr>
          <p:cNvPr id="9" name="Picture 8">
            <a:extLst>
              <a:ext uri="{FF2B5EF4-FFF2-40B4-BE49-F238E27FC236}">
                <a16:creationId xmlns:a16="http://schemas.microsoft.com/office/drawing/2014/main" id="{16043991-4891-4FF7-A6CC-926285D415DD}"/>
              </a:ext>
            </a:extLst>
          </p:cNvPr>
          <p:cNvPicPr>
            <a:picLocks noChangeAspect="1"/>
          </p:cNvPicPr>
          <p:nvPr/>
        </p:nvPicPr>
        <p:blipFill rotWithShape="1">
          <a:blip r:embed="rId4"/>
          <a:srcRect r="2816"/>
          <a:stretch/>
        </p:blipFill>
        <p:spPr>
          <a:xfrm>
            <a:off x="261764" y="3262873"/>
            <a:ext cx="10973938" cy="2435816"/>
          </a:xfrm>
          <a:prstGeom prst="rect">
            <a:avLst/>
          </a:prstGeom>
        </p:spPr>
      </p:pic>
      <p:sp>
        <p:nvSpPr>
          <p:cNvPr id="12" name="Footer Placeholder 45">
            <a:extLst>
              <a:ext uri="{FF2B5EF4-FFF2-40B4-BE49-F238E27FC236}">
                <a16:creationId xmlns:a16="http://schemas.microsoft.com/office/drawing/2014/main" id="{4C28D26F-5BDD-4DD3-A2E7-F58D8D12CBF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31337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1129200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Step4: </a:t>
            </a: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Go to DPC Extension and search for the method--</a:t>
            </a:r>
            <a:r>
              <a:rPr lang="en-US" sz="1800" b="1" dirty="0">
                <a:solidFill>
                  <a:srgbClr val="000000"/>
                </a:solidFill>
                <a:effectLst/>
                <a:latin typeface="Calibri" panose="020F0502020204030204" pitchFamily="34" charset="0"/>
                <a:cs typeface="Calibri" panose="020F0502020204030204" pitchFamily="34" charset="0"/>
              </a:rPr>
              <a:t>/IWBEP/IF_MGW_APPL_SRV_RUNTIME</a:t>
            </a:r>
            <a:r>
              <a:rPr lang="en-US" sz="1800" b="1" dirty="0">
                <a:effectLst/>
                <a:latin typeface="Calibri" panose="020F0502020204030204" pitchFamily="34" charset="0"/>
                <a:cs typeface="Calibri" panose="020F0502020204030204" pitchFamily="34" charset="0"/>
              </a:rPr>
              <a:t>~</a:t>
            </a:r>
            <a:r>
              <a:rPr lang="en-US" sz="1800" b="1" dirty="0">
                <a:solidFill>
                  <a:srgbClr val="000000"/>
                </a:solidFill>
                <a:effectLst/>
                <a:latin typeface="Calibri" panose="020F0502020204030204" pitchFamily="34" charset="0"/>
                <a:cs typeface="Calibri" panose="020F0502020204030204" pitchFamily="34" charset="0"/>
              </a:rPr>
              <a:t>EXECUTE_ACTION </a:t>
            </a:r>
            <a:r>
              <a:rPr lang="en-US" sz="1800" dirty="0">
                <a:solidFill>
                  <a:srgbClr val="000000"/>
                </a:solidFill>
                <a:effectLst/>
                <a:latin typeface="Calibri" panose="020F0502020204030204" pitchFamily="34" charset="0"/>
                <a:cs typeface="Calibri" panose="020F0502020204030204" pitchFamily="34" charset="0"/>
              </a:rPr>
              <a:t>and redefine the class</a:t>
            </a:r>
            <a:r>
              <a:rPr lang="en-US" dirty="0"/>
              <a:t> </a:t>
            </a: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 method</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pic>
        <p:nvPicPr>
          <p:cNvPr id="3" name="Picture 2">
            <a:extLst>
              <a:ext uri="{FF2B5EF4-FFF2-40B4-BE49-F238E27FC236}">
                <a16:creationId xmlns:a16="http://schemas.microsoft.com/office/drawing/2014/main" id="{3016C1C1-2186-4E9D-9699-BA5929052C72}"/>
              </a:ext>
            </a:extLst>
          </p:cNvPr>
          <p:cNvPicPr>
            <a:picLocks noChangeAspect="1"/>
          </p:cNvPicPr>
          <p:nvPr/>
        </p:nvPicPr>
        <p:blipFill>
          <a:blip r:embed="rId3"/>
          <a:stretch>
            <a:fillRect/>
          </a:stretch>
        </p:blipFill>
        <p:spPr>
          <a:xfrm>
            <a:off x="354127" y="1602011"/>
            <a:ext cx="4945237" cy="4247090"/>
          </a:xfrm>
          <a:prstGeom prst="rect">
            <a:avLst/>
          </a:prstGeom>
        </p:spPr>
      </p:pic>
      <p:pic>
        <p:nvPicPr>
          <p:cNvPr id="7" name="Picture 6">
            <a:extLst>
              <a:ext uri="{FF2B5EF4-FFF2-40B4-BE49-F238E27FC236}">
                <a16:creationId xmlns:a16="http://schemas.microsoft.com/office/drawing/2014/main" id="{98651AD8-CA5F-4C55-A9A8-D071A8412893}"/>
              </a:ext>
            </a:extLst>
          </p:cNvPr>
          <p:cNvPicPr>
            <a:picLocks noChangeAspect="1"/>
          </p:cNvPicPr>
          <p:nvPr/>
        </p:nvPicPr>
        <p:blipFill>
          <a:blip r:embed="rId4"/>
          <a:stretch>
            <a:fillRect/>
          </a:stretch>
        </p:blipFill>
        <p:spPr>
          <a:xfrm>
            <a:off x="6426253" y="1573859"/>
            <a:ext cx="5274601" cy="4247090"/>
          </a:xfrm>
          <a:prstGeom prst="rect">
            <a:avLst/>
          </a:prstGeom>
        </p:spPr>
      </p:pic>
      <p:sp>
        <p:nvSpPr>
          <p:cNvPr id="9" name="Arrow: Chevron 8">
            <a:extLst>
              <a:ext uri="{FF2B5EF4-FFF2-40B4-BE49-F238E27FC236}">
                <a16:creationId xmlns:a16="http://schemas.microsoft.com/office/drawing/2014/main" id="{6293501A-2BB1-4094-911A-1A095AE823BF}"/>
              </a:ext>
            </a:extLst>
          </p:cNvPr>
          <p:cNvSpPr/>
          <p:nvPr/>
        </p:nvSpPr>
        <p:spPr>
          <a:xfrm>
            <a:off x="5523345" y="3163669"/>
            <a:ext cx="572655" cy="1136073"/>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Footer Placeholder 45">
            <a:extLst>
              <a:ext uri="{FF2B5EF4-FFF2-40B4-BE49-F238E27FC236}">
                <a16:creationId xmlns:a16="http://schemas.microsoft.com/office/drawing/2014/main" id="{C1741F96-55C9-43D1-94B3-ED35623165F1}"/>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2" name="TextBox 1">
            <a:extLst>
              <a:ext uri="{FF2B5EF4-FFF2-40B4-BE49-F238E27FC236}">
                <a16:creationId xmlns:a16="http://schemas.microsoft.com/office/drawing/2014/main" id="{229065E6-00D1-41B7-8AB8-69A61EE5B47F}"/>
              </a:ext>
            </a:extLst>
          </p:cNvPr>
          <p:cNvSpPr txBox="1"/>
          <p:nvPr/>
        </p:nvSpPr>
        <p:spPr>
          <a:xfrm>
            <a:off x="354127" y="6172200"/>
            <a:ext cx="4508818" cy="369332"/>
          </a:xfrm>
          <a:prstGeom prst="rect">
            <a:avLst/>
          </a:prstGeom>
          <a:noFill/>
        </p:spPr>
        <p:txBody>
          <a:bodyPr wrap="square" rtlCol="0">
            <a:spAutoFit/>
          </a:bodyPr>
          <a:lstStyle/>
          <a:p>
            <a:r>
              <a:rPr lang="en-US" dirty="0"/>
              <a:t>Function Import Code: </a:t>
            </a:r>
            <a:r>
              <a:rPr lang="en-US" dirty="0">
                <a:hlinkClick r:id="rId5"/>
              </a:rPr>
              <a:t>funciton_import</a:t>
            </a:r>
            <a:endParaRPr lang="en-US" dirty="0"/>
          </a:p>
        </p:txBody>
      </p:sp>
    </p:spTree>
    <p:extLst>
      <p:ext uri="{BB962C8B-B14F-4D97-AF65-F5344CB8AC3E}">
        <p14:creationId xmlns:p14="http://schemas.microsoft.com/office/powerpoint/2010/main" val="17851568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703118"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Basics of Connectivity and Role of SCC</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1CB2C38A-B6B5-4109-9093-65CEEF01B63F}"/>
              </a:ext>
            </a:extLst>
          </p:cNvPr>
          <p:cNvSpPr txBox="1"/>
          <p:nvPr/>
        </p:nvSpPr>
        <p:spPr>
          <a:xfrm>
            <a:off x="526473"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Internet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698AF43B-DAAD-429B-BA9A-5F0616082582}"/>
              </a:ext>
            </a:extLst>
          </p:cNvPr>
          <p:cNvSpPr txBox="1"/>
          <p:nvPr/>
        </p:nvSpPr>
        <p:spPr>
          <a:xfrm>
            <a:off x="6232827"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Intranet</a:t>
            </a:r>
          </a:p>
        </p:txBody>
      </p:sp>
      <p:cxnSp>
        <p:nvCxnSpPr>
          <p:cNvPr id="9" name="Straight Connector 8">
            <a:extLst>
              <a:ext uri="{FF2B5EF4-FFF2-40B4-BE49-F238E27FC236}">
                <a16:creationId xmlns:a16="http://schemas.microsoft.com/office/drawing/2014/main" id="{85043B69-D394-4D0C-8292-7BB2118B8BB2}"/>
              </a:ext>
            </a:extLst>
          </p:cNvPr>
          <p:cNvCxnSpPr>
            <a:cxnSpLocks/>
          </p:cNvCxnSpPr>
          <p:nvPr/>
        </p:nvCxnSpPr>
        <p:spPr>
          <a:xfrm>
            <a:off x="5907768" y="899721"/>
            <a:ext cx="0" cy="5648861"/>
          </a:xfrm>
          <a:prstGeom prst="line">
            <a:avLst/>
          </a:prstGeom>
          <a:ln w="31750">
            <a:prstDash val="dash"/>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428869F6-F395-4228-93A7-439A7B1FABFD}"/>
              </a:ext>
            </a:extLst>
          </p:cNvPr>
          <p:cNvSpPr/>
          <p:nvPr/>
        </p:nvSpPr>
        <p:spPr>
          <a:xfrm>
            <a:off x="526473" y="1610802"/>
            <a:ext cx="4535049" cy="3260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AF18FC4-6E6F-48D3-B80D-835AC40878D3}"/>
              </a:ext>
            </a:extLst>
          </p:cNvPr>
          <p:cNvSpPr txBox="1"/>
          <p:nvPr/>
        </p:nvSpPr>
        <p:spPr>
          <a:xfrm>
            <a:off x="526473" y="1610802"/>
            <a:ext cx="2857182" cy="369332"/>
          </a:xfrm>
          <a:prstGeom prst="rect">
            <a:avLst/>
          </a:prstGeom>
          <a:noFill/>
        </p:spPr>
        <p:txBody>
          <a:bodyPr wrap="square" rtlCol="0">
            <a:spAutoFit/>
          </a:bodyPr>
          <a:lstStyle/>
          <a:p>
            <a:r>
              <a:rPr lang="en-US" dirty="0">
                <a:solidFill>
                  <a:schemeClr val="bg1"/>
                </a:solidFill>
              </a:rPr>
              <a:t>SAP BTP (PublicCloud)</a:t>
            </a:r>
            <a:endParaRPr lang="en-IN" dirty="0">
              <a:solidFill>
                <a:schemeClr val="bg1"/>
              </a:solidFill>
            </a:endParaRPr>
          </a:p>
        </p:txBody>
      </p:sp>
      <p:sp>
        <p:nvSpPr>
          <p:cNvPr id="12" name="Rectangle 11">
            <a:extLst>
              <a:ext uri="{FF2B5EF4-FFF2-40B4-BE49-F238E27FC236}">
                <a16:creationId xmlns:a16="http://schemas.microsoft.com/office/drawing/2014/main" id="{DF0539DB-03C6-4BDA-85B1-C6D7334C9DA7}"/>
              </a:ext>
            </a:extLst>
          </p:cNvPr>
          <p:cNvSpPr/>
          <p:nvPr/>
        </p:nvSpPr>
        <p:spPr>
          <a:xfrm>
            <a:off x="1043709" y="2539398"/>
            <a:ext cx="3500575" cy="82203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257AC1EB-BE6C-4A84-97A0-667B78DEC013}"/>
              </a:ext>
            </a:extLst>
          </p:cNvPr>
          <p:cNvSpPr txBox="1"/>
          <p:nvPr/>
        </p:nvSpPr>
        <p:spPr>
          <a:xfrm>
            <a:off x="1302150" y="2772365"/>
            <a:ext cx="3343562" cy="369332"/>
          </a:xfrm>
          <a:prstGeom prst="rect">
            <a:avLst/>
          </a:prstGeom>
          <a:noFill/>
        </p:spPr>
        <p:txBody>
          <a:bodyPr wrap="square" rtlCol="0">
            <a:spAutoFit/>
          </a:bodyPr>
          <a:lstStyle/>
          <a:p>
            <a:r>
              <a:rPr lang="en-US" dirty="0">
                <a:solidFill>
                  <a:schemeClr val="bg1"/>
                </a:solidFill>
              </a:rPr>
              <a:t>SAP Business Application Studio</a:t>
            </a:r>
            <a:endParaRPr lang="en-IN" dirty="0">
              <a:solidFill>
                <a:schemeClr val="bg1"/>
              </a:solidFill>
            </a:endParaRPr>
          </a:p>
        </p:txBody>
      </p:sp>
      <p:pic>
        <p:nvPicPr>
          <p:cNvPr id="14" name="Picture 13">
            <a:extLst>
              <a:ext uri="{FF2B5EF4-FFF2-40B4-BE49-F238E27FC236}">
                <a16:creationId xmlns:a16="http://schemas.microsoft.com/office/drawing/2014/main" id="{C4FD1646-9436-4141-8175-86D77294C483}"/>
              </a:ext>
            </a:extLst>
          </p:cNvPr>
          <p:cNvPicPr>
            <a:picLocks noChangeAspect="1"/>
          </p:cNvPicPr>
          <p:nvPr/>
        </p:nvPicPr>
        <p:blipFill>
          <a:blip r:embed="rId3"/>
          <a:stretch>
            <a:fillRect/>
          </a:stretch>
        </p:blipFill>
        <p:spPr>
          <a:xfrm>
            <a:off x="1043709" y="2557211"/>
            <a:ext cx="188323" cy="215154"/>
          </a:xfrm>
          <a:prstGeom prst="rect">
            <a:avLst/>
          </a:prstGeom>
        </p:spPr>
      </p:pic>
      <p:sp>
        <p:nvSpPr>
          <p:cNvPr id="15" name="Rectangle 14">
            <a:extLst>
              <a:ext uri="{FF2B5EF4-FFF2-40B4-BE49-F238E27FC236}">
                <a16:creationId xmlns:a16="http://schemas.microsoft.com/office/drawing/2014/main" id="{C6CBD787-6CCF-4ABF-ACF7-57B09DF79473}"/>
              </a:ext>
            </a:extLst>
          </p:cNvPr>
          <p:cNvSpPr/>
          <p:nvPr/>
        </p:nvSpPr>
        <p:spPr>
          <a:xfrm>
            <a:off x="1524000" y="3574473"/>
            <a:ext cx="2410689" cy="60036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Destination</a:t>
            </a:r>
            <a:endParaRPr lang="en-IN" dirty="0"/>
          </a:p>
        </p:txBody>
      </p:sp>
      <p:sp>
        <p:nvSpPr>
          <p:cNvPr id="16" name="Rectangle 15">
            <a:extLst>
              <a:ext uri="{FF2B5EF4-FFF2-40B4-BE49-F238E27FC236}">
                <a16:creationId xmlns:a16="http://schemas.microsoft.com/office/drawing/2014/main" id="{40E66401-2E03-49B4-AD27-5C13F7A4F9E4}"/>
              </a:ext>
            </a:extLst>
          </p:cNvPr>
          <p:cNvSpPr/>
          <p:nvPr/>
        </p:nvSpPr>
        <p:spPr>
          <a:xfrm>
            <a:off x="526473"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 Hana Cloud</a:t>
            </a:r>
            <a:endParaRPr lang="en-IN" dirty="0"/>
          </a:p>
        </p:txBody>
      </p:sp>
      <p:sp>
        <p:nvSpPr>
          <p:cNvPr id="17" name="Rectangle 16">
            <a:extLst>
              <a:ext uri="{FF2B5EF4-FFF2-40B4-BE49-F238E27FC236}">
                <a16:creationId xmlns:a16="http://schemas.microsoft.com/office/drawing/2014/main" id="{1A54C1AF-C23F-47D5-8BB6-6907D2932C97}"/>
              </a:ext>
            </a:extLst>
          </p:cNvPr>
          <p:cNvSpPr/>
          <p:nvPr/>
        </p:nvSpPr>
        <p:spPr>
          <a:xfrm>
            <a:off x="2230581"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Field Glass</a:t>
            </a:r>
            <a:endParaRPr lang="en-IN" dirty="0"/>
          </a:p>
        </p:txBody>
      </p:sp>
      <p:sp>
        <p:nvSpPr>
          <p:cNvPr id="18" name="Rectangle 17">
            <a:extLst>
              <a:ext uri="{FF2B5EF4-FFF2-40B4-BE49-F238E27FC236}">
                <a16:creationId xmlns:a16="http://schemas.microsoft.com/office/drawing/2014/main" id="{8D5B2DB5-1753-4004-86CC-2736A25C6396}"/>
              </a:ext>
            </a:extLst>
          </p:cNvPr>
          <p:cNvSpPr/>
          <p:nvPr/>
        </p:nvSpPr>
        <p:spPr>
          <a:xfrm>
            <a:off x="3934689" y="521298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Sales Force</a:t>
            </a:r>
            <a:endParaRPr lang="en-IN" dirty="0"/>
          </a:p>
        </p:txBody>
      </p:sp>
      <p:cxnSp>
        <p:nvCxnSpPr>
          <p:cNvPr id="19" name="Connector: Elbow 18">
            <a:extLst>
              <a:ext uri="{FF2B5EF4-FFF2-40B4-BE49-F238E27FC236}">
                <a16:creationId xmlns:a16="http://schemas.microsoft.com/office/drawing/2014/main" id="{179B78C3-3963-4A54-A6A0-1780D87940DB}"/>
              </a:ext>
            </a:extLst>
          </p:cNvPr>
          <p:cNvCxnSpPr>
            <a:stCxn id="15" idx="2"/>
            <a:endCxn id="16" idx="0"/>
          </p:cNvCxnSpPr>
          <p:nvPr/>
        </p:nvCxnSpPr>
        <p:spPr>
          <a:xfrm rot="5400000">
            <a:off x="1383146" y="3816927"/>
            <a:ext cx="988291" cy="1704109"/>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1" name="Connector: Elbow 20">
            <a:extLst>
              <a:ext uri="{FF2B5EF4-FFF2-40B4-BE49-F238E27FC236}">
                <a16:creationId xmlns:a16="http://schemas.microsoft.com/office/drawing/2014/main" id="{8B1ADA6D-7383-40FD-A4B8-D0A2CF3416AE}"/>
              </a:ext>
            </a:extLst>
          </p:cNvPr>
          <p:cNvCxnSpPr>
            <a:cxnSpLocks/>
          </p:cNvCxnSpPr>
          <p:nvPr/>
        </p:nvCxnSpPr>
        <p:spPr>
          <a:xfrm rot="16200000" flipH="1">
            <a:off x="3055856" y="3788647"/>
            <a:ext cx="1038151" cy="1704107"/>
          </a:xfrm>
          <a:prstGeom prst="bentConnector3">
            <a:avLst>
              <a:gd name="adj1" fmla="val 5266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3" name="Straight Arrow Connector 22">
            <a:extLst>
              <a:ext uri="{FF2B5EF4-FFF2-40B4-BE49-F238E27FC236}">
                <a16:creationId xmlns:a16="http://schemas.microsoft.com/office/drawing/2014/main" id="{3F969A7B-CFD1-435F-AD37-9F0B2843051C}"/>
              </a:ext>
            </a:extLst>
          </p:cNvPr>
          <p:cNvCxnSpPr>
            <a:stCxn id="15" idx="2"/>
            <a:endCxn id="17" idx="0"/>
          </p:cNvCxnSpPr>
          <p:nvPr/>
        </p:nvCxnSpPr>
        <p:spPr>
          <a:xfrm flipH="1">
            <a:off x="2729344" y="4174836"/>
            <a:ext cx="1" cy="98829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4" name="Cylinder 23">
            <a:extLst>
              <a:ext uri="{FF2B5EF4-FFF2-40B4-BE49-F238E27FC236}">
                <a16:creationId xmlns:a16="http://schemas.microsoft.com/office/drawing/2014/main" id="{F1BE7DA0-00C4-4896-A83B-EC47EBC53114}"/>
              </a:ext>
            </a:extLst>
          </p:cNvPr>
          <p:cNvSpPr/>
          <p:nvPr/>
        </p:nvSpPr>
        <p:spPr>
          <a:xfrm rot="5400000">
            <a:off x="5568048" y="2587682"/>
            <a:ext cx="711081" cy="119804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4A81649B-9D48-4F2A-A7C1-A8AF7BBE399F}"/>
              </a:ext>
            </a:extLst>
          </p:cNvPr>
          <p:cNvSpPr txBox="1"/>
          <p:nvPr/>
        </p:nvSpPr>
        <p:spPr>
          <a:xfrm>
            <a:off x="5582710" y="2978464"/>
            <a:ext cx="720620" cy="369332"/>
          </a:xfrm>
          <a:prstGeom prst="rect">
            <a:avLst/>
          </a:prstGeom>
          <a:noFill/>
        </p:spPr>
        <p:txBody>
          <a:bodyPr wrap="square" rtlCol="0">
            <a:spAutoFit/>
          </a:bodyPr>
          <a:lstStyle/>
          <a:p>
            <a:r>
              <a:rPr lang="en-US" dirty="0">
                <a:solidFill>
                  <a:schemeClr val="bg1"/>
                </a:solidFill>
              </a:rPr>
              <a:t>SCC</a:t>
            </a:r>
            <a:endParaRPr lang="en-IN" dirty="0">
              <a:solidFill>
                <a:schemeClr val="bg1"/>
              </a:solidFill>
            </a:endParaRPr>
          </a:p>
        </p:txBody>
      </p:sp>
      <p:cxnSp>
        <p:nvCxnSpPr>
          <p:cNvPr id="26" name="Connector: Elbow 25">
            <a:extLst>
              <a:ext uri="{FF2B5EF4-FFF2-40B4-BE49-F238E27FC236}">
                <a16:creationId xmlns:a16="http://schemas.microsoft.com/office/drawing/2014/main" id="{CCBE69AC-907D-40DC-9E8F-88B973FDD0F8}"/>
              </a:ext>
            </a:extLst>
          </p:cNvPr>
          <p:cNvCxnSpPr>
            <a:stCxn id="15" idx="3"/>
            <a:endCxn id="24" idx="3"/>
          </p:cNvCxnSpPr>
          <p:nvPr/>
        </p:nvCxnSpPr>
        <p:spPr>
          <a:xfrm flipV="1">
            <a:off x="3934689" y="3186704"/>
            <a:ext cx="1389879" cy="687951"/>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7" name="Straight Arrow Connector 26">
            <a:extLst>
              <a:ext uri="{FF2B5EF4-FFF2-40B4-BE49-F238E27FC236}">
                <a16:creationId xmlns:a16="http://schemas.microsoft.com/office/drawing/2014/main" id="{D4762D09-D7A9-46E4-B595-927738F2E3AE}"/>
              </a:ext>
            </a:extLst>
          </p:cNvPr>
          <p:cNvCxnSpPr>
            <a:cxnSpLocks/>
            <a:stCxn id="24" idx="1"/>
            <a:endCxn id="28" idx="1"/>
          </p:cNvCxnSpPr>
          <p:nvPr/>
        </p:nvCxnSpPr>
        <p:spPr>
          <a:xfrm flipV="1">
            <a:off x="6522610" y="3186703"/>
            <a:ext cx="1947128"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8" name="Rectangle: Rounded Corners 27">
            <a:extLst>
              <a:ext uri="{FF2B5EF4-FFF2-40B4-BE49-F238E27FC236}">
                <a16:creationId xmlns:a16="http://schemas.microsoft.com/office/drawing/2014/main" id="{F5221982-C211-413B-9F73-3DC0C5BE56FB}"/>
              </a:ext>
            </a:extLst>
          </p:cNvPr>
          <p:cNvSpPr/>
          <p:nvPr/>
        </p:nvSpPr>
        <p:spPr>
          <a:xfrm>
            <a:off x="8469738" y="1441276"/>
            <a:ext cx="2942613" cy="34908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SAP BW</a:t>
            </a:r>
          </a:p>
          <a:p>
            <a:pPr algn="ctr"/>
            <a:r>
              <a:rPr lang="en-US" dirty="0"/>
              <a:t>SAP ECC</a:t>
            </a:r>
          </a:p>
          <a:p>
            <a:pPr algn="ctr"/>
            <a:r>
              <a:rPr lang="en-US" dirty="0"/>
              <a:t>SAP S/4 Hana</a:t>
            </a:r>
            <a:endParaRPr lang="en-IN" dirty="0"/>
          </a:p>
        </p:txBody>
      </p:sp>
      <p:sp>
        <p:nvSpPr>
          <p:cNvPr id="29" name="TextBox 28">
            <a:extLst>
              <a:ext uri="{FF2B5EF4-FFF2-40B4-BE49-F238E27FC236}">
                <a16:creationId xmlns:a16="http://schemas.microsoft.com/office/drawing/2014/main" id="{D8036F2F-8E82-40FA-A283-0050BF819AE4}"/>
              </a:ext>
            </a:extLst>
          </p:cNvPr>
          <p:cNvSpPr txBox="1"/>
          <p:nvPr/>
        </p:nvSpPr>
        <p:spPr>
          <a:xfrm>
            <a:off x="8788908" y="1531716"/>
            <a:ext cx="2591770" cy="369332"/>
          </a:xfrm>
          <a:prstGeom prst="rect">
            <a:avLst/>
          </a:prstGeom>
          <a:noFill/>
        </p:spPr>
        <p:txBody>
          <a:bodyPr wrap="square" rtlCol="0">
            <a:spAutoFit/>
          </a:bodyPr>
          <a:lstStyle/>
          <a:p>
            <a:r>
              <a:rPr lang="en-US" dirty="0">
                <a:solidFill>
                  <a:schemeClr val="bg1"/>
                </a:solidFill>
              </a:rPr>
              <a:t>SAP On-premise System</a:t>
            </a:r>
            <a:endParaRPr lang="en-IN" dirty="0">
              <a:solidFill>
                <a:schemeClr val="bg1"/>
              </a:solidFill>
            </a:endParaRPr>
          </a:p>
        </p:txBody>
      </p:sp>
      <p:sp>
        <p:nvSpPr>
          <p:cNvPr id="30" name="Speech Bubble: Oval 29">
            <a:extLst>
              <a:ext uri="{FF2B5EF4-FFF2-40B4-BE49-F238E27FC236}">
                <a16:creationId xmlns:a16="http://schemas.microsoft.com/office/drawing/2014/main" id="{A6B5DBEC-38B2-445A-A91C-BB0993BF1599}"/>
              </a:ext>
            </a:extLst>
          </p:cNvPr>
          <p:cNvSpPr/>
          <p:nvPr/>
        </p:nvSpPr>
        <p:spPr>
          <a:xfrm>
            <a:off x="6203746" y="1618879"/>
            <a:ext cx="1970014" cy="616966"/>
          </a:xfrm>
          <a:prstGeom prst="wedgeEllipseCallout">
            <a:avLst>
              <a:gd name="adj1" fmla="val -61801"/>
              <a:gd name="adj2" fmla="val 145242"/>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SAP Cloud Connector</a:t>
            </a:r>
          </a:p>
        </p:txBody>
      </p:sp>
    </p:spTree>
    <p:extLst>
      <p:ext uri="{BB962C8B-B14F-4D97-AF65-F5344CB8AC3E}">
        <p14:creationId xmlns:p14="http://schemas.microsoft.com/office/powerpoint/2010/main" val="2029224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Step 1: </a:t>
            </a:r>
            <a:r>
              <a:rPr kumimoji="0" lang="en-US" sz="180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Download SAP JVM and Extract it in the C:\Program Files\Java</a:t>
            </a:r>
            <a:endParaRPr kumimoji="0" lang="en-IN"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440086AB-90E7-4B9D-B483-F53AD9342434}"/>
              </a:ext>
            </a:extLst>
          </p:cNvPr>
          <p:cNvPicPr>
            <a:picLocks noChangeAspect="1"/>
          </p:cNvPicPr>
          <p:nvPr/>
        </p:nvPicPr>
        <p:blipFill>
          <a:blip r:embed="rId3"/>
          <a:stretch>
            <a:fillRect/>
          </a:stretch>
        </p:blipFill>
        <p:spPr>
          <a:xfrm>
            <a:off x="542321" y="1717962"/>
            <a:ext cx="5021436" cy="3722255"/>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22D56B5D-6650-42FB-BA6A-73F688023C82}"/>
              </a:ext>
            </a:extLst>
          </p:cNvPr>
          <p:cNvPicPr>
            <a:picLocks noChangeAspect="1"/>
          </p:cNvPicPr>
          <p:nvPr/>
        </p:nvPicPr>
        <p:blipFill>
          <a:blip r:embed="rId4"/>
          <a:stretch>
            <a:fillRect/>
          </a:stretch>
        </p:blipFill>
        <p:spPr>
          <a:xfrm>
            <a:off x="7364846" y="1980134"/>
            <a:ext cx="4008583" cy="3338439"/>
          </a:xfrm>
          <a:prstGeom prst="rect">
            <a:avLst/>
          </a:prstGeom>
        </p:spPr>
        <p:style>
          <a:lnRef idx="2">
            <a:schemeClr val="dk1"/>
          </a:lnRef>
          <a:fillRef idx="1">
            <a:schemeClr val="lt1"/>
          </a:fillRef>
          <a:effectRef idx="0">
            <a:schemeClr val="dk1"/>
          </a:effectRef>
          <a:fontRef idx="minor">
            <a:schemeClr val="dk1"/>
          </a:fontRef>
        </p:style>
      </p:pic>
      <p:sp>
        <p:nvSpPr>
          <p:cNvPr id="9" name="Arrow: Right 8">
            <a:extLst>
              <a:ext uri="{FF2B5EF4-FFF2-40B4-BE49-F238E27FC236}">
                <a16:creationId xmlns:a16="http://schemas.microsoft.com/office/drawing/2014/main" id="{D2317EBD-30DC-4D49-BD24-BD23B217E780}"/>
              </a:ext>
            </a:extLst>
          </p:cNvPr>
          <p:cNvSpPr/>
          <p:nvPr/>
        </p:nvSpPr>
        <p:spPr>
          <a:xfrm>
            <a:off x="5900883" y="3387271"/>
            <a:ext cx="1376220" cy="5241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68915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2: </a:t>
            </a:r>
            <a:r>
              <a:rPr lang="en-US" dirty="0">
                <a:solidFill>
                  <a:prstClr val="black"/>
                </a:solidFill>
                <a:latin typeface="Calibri" panose="020F0502020204030204"/>
              </a:rPr>
              <a:t>Download and install the sap Cloud connector</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hlinkClick r:id="rId3"/>
            <a:extLst>
              <a:ext uri="{FF2B5EF4-FFF2-40B4-BE49-F238E27FC236}">
                <a16:creationId xmlns:a16="http://schemas.microsoft.com/office/drawing/2014/main" id="{44E878C0-98F5-4E17-9A18-2446DC8A12D9}"/>
              </a:ext>
            </a:extLst>
          </p:cNvPr>
          <p:cNvPicPr>
            <a:picLocks noChangeAspect="1"/>
          </p:cNvPicPr>
          <p:nvPr/>
        </p:nvPicPr>
        <p:blipFill>
          <a:blip r:embed="rId4"/>
          <a:stretch>
            <a:fillRect/>
          </a:stretch>
        </p:blipFill>
        <p:spPr>
          <a:xfrm>
            <a:off x="363366" y="1421042"/>
            <a:ext cx="2675904" cy="2218083"/>
          </a:xfrm>
          <a:prstGeom prst="rect">
            <a:avLst/>
          </a:prstGeom>
        </p:spPr>
      </p:pic>
      <p:pic>
        <p:nvPicPr>
          <p:cNvPr id="7" name="Picture 6">
            <a:extLst>
              <a:ext uri="{FF2B5EF4-FFF2-40B4-BE49-F238E27FC236}">
                <a16:creationId xmlns:a16="http://schemas.microsoft.com/office/drawing/2014/main" id="{8CA8EB1B-1116-4319-9D6D-09A3889A98BC}"/>
              </a:ext>
            </a:extLst>
          </p:cNvPr>
          <p:cNvPicPr>
            <a:picLocks noChangeAspect="1"/>
          </p:cNvPicPr>
          <p:nvPr/>
        </p:nvPicPr>
        <p:blipFill>
          <a:blip r:embed="rId5"/>
          <a:stretch>
            <a:fillRect/>
          </a:stretch>
        </p:blipFill>
        <p:spPr>
          <a:xfrm>
            <a:off x="4036290" y="1487265"/>
            <a:ext cx="2814865" cy="2273366"/>
          </a:xfrm>
          <a:prstGeom prst="rect">
            <a:avLst/>
          </a:prstGeom>
        </p:spPr>
      </p:pic>
      <p:pic>
        <p:nvPicPr>
          <p:cNvPr id="9" name="Picture 8">
            <a:extLst>
              <a:ext uri="{FF2B5EF4-FFF2-40B4-BE49-F238E27FC236}">
                <a16:creationId xmlns:a16="http://schemas.microsoft.com/office/drawing/2014/main" id="{4EB1FC95-0CCB-4D3B-81CA-9EDFA42678D8}"/>
              </a:ext>
            </a:extLst>
          </p:cNvPr>
          <p:cNvPicPr>
            <a:picLocks noChangeAspect="1"/>
          </p:cNvPicPr>
          <p:nvPr/>
        </p:nvPicPr>
        <p:blipFill>
          <a:blip r:embed="rId6"/>
          <a:stretch>
            <a:fillRect/>
          </a:stretch>
        </p:blipFill>
        <p:spPr>
          <a:xfrm>
            <a:off x="7748950" y="1487265"/>
            <a:ext cx="2814865" cy="2273366"/>
          </a:xfrm>
          <a:prstGeom prst="rect">
            <a:avLst/>
          </a:prstGeom>
        </p:spPr>
      </p:pic>
      <p:pic>
        <p:nvPicPr>
          <p:cNvPr id="10" name="Picture 9">
            <a:extLst>
              <a:ext uri="{FF2B5EF4-FFF2-40B4-BE49-F238E27FC236}">
                <a16:creationId xmlns:a16="http://schemas.microsoft.com/office/drawing/2014/main" id="{8E0F6026-D427-4B71-858A-C808C3FFA679}"/>
              </a:ext>
            </a:extLst>
          </p:cNvPr>
          <p:cNvPicPr>
            <a:picLocks noChangeAspect="1"/>
          </p:cNvPicPr>
          <p:nvPr/>
        </p:nvPicPr>
        <p:blipFill>
          <a:blip r:embed="rId7"/>
          <a:stretch>
            <a:fillRect/>
          </a:stretch>
        </p:blipFill>
        <p:spPr>
          <a:xfrm>
            <a:off x="7748949" y="4234052"/>
            <a:ext cx="2814866" cy="2273366"/>
          </a:xfrm>
          <a:prstGeom prst="rect">
            <a:avLst/>
          </a:prstGeom>
        </p:spPr>
      </p:pic>
      <p:pic>
        <p:nvPicPr>
          <p:cNvPr id="11" name="Picture 10">
            <a:extLst>
              <a:ext uri="{FF2B5EF4-FFF2-40B4-BE49-F238E27FC236}">
                <a16:creationId xmlns:a16="http://schemas.microsoft.com/office/drawing/2014/main" id="{F46089C1-F917-45D2-96A0-DDDB6F2AEC42}"/>
              </a:ext>
            </a:extLst>
          </p:cNvPr>
          <p:cNvPicPr>
            <a:picLocks noChangeAspect="1"/>
          </p:cNvPicPr>
          <p:nvPr/>
        </p:nvPicPr>
        <p:blipFill>
          <a:blip r:embed="rId8"/>
          <a:stretch>
            <a:fillRect/>
          </a:stretch>
        </p:blipFill>
        <p:spPr>
          <a:xfrm>
            <a:off x="4036290" y="4234052"/>
            <a:ext cx="2814865" cy="2273366"/>
          </a:xfrm>
          <a:prstGeom prst="rect">
            <a:avLst/>
          </a:prstGeom>
        </p:spPr>
      </p:pic>
      <p:pic>
        <p:nvPicPr>
          <p:cNvPr id="12" name="Picture 11">
            <a:extLst>
              <a:ext uri="{FF2B5EF4-FFF2-40B4-BE49-F238E27FC236}">
                <a16:creationId xmlns:a16="http://schemas.microsoft.com/office/drawing/2014/main" id="{12815AF0-63BD-4459-A667-AAB294C69594}"/>
              </a:ext>
            </a:extLst>
          </p:cNvPr>
          <p:cNvPicPr>
            <a:picLocks noChangeAspect="1"/>
          </p:cNvPicPr>
          <p:nvPr/>
        </p:nvPicPr>
        <p:blipFill>
          <a:blip r:embed="rId9"/>
          <a:stretch>
            <a:fillRect/>
          </a:stretch>
        </p:blipFill>
        <p:spPr>
          <a:xfrm>
            <a:off x="363366" y="4234052"/>
            <a:ext cx="2814866" cy="2273366"/>
          </a:xfrm>
          <a:prstGeom prst="rect">
            <a:avLst/>
          </a:prstGeom>
        </p:spPr>
      </p:pic>
      <p:sp>
        <p:nvSpPr>
          <p:cNvPr id="13" name="Arrow: Right 12">
            <a:extLst>
              <a:ext uri="{FF2B5EF4-FFF2-40B4-BE49-F238E27FC236}">
                <a16:creationId xmlns:a16="http://schemas.microsoft.com/office/drawing/2014/main" id="{F27AF91D-19E9-4B88-A246-1668EEBA1113}"/>
              </a:ext>
            </a:extLst>
          </p:cNvPr>
          <p:cNvSpPr/>
          <p:nvPr/>
        </p:nvSpPr>
        <p:spPr>
          <a:xfrm>
            <a:off x="3088883" y="2530083"/>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C8BBE6FD-47DF-41A2-A16C-54E151B9579C}"/>
              </a:ext>
            </a:extLst>
          </p:cNvPr>
          <p:cNvSpPr/>
          <p:nvPr/>
        </p:nvSpPr>
        <p:spPr>
          <a:xfrm rot="10800000">
            <a:off x="6851154" y="4957004"/>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4224F668-4FEC-4E0D-946A-C5895CA775E5}"/>
              </a:ext>
            </a:extLst>
          </p:cNvPr>
          <p:cNvSpPr/>
          <p:nvPr/>
        </p:nvSpPr>
        <p:spPr>
          <a:xfrm>
            <a:off x="6851155" y="2465428"/>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76D7DAC0-C4E7-4FC1-855B-E15389AF9874}"/>
              </a:ext>
            </a:extLst>
          </p:cNvPr>
          <p:cNvSpPr/>
          <p:nvPr/>
        </p:nvSpPr>
        <p:spPr>
          <a:xfrm rot="10800000">
            <a:off x="3178232" y="4936626"/>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Connector: Elbow 16">
            <a:extLst>
              <a:ext uri="{FF2B5EF4-FFF2-40B4-BE49-F238E27FC236}">
                <a16:creationId xmlns:a16="http://schemas.microsoft.com/office/drawing/2014/main" id="{1F0FA73A-1394-45AD-8904-2CE301359DB0}"/>
              </a:ext>
            </a:extLst>
          </p:cNvPr>
          <p:cNvCxnSpPr>
            <a:stCxn id="9" idx="3"/>
            <a:endCxn id="10" idx="3"/>
          </p:cNvCxnSpPr>
          <p:nvPr/>
        </p:nvCxnSpPr>
        <p:spPr>
          <a:xfrm>
            <a:off x="10563815" y="2623948"/>
            <a:ext cx="12700" cy="2746787"/>
          </a:xfrm>
          <a:prstGeom prst="bentConnector3">
            <a:avLst>
              <a:gd name="adj1" fmla="val 8854543"/>
            </a:avLst>
          </a:prstGeom>
          <a:ln w="165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0307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203"/>
          </a:xfrm>
          <a:prstGeom prst="rect">
            <a:avLst/>
          </a:prstGeom>
          <a:noFill/>
        </p:spPr>
        <p:txBody>
          <a:bodyPr wrap="square" rtlCol="0">
            <a:spAutoFit/>
          </a:bodyPr>
          <a:lstStyle/>
          <a:p>
            <a:r>
              <a:rPr lang="en-US" b="1" dirty="0">
                <a:solidFill>
                  <a:prstClr val="black"/>
                </a:solidFill>
                <a:latin typeface="Calibri" panose="020F0502020204030204"/>
              </a:rPr>
              <a:t>Step 3: </a:t>
            </a:r>
            <a:r>
              <a:rPr lang="en-US" dirty="0">
                <a:solidFill>
                  <a:prstClr val="black"/>
                </a:solidFill>
                <a:latin typeface="Calibri" panose="020F0502020204030204"/>
              </a:rPr>
              <a:t>Now your system is ready go to browser and open </a:t>
            </a:r>
            <a:r>
              <a:rPr lang="en-US" dirty="0">
                <a:solidFill>
                  <a:prstClr val="black"/>
                </a:solidFill>
                <a:latin typeface="Calibri" panose="020F0502020204030204"/>
                <a:hlinkClick r:id="rId3"/>
              </a:rPr>
              <a:t>https://localhost:8443</a:t>
            </a:r>
            <a:r>
              <a:rPr lang="en-US" dirty="0">
                <a:solidFill>
                  <a:prstClr val="black"/>
                </a:solidFill>
                <a:latin typeface="Calibri" panose="020F0502020204030204"/>
              </a:rPr>
              <a:t> (port may changes)</a:t>
            </a:r>
          </a:p>
          <a:p>
            <a:r>
              <a:rPr lang="en-US" sz="1799" dirty="0">
                <a:solidFill>
                  <a:prstClr val="black"/>
                </a:solidFill>
                <a:latin typeface="Calibri"/>
              </a:rPr>
              <a:t>The default credentials are Administrator / manage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3BE16C7D-937A-42B3-8171-4FBFE2D3175F}"/>
              </a:ext>
            </a:extLst>
          </p:cNvPr>
          <p:cNvPicPr>
            <a:picLocks noChangeAspect="1"/>
          </p:cNvPicPr>
          <p:nvPr/>
        </p:nvPicPr>
        <p:blipFill>
          <a:blip r:embed="rId4"/>
          <a:stretch>
            <a:fillRect/>
          </a:stretch>
        </p:blipFill>
        <p:spPr>
          <a:xfrm>
            <a:off x="464047" y="1644124"/>
            <a:ext cx="4819154" cy="4314155"/>
          </a:xfrm>
          <a:prstGeom prst="rect">
            <a:avLst/>
          </a:prstGeom>
        </p:spPr>
      </p:pic>
      <p:pic>
        <p:nvPicPr>
          <p:cNvPr id="7" name="Picture 6">
            <a:extLst>
              <a:ext uri="{FF2B5EF4-FFF2-40B4-BE49-F238E27FC236}">
                <a16:creationId xmlns:a16="http://schemas.microsoft.com/office/drawing/2014/main" id="{6D610338-DEB5-48AD-BE92-65BB7EB119FE}"/>
              </a:ext>
            </a:extLst>
          </p:cNvPr>
          <p:cNvPicPr>
            <a:picLocks noChangeAspect="1"/>
          </p:cNvPicPr>
          <p:nvPr/>
        </p:nvPicPr>
        <p:blipFill>
          <a:blip r:embed="rId5"/>
          <a:stretch>
            <a:fillRect/>
          </a:stretch>
        </p:blipFill>
        <p:spPr>
          <a:xfrm>
            <a:off x="7062281" y="1610801"/>
            <a:ext cx="4707878" cy="4352817"/>
          </a:xfrm>
          <a:prstGeom prst="rect">
            <a:avLst/>
          </a:prstGeom>
        </p:spPr>
      </p:pic>
      <p:sp>
        <p:nvSpPr>
          <p:cNvPr id="9" name="Arrow: Right 8">
            <a:extLst>
              <a:ext uri="{FF2B5EF4-FFF2-40B4-BE49-F238E27FC236}">
                <a16:creationId xmlns:a16="http://schemas.microsoft.com/office/drawing/2014/main" id="{976697F7-C7DB-410A-BBB9-8A1D0772D6F8}"/>
              </a:ext>
            </a:extLst>
          </p:cNvPr>
          <p:cNvSpPr/>
          <p:nvPr/>
        </p:nvSpPr>
        <p:spPr>
          <a:xfrm>
            <a:off x="5463309" y="3429000"/>
            <a:ext cx="1265381" cy="591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84277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4: </a:t>
            </a:r>
            <a:r>
              <a:rPr lang="en-US" dirty="0">
                <a:solidFill>
                  <a:prstClr val="black"/>
                </a:solidFill>
                <a:latin typeface="Calibri" panose="020F0502020204030204"/>
              </a:rPr>
              <a:t>Now we create a connection with our Cloud Account</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07B25966-8F9B-44AB-9DAD-E03074719EAC}"/>
              </a:ext>
            </a:extLst>
          </p:cNvPr>
          <p:cNvPicPr>
            <a:picLocks noChangeAspect="1"/>
          </p:cNvPicPr>
          <p:nvPr/>
        </p:nvPicPr>
        <p:blipFill>
          <a:blip r:embed="rId3"/>
          <a:stretch>
            <a:fillRect/>
          </a:stretch>
        </p:blipFill>
        <p:spPr>
          <a:xfrm>
            <a:off x="561443" y="1309829"/>
            <a:ext cx="10861964" cy="4769081"/>
          </a:xfrm>
          <a:prstGeom prst="rect">
            <a:avLst/>
          </a:prstGeom>
        </p:spPr>
      </p:pic>
    </p:spTree>
    <p:extLst>
      <p:ext uri="{BB962C8B-B14F-4D97-AF65-F5344CB8AC3E}">
        <p14:creationId xmlns:p14="http://schemas.microsoft.com/office/powerpoint/2010/main" val="3128762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5: </a:t>
            </a:r>
            <a:r>
              <a:rPr lang="en-US" dirty="0">
                <a:solidFill>
                  <a:prstClr val="black"/>
                </a:solidFill>
                <a:latin typeface="Calibri" panose="020F0502020204030204"/>
              </a:rPr>
              <a:t>Check the connection on Hana Cloud Account </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93B02027-CE35-4B2C-8239-371D5ABCB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03" y="1218211"/>
            <a:ext cx="10252364" cy="4982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854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6: </a:t>
            </a:r>
            <a:r>
              <a:rPr lang="en-US" dirty="0">
                <a:solidFill>
                  <a:prstClr val="black"/>
                </a:solidFill>
                <a:latin typeface="Calibri" panose="020F0502020204030204"/>
              </a:rPr>
              <a:t>Connect on-premise system to cloud using SCC</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189A366-DA98-408E-97D4-F0D36518FBD0}"/>
              </a:ext>
            </a:extLst>
          </p:cNvPr>
          <p:cNvPicPr>
            <a:picLocks noChangeAspect="1"/>
          </p:cNvPicPr>
          <p:nvPr/>
        </p:nvPicPr>
        <p:blipFill>
          <a:blip r:embed="rId3"/>
          <a:stretch>
            <a:fillRect/>
          </a:stretch>
        </p:blipFill>
        <p:spPr>
          <a:xfrm>
            <a:off x="386456" y="1533287"/>
            <a:ext cx="2555327" cy="2266099"/>
          </a:xfrm>
          <a:prstGeom prst="rect">
            <a:avLst/>
          </a:prstGeom>
        </p:spPr>
      </p:pic>
      <p:pic>
        <p:nvPicPr>
          <p:cNvPr id="7" name="Picture 6">
            <a:extLst>
              <a:ext uri="{FF2B5EF4-FFF2-40B4-BE49-F238E27FC236}">
                <a16:creationId xmlns:a16="http://schemas.microsoft.com/office/drawing/2014/main" id="{3A762452-0A45-4718-99A6-002D09E24C38}"/>
              </a:ext>
            </a:extLst>
          </p:cNvPr>
          <p:cNvPicPr>
            <a:picLocks noChangeAspect="1"/>
          </p:cNvPicPr>
          <p:nvPr/>
        </p:nvPicPr>
        <p:blipFill>
          <a:blip r:embed="rId4"/>
          <a:stretch>
            <a:fillRect/>
          </a:stretch>
        </p:blipFill>
        <p:spPr>
          <a:xfrm>
            <a:off x="3714133" y="1533285"/>
            <a:ext cx="2318327" cy="2266099"/>
          </a:xfrm>
          <a:prstGeom prst="rect">
            <a:avLst/>
          </a:prstGeom>
        </p:spPr>
      </p:pic>
      <p:pic>
        <p:nvPicPr>
          <p:cNvPr id="9" name="Picture 8">
            <a:extLst>
              <a:ext uri="{FF2B5EF4-FFF2-40B4-BE49-F238E27FC236}">
                <a16:creationId xmlns:a16="http://schemas.microsoft.com/office/drawing/2014/main" id="{26C5A7C8-E72B-47AA-B0B9-6F5845FA28CB}"/>
              </a:ext>
            </a:extLst>
          </p:cNvPr>
          <p:cNvPicPr>
            <a:picLocks noChangeAspect="1"/>
          </p:cNvPicPr>
          <p:nvPr/>
        </p:nvPicPr>
        <p:blipFill>
          <a:blip r:embed="rId5"/>
          <a:stretch>
            <a:fillRect/>
          </a:stretch>
        </p:blipFill>
        <p:spPr>
          <a:xfrm>
            <a:off x="6754703" y="1504389"/>
            <a:ext cx="2318327" cy="2323889"/>
          </a:xfrm>
          <a:prstGeom prst="rect">
            <a:avLst/>
          </a:prstGeom>
        </p:spPr>
      </p:pic>
      <p:pic>
        <p:nvPicPr>
          <p:cNvPr id="10" name="Picture 9">
            <a:extLst>
              <a:ext uri="{FF2B5EF4-FFF2-40B4-BE49-F238E27FC236}">
                <a16:creationId xmlns:a16="http://schemas.microsoft.com/office/drawing/2014/main" id="{E52B1CB9-64BA-40E8-8190-5DED84E0A313}"/>
              </a:ext>
            </a:extLst>
          </p:cNvPr>
          <p:cNvPicPr>
            <a:picLocks noChangeAspect="1"/>
          </p:cNvPicPr>
          <p:nvPr/>
        </p:nvPicPr>
        <p:blipFill>
          <a:blip r:embed="rId6"/>
          <a:stretch>
            <a:fillRect/>
          </a:stretch>
        </p:blipFill>
        <p:spPr>
          <a:xfrm>
            <a:off x="9795274" y="1533285"/>
            <a:ext cx="2131778" cy="2323889"/>
          </a:xfrm>
          <a:prstGeom prst="rect">
            <a:avLst/>
          </a:prstGeom>
        </p:spPr>
      </p:pic>
      <p:pic>
        <p:nvPicPr>
          <p:cNvPr id="11" name="Picture 10">
            <a:extLst>
              <a:ext uri="{FF2B5EF4-FFF2-40B4-BE49-F238E27FC236}">
                <a16:creationId xmlns:a16="http://schemas.microsoft.com/office/drawing/2014/main" id="{DC3E081F-DDC3-4E90-83E5-D3B619EF1FED}"/>
              </a:ext>
            </a:extLst>
          </p:cNvPr>
          <p:cNvPicPr>
            <a:picLocks noChangeAspect="1"/>
          </p:cNvPicPr>
          <p:nvPr/>
        </p:nvPicPr>
        <p:blipFill>
          <a:blip r:embed="rId7"/>
          <a:stretch>
            <a:fillRect/>
          </a:stretch>
        </p:blipFill>
        <p:spPr>
          <a:xfrm>
            <a:off x="9795275" y="4248726"/>
            <a:ext cx="2131778" cy="1923968"/>
          </a:xfrm>
          <a:prstGeom prst="rect">
            <a:avLst/>
          </a:prstGeom>
        </p:spPr>
      </p:pic>
      <p:pic>
        <p:nvPicPr>
          <p:cNvPr id="12" name="Picture 11">
            <a:extLst>
              <a:ext uri="{FF2B5EF4-FFF2-40B4-BE49-F238E27FC236}">
                <a16:creationId xmlns:a16="http://schemas.microsoft.com/office/drawing/2014/main" id="{639BF260-6B2E-47E1-B830-4C5C86B7B81C}"/>
              </a:ext>
            </a:extLst>
          </p:cNvPr>
          <p:cNvPicPr>
            <a:picLocks noChangeAspect="1"/>
          </p:cNvPicPr>
          <p:nvPr/>
        </p:nvPicPr>
        <p:blipFill>
          <a:blip r:embed="rId8"/>
          <a:stretch>
            <a:fillRect/>
          </a:stretch>
        </p:blipFill>
        <p:spPr>
          <a:xfrm>
            <a:off x="6689199" y="4248726"/>
            <a:ext cx="2449334" cy="1923968"/>
          </a:xfrm>
          <a:prstGeom prst="rect">
            <a:avLst/>
          </a:prstGeom>
        </p:spPr>
      </p:pic>
      <p:pic>
        <p:nvPicPr>
          <p:cNvPr id="13" name="Picture 12">
            <a:extLst>
              <a:ext uri="{FF2B5EF4-FFF2-40B4-BE49-F238E27FC236}">
                <a16:creationId xmlns:a16="http://schemas.microsoft.com/office/drawing/2014/main" id="{9530B6E3-9A2E-4C7F-9D6D-FFAD9F2A1C6D}"/>
              </a:ext>
            </a:extLst>
          </p:cNvPr>
          <p:cNvPicPr>
            <a:picLocks noChangeAspect="1"/>
          </p:cNvPicPr>
          <p:nvPr/>
        </p:nvPicPr>
        <p:blipFill>
          <a:blip r:embed="rId9"/>
          <a:stretch>
            <a:fillRect/>
          </a:stretch>
        </p:blipFill>
        <p:spPr>
          <a:xfrm>
            <a:off x="3714133" y="4229872"/>
            <a:ext cx="2318327" cy="1923969"/>
          </a:xfrm>
          <a:prstGeom prst="rect">
            <a:avLst/>
          </a:prstGeom>
        </p:spPr>
      </p:pic>
      <p:sp>
        <p:nvSpPr>
          <p:cNvPr id="14" name="Arrow: Chevron 13">
            <a:extLst>
              <a:ext uri="{FF2B5EF4-FFF2-40B4-BE49-F238E27FC236}">
                <a16:creationId xmlns:a16="http://schemas.microsoft.com/office/drawing/2014/main" id="{4D5C7E4A-4608-4982-A39A-205A3BACC883}"/>
              </a:ext>
            </a:extLst>
          </p:cNvPr>
          <p:cNvSpPr/>
          <p:nvPr/>
        </p:nvSpPr>
        <p:spPr>
          <a:xfrm>
            <a:off x="3057392" y="2170544"/>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hevron 14">
            <a:extLst>
              <a:ext uri="{FF2B5EF4-FFF2-40B4-BE49-F238E27FC236}">
                <a16:creationId xmlns:a16="http://schemas.microsoft.com/office/drawing/2014/main" id="{9E33AD4F-A297-4B9D-986B-9CA9A0FB9E23}"/>
              </a:ext>
            </a:extLst>
          </p:cNvPr>
          <p:cNvSpPr/>
          <p:nvPr/>
        </p:nvSpPr>
        <p:spPr>
          <a:xfrm rot="10800000">
            <a:off x="9210672"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Arrow: Chevron 15">
            <a:extLst>
              <a:ext uri="{FF2B5EF4-FFF2-40B4-BE49-F238E27FC236}">
                <a16:creationId xmlns:a16="http://schemas.microsoft.com/office/drawing/2014/main" id="{51C9AD7D-38EE-40C3-A8DF-B1796E680B5D}"/>
              </a:ext>
            </a:extLst>
          </p:cNvPr>
          <p:cNvSpPr/>
          <p:nvPr/>
        </p:nvSpPr>
        <p:spPr>
          <a:xfrm rot="5400000">
            <a:off x="10600939" y="3563423"/>
            <a:ext cx="272670"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Chevron 16">
            <a:extLst>
              <a:ext uri="{FF2B5EF4-FFF2-40B4-BE49-F238E27FC236}">
                <a16:creationId xmlns:a16="http://schemas.microsoft.com/office/drawing/2014/main" id="{12DA2C56-BB4B-469C-BDB0-904D4F215A4B}"/>
              </a:ext>
            </a:extLst>
          </p:cNvPr>
          <p:cNvSpPr/>
          <p:nvPr/>
        </p:nvSpPr>
        <p:spPr>
          <a:xfrm>
            <a:off x="9196392" y="2170543"/>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hevron 17">
            <a:extLst>
              <a:ext uri="{FF2B5EF4-FFF2-40B4-BE49-F238E27FC236}">
                <a16:creationId xmlns:a16="http://schemas.microsoft.com/office/drawing/2014/main" id="{DC2CC9E2-A78B-4F3F-91AC-6ED4649FA7C2}"/>
              </a:ext>
            </a:extLst>
          </p:cNvPr>
          <p:cNvSpPr/>
          <p:nvPr/>
        </p:nvSpPr>
        <p:spPr>
          <a:xfrm>
            <a:off x="6118877" y="2205701"/>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hevron 18">
            <a:extLst>
              <a:ext uri="{FF2B5EF4-FFF2-40B4-BE49-F238E27FC236}">
                <a16:creationId xmlns:a16="http://schemas.microsoft.com/office/drawing/2014/main" id="{9A8D9E4E-A52F-4E16-8876-A77A3C04DB9C}"/>
              </a:ext>
            </a:extLst>
          </p:cNvPr>
          <p:cNvSpPr/>
          <p:nvPr/>
        </p:nvSpPr>
        <p:spPr>
          <a:xfrm rot="10800000">
            <a:off x="3065040" y="4587698"/>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Arrow: Chevron 20">
            <a:extLst>
              <a:ext uri="{FF2B5EF4-FFF2-40B4-BE49-F238E27FC236}">
                <a16:creationId xmlns:a16="http://schemas.microsoft.com/office/drawing/2014/main" id="{142BB9AE-B451-481B-B93B-4B65FE07B952}"/>
              </a:ext>
            </a:extLst>
          </p:cNvPr>
          <p:cNvSpPr/>
          <p:nvPr/>
        </p:nvSpPr>
        <p:spPr>
          <a:xfrm rot="10800000">
            <a:off x="6104596"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3" name="Picture 22">
            <a:extLst>
              <a:ext uri="{FF2B5EF4-FFF2-40B4-BE49-F238E27FC236}">
                <a16:creationId xmlns:a16="http://schemas.microsoft.com/office/drawing/2014/main" id="{1CC1BA66-3620-4824-80C1-7987E28FC165}"/>
              </a:ext>
            </a:extLst>
          </p:cNvPr>
          <p:cNvPicPr>
            <a:picLocks noChangeAspect="1"/>
          </p:cNvPicPr>
          <p:nvPr/>
        </p:nvPicPr>
        <p:blipFill>
          <a:blip r:embed="rId10"/>
          <a:stretch>
            <a:fillRect/>
          </a:stretch>
        </p:blipFill>
        <p:spPr>
          <a:xfrm>
            <a:off x="386456" y="4189286"/>
            <a:ext cx="2678583" cy="1923968"/>
          </a:xfrm>
          <a:prstGeom prst="rect">
            <a:avLst/>
          </a:prstGeom>
        </p:spPr>
      </p:pic>
    </p:spTree>
    <p:extLst>
      <p:ext uri="{BB962C8B-B14F-4D97-AF65-F5344CB8AC3E}">
        <p14:creationId xmlns:p14="http://schemas.microsoft.com/office/powerpoint/2010/main" val="1446367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completed</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sz="1800" i="0" dirty="0">
                <a:effectLst/>
                <a:latin typeface="Calibri" panose="020F0502020204030204" pitchFamily="34" charset="0"/>
                <a:cs typeface="Calibri" panose="020F0502020204030204" pitchFamily="34" charset="0"/>
              </a:rPr>
              <a:t>We have D</a:t>
            </a:r>
            <a:r>
              <a:rPr lang="en-US" dirty="0">
                <a:latin typeface="Calibri" panose="020F0502020204030204" pitchFamily="34" charset="0"/>
                <a:cs typeface="Calibri" panose="020F0502020204030204" pitchFamily="34" charset="0"/>
              </a:rPr>
              <a:t>one with Connect , now we are now successfully connected to cloud using SCC.</a:t>
            </a:r>
            <a:endParaRPr kumimoji="0" lang="en-IN" sz="180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7AFFD8A-2549-4A70-9456-CFD677FE6DD4}"/>
              </a:ext>
            </a:extLst>
          </p:cNvPr>
          <p:cNvPicPr>
            <a:picLocks noChangeAspect="1"/>
          </p:cNvPicPr>
          <p:nvPr/>
        </p:nvPicPr>
        <p:blipFill>
          <a:blip r:embed="rId3"/>
          <a:stretch>
            <a:fillRect/>
          </a:stretch>
        </p:blipFill>
        <p:spPr>
          <a:xfrm>
            <a:off x="631953" y="1148422"/>
            <a:ext cx="10928093" cy="5239239"/>
          </a:xfrm>
          <a:prstGeom prst="rect">
            <a:avLst/>
          </a:prstGeom>
        </p:spPr>
      </p:pic>
    </p:spTree>
    <p:extLst>
      <p:ext uri="{BB962C8B-B14F-4D97-AF65-F5344CB8AC3E}">
        <p14:creationId xmlns:p14="http://schemas.microsoft.com/office/powerpoint/2010/main" val="256943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the Destination in BTP</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9321"/>
          </a:xfrm>
          <a:prstGeom prst="rect">
            <a:avLst/>
          </a:prstGeom>
          <a:noFill/>
        </p:spPr>
        <p:txBody>
          <a:bodyPr wrap="square" rtlCol="0">
            <a:spAutoFit/>
          </a:bodyPr>
          <a:lstStyle/>
          <a:p>
            <a:r>
              <a:rPr lang="en-US" dirty="0"/>
              <a:t>Now once the cloud connector setup is done. We need to create a destination in the Business Technology Platform (BTP) to assess our SAP system in the BAS.</a:t>
            </a:r>
          </a:p>
          <a:p>
            <a:r>
              <a:rPr lang="en-US" dirty="0"/>
              <a:t>There are two ways to create a destination in BTP:</a:t>
            </a:r>
          </a:p>
          <a:p>
            <a:pPr marL="342900" indent="-342900">
              <a:buAutoNum type="arabicPeriod"/>
            </a:pPr>
            <a:r>
              <a:rPr lang="en-US" dirty="0"/>
              <a:t>Create  a destination directly in BTP (</a:t>
            </a:r>
            <a:r>
              <a:rPr lang="en-US" dirty="0">
                <a:solidFill>
                  <a:schemeClr val="accent6"/>
                </a:solidFill>
              </a:rPr>
              <a:t>Not Recommended</a:t>
            </a:r>
            <a:r>
              <a:rPr lang="en-US" dirty="0"/>
              <a:t>)</a:t>
            </a:r>
          </a:p>
          <a:p>
            <a:pPr marL="342900" indent="-342900">
              <a:buAutoNum type="arabicPeriod"/>
            </a:pPr>
            <a:r>
              <a:rPr lang="en-US" dirty="0"/>
              <a:t>Creating the destination inside the BAS (Recommended)</a:t>
            </a:r>
          </a:p>
          <a:p>
            <a:endParaRPr lang="en-US" dirty="0">
              <a:solidFill>
                <a:schemeClr val="accent6"/>
              </a:solidFill>
            </a:endParaRPr>
          </a:p>
          <a:p>
            <a:r>
              <a:rPr lang="en-US" dirty="0"/>
              <a:t>To create a destination directly in BTP </a:t>
            </a:r>
          </a:p>
          <a:p>
            <a:pPr marL="285750" indent="-285750">
              <a:buFont typeface="Wingdings" panose="05000000000000000000" pitchFamily="2" charset="2"/>
              <a:buChar char="§"/>
            </a:pPr>
            <a:r>
              <a:rPr lang="en-US" dirty="0"/>
              <a:t>Go to the </a:t>
            </a:r>
            <a:r>
              <a:rPr lang="en-US" dirty="0">
                <a:solidFill>
                  <a:schemeClr val="accent6"/>
                </a:solidFill>
              </a:rPr>
              <a:t>Connectivity</a:t>
            </a:r>
            <a:r>
              <a:rPr lang="en-US" dirty="0"/>
              <a:t> &gt; </a:t>
            </a:r>
            <a:r>
              <a:rPr lang="en-US" dirty="0">
                <a:solidFill>
                  <a:schemeClr val="accent6"/>
                </a:solidFill>
              </a:rPr>
              <a:t>Destinations</a:t>
            </a:r>
            <a:r>
              <a:rPr lang="en-US" dirty="0"/>
              <a:t> and here click on </a:t>
            </a:r>
            <a:r>
              <a:rPr lang="en-US" dirty="0">
                <a:solidFill>
                  <a:schemeClr val="accent6"/>
                </a:solidFill>
              </a:rPr>
              <a:t>New Destination</a:t>
            </a:r>
          </a:p>
          <a:p>
            <a:pPr marL="285750" indent="-285750">
              <a:buFont typeface="Wingdings" panose="05000000000000000000" pitchFamily="2" charset="2"/>
              <a:buChar char="§"/>
            </a:pPr>
            <a:r>
              <a:rPr lang="en-US" dirty="0"/>
              <a:t>Then a new Destination Configuration will open.</a:t>
            </a:r>
          </a:p>
          <a:p>
            <a:pPr marL="285750" indent="-285750">
              <a:buFont typeface="Wingdings" panose="05000000000000000000" pitchFamily="2" charset="2"/>
              <a:buChar char="§"/>
            </a:pPr>
            <a:r>
              <a:rPr lang="en-US" dirty="0"/>
              <a:t>Enter all the details of the system and press save.</a:t>
            </a:r>
          </a:p>
          <a:p>
            <a:pPr marL="285750" indent="-285750">
              <a:buFont typeface="Wingdings" panose="05000000000000000000" pitchFamily="2" charset="2"/>
              <a:buChar char="§"/>
            </a:pPr>
            <a:r>
              <a:rPr lang="en-US" dirty="0"/>
              <a:t>After that check the connection with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59E3E38-ADD1-4737-A459-23ED7995D464}"/>
              </a:ext>
            </a:extLst>
          </p:cNvPr>
          <p:cNvPicPr>
            <a:picLocks noChangeAspect="1"/>
          </p:cNvPicPr>
          <p:nvPr/>
        </p:nvPicPr>
        <p:blipFill>
          <a:blip r:embed="rId3"/>
          <a:stretch>
            <a:fillRect/>
          </a:stretch>
        </p:blipFill>
        <p:spPr>
          <a:xfrm>
            <a:off x="5544124" y="3295967"/>
            <a:ext cx="5879282" cy="2782943"/>
          </a:xfrm>
          <a:prstGeom prst="rect">
            <a:avLst/>
          </a:prstGeom>
        </p:spPr>
      </p:pic>
      <p:sp>
        <p:nvSpPr>
          <p:cNvPr id="11" name="TextBox 10">
            <a:extLst>
              <a:ext uri="{FF2B5EF4-FFF2-40B4-BE49-F238E27FC236}">
                <a16:creationId xmlns:a16="http://schemas.microsoft.com/office/drawing/2014/main" id="{021D8A17-0815-4530-9855-3837C92571B0}"/>
              </a:ext>
            </a:extLst>
          </p:cNvPr>
          <p:cNvSpPr txBox="1"/>
          <p:nvPr/>
        </p:nvSpPr>
        <p:spPr>
          <a:xfrm>
            <a:off x="261764" y="4172773"/>
            <a:ext cx="5104056" cy="1754326"/>
          </a:xfrm>
          <a:prstGeom prst="rect">
            <a:avLst/>
          </a:prstGeom>
          <a:noFill/>
        </p:spPr>
        <p:txBody>
          <a:bodyPr wrap="square">
            <a:spAutoFit/>
          </a:bodyPr>
          <a:lstStyle/>
          <a:p>
            <a:r>
              <a:rPr lang="en-US" dirty="0"/>
              <a:t>This way of creating destination is not recommended because in this method, to assess the odata service in the fiori application some additional properties are required. Adding that properties is a little tricky and can lead to error.</a:t>
            </a:r>
          </a:p>
          <a:p>
            <a:r>
              <a:rPr lang="en-US" dirty="0">
                <a:solidFill>
                  <a:schemeClr val="accent6"/>
                </a:solidFill>
              </a:rPr>
              <a:t>That’s why we will not use this method.</a:t>
            </a:r>
          </a:p>
        </p:txBody>
      </p:sp>
    </p:spTree>
    <p:extLst>
      <p:ext uri="{BB962C8B-B14F-4D97-AF65-F5344CB8AC3E}">
        <p14:creationId xmlns:p14="http://schemas.microsoft.com/office/powerpoint/2010/main" val="38864899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Destination Inside BAS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200329"/>
          </a:xfrm>
          <a:prstGeom prst="rect">
            <a:avLst/>
          </a:prstGeom>
          <a:noFill/>
        </p:spPr>
        <p:txBody>
          <a:bodyPr wrap="square" rtlCol="0">
            <a:spAutoFit/>
          </a:bodyPr>
          <a:lstStyle/>
          <a:p>
            <a:r>
              <a:rPr lang="en-US" dirty="0"/>
              <a:t>To create the destination directly using BAS follow the step:</a:t>
            </a:r>
          </a:p>
          <a:p>
            <a:pPr marL="342900" indent="-342900">
              <a:buFont typeface="+mj-lt"/>
              <a:buAutoNum type="arabicPeriod"/>
            </a:pPr>
            <a:r>
              <a:rPr lang="en-US" dirty="0"/>
              <a:t>Start your BAS tool and in that go to the service center in the left side bar.</a:t>
            </a:r>
          </a:p>
          <a:p>
            <a:pPr marL="342900" indent="-342900">
              <a:buFont typeface="+mj-lt"/>
              <a:buAutoNum type="arabicPeriod"/>
            </a:pPr>
            <a:r>
              <a:rPr lang="en-US" dirty="0"/>
              <a:t>Then under the SAP SYSTEM section choose your subaccount and click on plus button +</a:t>
            </a:r>
          </a:p>
          <a:p>
            <a:pPr marL="342900" indent="-342900">
              <a:buFont typeface="+mj-lt"/>
              <a:buAutoNum type="arabicPeriod"/>
            </a:pPr>
            <a:r>
              <a:rPr lang="en-US" dirty="0"/>
              <a:t>Fill the details as shown and press Add. You can create a new Project for the template to test this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0BEA4DC5-28DF-4BBD-AF6D-5518687AE6A7}"/>
              </a:ext>
            </a:extLst>
          </p:cNvPr>
          <p:cNvPicPr>
            <a:picLocks noChangeAspect="1"/>
          </p:cNvPicPr>
          <p:nvPr/>
        </p:nvPicPr>
        <p:blipFill>
          <a:blip r:embed="rId3"/>
          <a:stretch>
            <a:fillRect/>
          </a:stretch>
        </p:blipFill>
        <p:spPr>
          <a:xfrm>
            <a:off x="261764" y="2034720"/>
            <a:ext cx="2168727" cy="2843862"/>
          </a:xfrm>
          <a:prstGeom prst="rect">
            <a:avLst/>
          </a:prstGeom>
        </p:spPr>
      </p:pic>
      <p:pic>
        <p:nvPicPr>
          <p:cNvPr id="6" name="Picture 5">
            <a:extLst>
              <a:ext uri="{FF2B5EF4-FFF2-40B4-BE49-F238E27FC236}">
                <a16:creationId xmlns:a16="http://schemas.microsoft.com/office/drawing/2014/main" id="{46BB6D8B-8711-4D60-9F1D-0E4A9A29FADE}"/>
              </a:ext>
            </a:extLst>
          </p:cNvPr>
          <p:cNvPicPr>
            <a:picLocks noChangeAspect="1"/>
          </p:cNvPicPr>
          <p:nvPr/>
        </p:nvPicPr>
        <p:blipFill>
          <a:blip r:embed="rId4"/>
          <a:stretch>
            <a:fillRect/>
          </a:stretch>
        </p:blipFill>
        <p:spPr>
          <a:xfrm>
            <a:off x="2935377" y="2034720"/>
            <a:ext cx="1924885" cy="2843862"/>
          </a:xfrm>
          <a:prstGeom prst="rect">
            <a:avLst/>
          </a:prstGeom>
        </p:spPr>
      </p:pic>
      <p:pic>
        <p:nvPicPr>
          <p:cNvPr id="9" name="Picture 8">
            <a:extLst>
              <a:ext uri="{FF2B5EF4-FFF2-40B4-BE49-F238E27FC236}">
                <a16:creationId xmlns:a16="http://schemas.microsoft.com/office/drawing/2014/main" id="{26D4E870-A6D8-470B-AAAF-5D4D934D5129}"/>
              </a:ext>
            </a:extLst>
          </p:cNvPr>
          <p:cNvPicPr>
            <a:picLocks noChangeAspect="1"/>
          </p:cNvPicPr>
          <p:nvPr/>
        </p:nvPicPr>
        <p:blipFill>
          <a:blip r:embed="rId5"/>
          <a:stretch>
            <a:fillRect/>
          </a:stretch>
        </p:blipFill>
        <p:spPr>
          <a:xfrm>
            <a:off x="5392253" y="2034720"/>
            <a:ext cx="3673086" cy="2847353"/>
          </a:xfrm>
          <a:prstGeom prst="rect">
            <a:avLst/>
          </a:prstGeom>
        </p:spPr>
      </p:pic>
      <p:pic>
        <p:nvPicPr>
          <p:cNvPr id="11" name="Picture 10">
            <a:extLst>
              <a:ext uri="{FF2B5EF4-FFF2-40B4-BE49-F238E27FC236}">
                <a16:creationId xmlns:a16="http://schemas.microsoft.com/office/drawing/2014/main" id="{DEF8A996-29A9-47E0-B991-DAAB8BDCA906}"/>
              </a:ext>
            </a:extLst>
          </p:cNvPr>
          <p:cNvPicPr>
            <a:picLocks noChangeAspect="1"/>
          </p:cNvPicPr>
          <p:nvPr/>
        </p:nvPicPr>
        <p:blipFill>
          <a:blip r:embed="rId6"/>
          <a:stretch>
            <a:fillRect/>
          </a:stretch>
        </p:blipFill>
        <p:spPr>
          <a:xfrm>
            <a:off x="9506897" y="2034721"/>
            <a:ext cx="2630470" cy="2843862"/>
          </a:xfrm>
          <a:prstGeom prst="rect">
            <a:avLst/>
          </a:prstGeom>
        </p:spPr>
      </p:pic>
      <p:pic>
        <p:nvPicPr>
          <p:cNvPr id="13" name="Picture 12">
            <a:extLst>
              <a:ext uri="{FF2B5EF4-FFF2-40B4-BE49-F238E27FC236}">
                <a16:creationId xmlns:a16="http://schemas.microsoft.com/office/drawing/2014/main" id="{53DF3701-97C6-48B9-A0B2-E65B0C0D1ABD}"/>
              </a:ext>
            </a:extLst>
          </p:cNvPr>
          <p:cNvPicPr>
            <a:picLocks noChangeAspect="1"/>
          </p:cNvPicPr>
          <p:nvPr/>
        </p:nvPicPr>
        <p:blipFill>
          <a:blip r:embed="rId7"/>
          <a:stretch>
            <a:fillRect/>
          </a:stretch>
        </p:blipFill>
        <p:spPr>
          <a:xfrm>
            <a:off x="4722725" y="4973334"/>
            <a:ext cx="3828422" cy="1813463"/>
          </a:xfrm>
          <a:prstGeom prst="rect">
            <a:avLst/>
          </a:prstGeom>
        </p:spPr>
      </p:pic>
      <p:cxnSp>
        <p:nvCxnSpPr>
          <p:cNvPr id="15" name="Straight Arrow Connector 14">
            <a:extLst>
              <a:ext uri="{FF2B5EF4-FFF2-40B4-BE49-F238E27FC236}">
                <a16:creationId xmlns:a16="http://schemas.microsoft.com/office/drawing/2014/main" id="{3709C19B-7CCA-4973-8513-EE3CC1BD8095}"/>
              </a:ext>
            </a:extLst>
          </p:cNvPr>
          <p:cNvCxnSpPr>
            <a:stCxn id="4" idx="3"/>
            <a:endCxn id="6" idx="1"/>
          </p:cNvCxnSpPr>
          <p:nvPr/>
        </p:nvCxnSpPr>
        <p:spPr>
          <a:xfrm>
            <a:off x="2430491" y="3456651"/>
            <a:ext cx="504886" cy="0"/>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478640A-F49F-4FBA-ADB4-06989F67C3BF}"/>
              </a:ext>
            </a:extLst>
          </p:cNvPr>
          <p:cNvCxnSpPr>
            <a:cxnSpLocks/>
            <a:stCxn id="6" idx="3"/>
            <a:endCxn id="9" idx="1"/>
          </p:cNvCxnSpPr>
          <p:nvPr/>
        </p:nvCxnSpPr>
        <p:spPr>
          <a:xfrm>
            <a:off x="4860262" y="3456651"/>
            <a:ext cx="531991" cy="1746"/>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4F82370-4E6C-4D14-9024-43F0CA172E27}"/>
              </a:ext>
            </a:extLst>
          </p:cNvPr>
          <p:cNvCxnSpPr>
            <a:cxnSpLocks/>
            <a:stCxn id="9" idx="3"/>
            <a:endCxn id="11" idx="1"/>
          </p:cNvCxnSpPr>
          <p:nvPr/>
        </p:nvCxnSpPr>
        <p:spPr>
          <a:xfrm flipV="1">
            <a:off x="9065339" y="3456652"/>
            <a:ext cx="441558" cy="1745"/>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9ECADA58-95B5-4FBA-BC14-D834F2BB8F21}"/>
              </a:ext>
            </a:extLst>
          </p:cNvPr>
          <p:cNvCxnSpPr>
            <a:stCxn id="11" idx="2"/>
            <a:endCxn id="13" idx="3"/>
          </p:cNvCxnSpPr>
          <p:nvPr/>
        </p:nvCxnSpPr>
        <p:spPr>
          <a:xfrm rot="5400000">
            <a:off x="9185899" y="4243832"/>
            <a:ext cx="1001483" cy="2270985"/>
          </a:xfrm>
          <a:prstGeom prst="bentConnector2">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9449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Connecting system to the VSCode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862322"/>
          </a:xfrm>
          <a:prstGeom prst="rect">
            <a:avLst/>
          </a:prstGeom>
          <a:noFill/>
        </p:spPr>
        <p:txBody>
          <a:bodyPr wrap="square" rtlCol="0">
            <a:spAutoFit/>
          </a:bodyPr>
          <a:lstStyle/>
          <a:p>
            <a:r>
              <a:rPr lang="en-US" dirty="0"/>
              <a:t>Now if we want to connect our system to the vscode we don’t need the Cloud Connector, because the VS code is already running in our local system and in our local system we can use the VPN to access our SAP System.</a:t>
            </a:r>
          </a:p>
          <a:p>
            <a:r>
              <a:rPr lang="en-US" dirty="0"/>
              <a:t>So to connect vs code to the system:</a:t>
            </a:r>
          </a:p>
          <a:p>
            <a:pPr marL="342900" indent="-342900">
              <a:buAutoNum type="arabicPeriod"/>
            </a:pPr>
            <a:r>
              <a:rPr lang="en-US" dirty="0"/>
              <a:t>Open application generator using the command palette.</a:t>
            </a:r>
          </a:p>
          <a:p>
            <a:pPr marL="342900" indent="-342900">
              <a:buAutoNum type="arabicPeriod"/>
            </a:pPr>
            <a:r>
              <a:rPr lang="en-US" dirty="0"/>
              <a:t>Create any type of project (let’s select the master detail).</a:t>
            </a:r>
          </a:p>
          <a:p>
            <a:pPr marL="342900" indent="-342900">
              <a:buAutoNum type="arabicPeriod"/>
            </a:pPr>
            <a:r>
              <a:rPr lang="en-US" dirty="0"/>
              <a:t>In the Data Sources as Connect to a System</a:t>
            </a:r>
          </a:p>
          <a:p>
            <a:pPr marL="342900" indent="-342900">
              <a:buAutoNum type="arabicPeriod"/>
            </a:pPr>
            <a:r>
              <a:rPr lang="en-US" dirty="0"/>
              <a:t>In system select New System and system type as ABAP on Premise</a:t>
            </a:r>
          </a:p>
          <a:p>
            <a:pPr marL="342900" indent="-342900">
              <a:buAutoNum type="arabicPeriod"/>
            </a:pPr>
            <a:r>
              <a:rPr lang="en-US" dirty="0"/>
              <a:t>And then Enter the system detail.</a:t>
            </a:r>
          </a:p>
          <a:p>
            <a:pPr marL="342900" indent="-342900">
              <a:buAutoNum type="arabicPeriod"/>
            </a:pPr>
            <a:r>
              <a:rPr lang="en-US" dirty="0"/>
              <a:t>Then complete the project setup.</a:t>
            </a:r>
          </a:p>
          <a:p>
            <a:pPr marL="342900" indent="-342900">
              <a:buAutoNum type="arabicPeriod"/>
            </a:pPr>
            <a:r>
              <a:rPr lang="en-US" dirty="0"/>
              <a:t>After that you can see the created system in the Fiori Tools option in the left side bar, under the SAP SYSTEM.</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A5ECAA09-64BE-4BEE-939D-FC6C0BAEB714}"/>
              </a:ext>
            </a:extLst>
          </p:cNvPr>
          <p:cNvPicPr>
            <a:picLocks noChangeAspect="1"/>
          </p:cNvPicPr>
          <p:nvPr/>
        </p:nvPicPr>
        <p:blipFill>
          <a:blip r:embed="rId3"/>
          <a:stretch>
            <a:fillRect/>
          </a:stretch>
        </p:blipFill>
        <p:spPr>
          <a:xfrm>
            <a:off x="261764" y="3782942"/>
            <a:ext cx="2752383" cy="2714866"/>
          </a:xfrm>
          <a:prstGeom prst="rect">
            <a:avLst/>
          </a:prstGeom>
        </p:spPr>
      </p:pic>
      <p:pic>
        <p:nvPicPr>
          <p:cNvPr id="9" name="Picture 8">
            <a:extLst>
              <a:ext uri="{FF2B5EF4-FFF2-40B4-BE49-F238E27FC236}">
                <a16:creationId xmlns:a16="http://schemas.microsoft.com/office/drawing/2014/main" id="{8D5EC31B-E0F7-45BA-A252-7B0231D00C87}"/>
              </a:ext>
            </a:extLst>
          </p:cNvPr>
          <p:cNvPicPr>
            <a:picLocks noChangeAspect="1"/>
          </p:cNvPicPr>
          <p:nvPr/>
        </p:nvPicPr>
        <p:blipFill>
          <a:blip r:embed="rId4"/>
          <a:stretch>
            <a:fillRect/>
          </a:stretch>
        </p:blipFill>
        <p:spPr>
          <a:xfrm>
            <a:off x="3772008" y="3777017"/>
            <a:ext cx="3332596" cy="2714866"/>
          </a:xfrm>
          <a:prstGeom prst="rect">
            <a:avLst/>
          </a:prstGeom>
        </p:spPr>
      </p:pic>
      <p:pic>
        <p:nvPicPr>
          <p:cNvPr id="11" name="Picture 10">
            <a:extLst>
              <a:ext uri="{FF2B5EF4-FFF2-40B4-BE49-F238E27FC236}">
                <a16:creationId xmlns:a16="http://schemas.microsoft.com/office/drawing/2014/main" id="{12069DB5-583F-400D-916D-308D19B0FE52}"/>
              </a:ext>
            </a:extLst>
          </p:cNvPr>
          <p:cNvPicPr>
            <a:picLocks noChangeAspect="1"/>
          </p:cNvPicPr>
          <p:nvPr/>
        </p:nvPicPr>
        <p:blipFill>
          <a:blip r:embed="rId5"/>
          <a:stretch>
            <a:fillRect/>
          </a:stretch>
        </p:blipFill>
        <p:spPr>
          <a:xfrm>
            <a:off x="8326625" y="3777017"/>
            <a:ext cx="1851045" cy="2714866"/>
          </a:xfrm>
          <a:prstGeom prst="rect">
            <a:avLst/>
          </a:prstGeom>
        </p:spPr>
      </p:pic>
      <p:cxnSp>
        <p:nvCxnSpPr>
          <p:cNvPr id="15" name="Straight Arrow Connector 14">
            <a:extLst>
              <a:ext uri="{FF2B5EF4-FFF2-40B4-BE49-F238E27FC236}">
                <a16:creationId xmlns:a16="http://schemas.microsoft.com/office/drawing/2014/main" id="{31FDC1E1-B40A-4ADE-822C-D68DD2C30188}"/>
              </a:ext>
            </a:extLst>
          </p:cNvPr>
          <p:cNvCxnSpPr>
            <a:stCxn id="6" idx="3"/>
            <a:endCxn id="9" idx="1"/>
          </p:cNvCxnSpPr>
          <p:nvPr/>
        </p:nvCxnSpPr>
        <p:spPr>
          <a:xfrm flipV="1">
            <a:off x="3014147" y="5134450"/>
            <a:ext cx="757861" cy="5925"/>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6C5F3A6-0B2A-477B-8ADA-11B2A4DD2644}"/>
              </a:ext>
            </a:extLst>
          </p:cNvPr>
          <p:cNvCxnSpPr>
            <a:stCxn id="9" idx="3"/>
            <a:endCxn id="11" idx="1"/>
          </p:cNvCxnSpPr>
          <p:nvPr/>
        </p:nvCxnSpPr>
        <p:spPr>
          <a:xfrm>
            <a:off x="7104604" y="5134450"/>
            <a:ext cx="1222021" cy="0"/>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83733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b="1" dirty="0"/>
          </a:p>
        </p:txBody>
      </p:sp>
      <p:sp>
        <p:nvSpPr>
          <p:cNvPr id="4" name="Footer Placeholder 45">
            <a:extLst>
              <a:ext uri="{FF2B5EF4-FFF2-40B4-BE49-F238E27FC236}">
                <a16:creationId xmlns:a16="http://schemas.microsoft.com/office/drawing/2014/main" id="{90E33047-DFF5-4690-8905-31E4C115EFDC}"/>
              </a:ext>
            </a:extLst>
          </p:cNvPr>
          <p:cNvSpPr>
            <a:spLocks noGrp="1"/>
          </p:cNvSpPr>
          <p:nvPr>
            <p:ph type="ftr" sz="quarter" idx="11"/>
          </p:nvPr>
        </p:nvSpPr>
        <p:spPr>
          <a:xfrm>
            <a:off x="10123055" y="6548582"/>
            <a:ext cx="2225295" cy="203620"/>
          </a:xfrm>
        </p:spPr>
        <p:txBody>
          <a:bodyPr/>
          <a:lstStyle/>
          <a:p>
            <a:r>
              <a:rPr lang="en-US" b="1" dirty="0">
                <a:solidFill>
                  <a:schemeClr val="tx1"/>
                </a:solidFill>
              </a:rPr>
              <a:t>Trainer: 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pic>
        <p:nvPicPr>
          <p:cNvPr id="8" name="Picture 7">
            <a:extLst>
              <a:ext uri="{FF2B5EF4-FFF2-40B4-BE49-F238E27FC236}">
                <a16:creationId xmlns:a16="http://schemas.microsoft.com/office/drawing/2014/main" id="{C22BC072-3193-7B45-9313-D2D8113896B4}"/>
              </a:ext>
            </a:extLst>
          </p:cNvPr>
          <p:cNvPicPr>
            <a:picLocks noChangeAspect="1"/>
          </p:cNvPicPr>
          <p:nvPr/>
        </p:nvPicPr>
        <p:blipFill rotWithShape="1">
          <a:blip r:embed="rId3"/>
          <a:srcRect t="7822" b="7822"/>
          <a:stretch/>
        </p:blipFill>
        <p:spPr>
          <a:xfrm>
            <a:off x="0" y="0"/>
            <a:ext cx="12192000" cy="6858000"/>
          </a:xfrm>
          <a:prstGeom prst="rect">
            <a:avLst/>
          </a:prstGeom>
        </p:spPr>
      </p:pic>
      <p:sp>
        <p:nvSpPr>
          <p:cNvPr id="9" name="Rounded Rectangle 8">
            <a:extLst>
              <a:ext uri="{FF2B5EF4-FFF2-40B4-BE49-F238E27FC236}">
                <a16:creationId xmlns:a16="http://schemas.microsoft.com/office/drawing/2014/main" id="{2FF912B5-CB91-984A-A326-06D0A1B895C3}"/>
              </a:ext>
            </a:extLst>
          </p:cNvPr>
          <p:cNvSpPr/>
          <p:nvPr/>
        </p:nvSpPr>
        <p:spPr>
          <a:xfrm>
            <a:off x="-2415" y="-2412"/>
            <a:ext cx="12192001" cy="6858000"/>
          </a:xfrm>
          <a:prstGeom prst="roundRect">
            <a:avLst>
              <a:gd name="adj" fmla="val 0"/>
            </a:avLst>
          </a:prstGeom>
          <a:solidFill>
            <a:schemeClr val="tx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FD415253-65BB-C843-B5D8-DB41A0DCD078}"/>
              </a:ext>
            </a:extLst>
          </p:cNvPr>
          <p:cNvSpPr/>
          <p:nvPr/>
        </p:nvSpPr>
        <p:spPr>
          <a:xfrm>
            <a:off x="3879679" y="3011089"/>
            <a:ext cx="4427815" cy="83099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End of </a:t>
            </a:r>
            <a:r>
              <a:rPr kumimoji="0" lang="en-IN" sz="4800" b="1" i="0" u="none" strike="noStrike" kern="1200" cap="none" spc="1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Day 16</a:t>
            </a:r>
            <a:endPar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912433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Free Vector | Flat people with question marks background">
            <a:extLst>
              <a:ext uri="{FF2B5EF4-FFF2-40B4-BE49-F238E27FC236}">
                <a16:creationId xmlns:a16="http://schemas.microsoft.com/office/drawing/2014/main" id="{E158EC70-4769-4E41-A278-C90EC4E480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22246"/>
          <a:stretch/>
        </p:blipFill>
        <p:spPr bwMode="auto">
          <a:xfrm>
            <a:off x="1848418" y="648942"/>
            <a:ext cx="7599507" cy="59088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94C3DB2-D47E-4B94-804B-87AF1FDEF86E}"/>
              </a:ext>
            </a:extLst>
          </p:cNvPr>
          <p:cNvSpPr txBox="1"/>
          <p:nvPr/>
        </p:nvSpPr>
        <p:spPr>
          <a:xfrm>
            <a:off x="4535055" y="1052946"/>
            <a:ext cx="5588000" cy="769441"/>
          </a:xfrm>
          <a:prstGeom prst="rect">
            <a:avLst/>
          </a:prstGeom>
          <a:noFill/>
        </p:spPr>
        <p:txBody>
          <a:bodyPr wrap="square" rtlCol="0">
            <a:spAutoFit/>
          </a:bodyPr>
          <a:lstStyle/>
          <a:p>
            <a:r>
              <a:rPr lang="en-US" sz="4400" b="1" dirty="0"/>
              <a:t>Questions</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57951"/>
            <a:ext cx="716699" cy="707887"/>
          </a:xfrm>
          <a:prstGeom prst="rect">
            <a:avLst/>
          </a:prstGeom>
        </p:spPr>
      </p:pic>
      <p:sp>
        <p:nvSpPr>
          <p:cNvPr id="9" name="Footer Placeholder 45">
            <a:extLst>
              <a:ext uri="{FF2B5EF4-FFF2-40B4-BE49-F238E27FC236}">
                <a16:creationId xmlns:a16="http://schemas.microsoft.com/office/drawing/2014/main" id="{1E8E93DB-81E4-442B-B897-F702263718B2}"/>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13081182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ki Jumping Arena - Free Presentation Templates">
            <a:extLst>
              <a:ext uri="{FF2B5EF4-FFF2-40B4-BE49-F238E27FC236}">
                <a16:creationId xmlns:a16="http://schemas.microsoft.com/office/drawing/2014/main" id="{B0D7E6A1-F72A-4F69-B4FB-A4ED7A0C6C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246" b="224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910833" y="3561520"/>
            <a:ext cx="662939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spc="-150" dirty="0">
                <a:solidFill>
                  <a:prstClr val="white"/>
                </a:solidFill>
                <a:latin typeface="Calibri" panose="020F0502020204030204"/>
              </a:rPr>
              <a:t>Sakshi Gupta</a:t>
            </a:r>
            <a:endParaRPr kumimoji="0" lang="en-US" sz="3600" b="0" i="0" u="none" strike="noStrike" kern="1200" cap="none" spc="-15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364" y="0"/>
            <a:ext cx="1977514" cy="1953200"/>
          </a:xfrm>
          <a:prstGeom prst="rect">
            <a:avLst/>
          </a:prstGeom>
        </p:spPr>
      </p:pic>
    </p:spTree>
    <p:extLst>
      <p:ext uri="{BB962C8B-B14F-4D97-AF65-F5344CB8AC3E}">
        <p14:creationId xmlns:p14="http://schemas.microsoft.com/office/powerpoint/2010/main" val="13200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30278" y="2339163"/>
            <a:ext cx="9161718" cy="4518837"/>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0" y="-1"/>
            <a:ext cx="12192000" cy="487793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7" y="-1"/>
            <a:ext cx="12188826" cy="487793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6" y="-10291"/>
            <a:ext cx="12187238" cy="4888227"/>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660" y="5992677"/>
            <a:ext cx="3636124" cy="646331"/>
          </a:xfrm>
          <a:prstGeom prst="rect">
            <a:avLst/>
          </a:prstGeom>
        </p:spPr>
        <p:txBody>
          <a:bodyPr wrap="square">
            <a:spAutoFit/>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80349" y="2925900"/>
            <a:ext cx="3230283" cy="27699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995"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880"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6601" y="311141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592" y="2279542"/>
            <a:ext cx="640226" cy="640226"/>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6417" y="2272463"/>
            <a:ext cx="672103" cy="672103"/>
          </a:xfrm>
          <a:prstGeom prst="rect">
            <a:avLst/>
          </a:prstGeom>
        </p:spPr>
      </p:pic>
      <p:sp>
        <p:nvSpPr>
          <p:cNvPr id="48" name="Rectangle 47"/>
          <p:cNvSpPr/>
          <p:nvPr/>
        </p:nvSpPr>
        <p:spPr>
          <a:xfrm>
            <a:off x="632685" y="691519"/>
            <a:ext cx="6572671" cy="10156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Most Desirable Resource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660" y="4998907"/>
            <a:ext cx="3901573" cy="8925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2741" y="2194371"/>
            <a:ext cx="852087" cy="852087"/>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9296" y="3369105"/>
            <a:ext cx="5612646" cy="3381741"/>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3739" y="5575313"/>
            <a:ext cx="2196807" cy="5474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hlinkClick r:id="rId9"/>
            <a:extLst>
              <a:ext uri="{FF2B5EF4-FFF2-40B4-BE49-F238E27FC236}">
                <a16:creationId xmlns:a16="http://schemas.microsoft.com/office/drawing/2014/main" id="{B7D41E04-1B35-BD4F-8B37-C6CC88C6B995}"/>
              </a:ext>
            </a:extLst>
          </p:cNvPr>
          <p:cNvSpPr/>
          <p:nvPr/>
        </p:nvSpPr>
        <p:spPr>
          <a:xfrm>
            <a:off x="4400880" y="5490869"/>
            <a:ext cx="2196807" cy="54749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4221" y="5590861"/>
            <a:ext cx="14670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50EE5CC4-6884-48A9-8EE9-C0C15B8FD14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51916" y="501199"/>
            <a:ext cx="1956681" cy="1932623"/>
          </a:xfrm>
          <a:prstGeom prst="rect">
            <a:avLst/>
          </a:prstGeom>
        </p:spPr>
      </p:pic>
    </p:spTree>
    <p:extLst>
      <p:ext uri="{BB962C8B-B14F-4D97-AF65-F5344CB8AC3E}">
        <p14:creationId xmlns:p14="http://schemas.microsoft.com/office/powerpoint/2010/main" val="19376076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8A4613-6F8A-40A2-B2DE-12F49D2C9098}"/>
              </a:ext>
            </a:extLst>
          </p:cNvPr>
          <p:cNvSpPr txBox="1"/>
          <p:nvPr/>
        </p:nvSpPr>
        <p:spPr>
          <a:xfrm>
            <a:off x="92365" y="180309"/>
            <a:ext cx="11462326" cy="646331"/>
          </a:xfrm>
          <a:prstGeom prst="rect">
            <a:avLst/>
          </a:prstGeom>
          <a:noFill/>
        </p:spPr>
        <p:txBody>
          <a:bodyPr wrap="square">
            <a:spAutoFit/>
          </a:bodyPr>
          <a:lstStyle/>
          <a:p>
            <a:r>
              <a:rPr lang="en-US" sz="3600" dirty="0">
                <a:latin typeface="Cooper Black" panose="0208090404030B020404" pitchFamily="18" charset="0"/>
              </a:rPr>
              <a:t>More from AnubhavTrainings.com</a:t>
            </a:r>
          </a:p>
        </p:txBody>
      </p:sp>
      <p:pic>
        <p:nvPicPr>
          <p:cNvPr id="6" name="Picture 5">
            <a:hlinkClick r:id="rId2"/>
            <a:extLst>
              <a:ext uri="{FF2B5EF4-FFF2-40B4-BE49-F238E27FC236}">
                <a16:creationId xmlns:a16="http://schemas.microsoft.com/office/drawing/2014/main" id="{3C11E744-8456-4A37-9BA0-092AF3415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9878" y="826640"/>
            <a:ext cx="5727192" cy="3452752"/>
          </a:xfrm>
          <a:prstGeom prst="rect">
            <a:avLst/>
          </a:prstGeom>
          <a:scene3d>
            <a:camera prst="perspectiveLeft"/>
            <a:lightRig rig="threePt" dir="t"/>
          </a:scene3d>
        </p:spPr>
      </p:pic>
      <p:pic>
        <p:nvPicPr>
          <p:cNvPr id="8" name="Picture 7">
            <a:hlinkClick r:id="rId4"/>
            <a:extLst>
              <a:ext uri="{FF2B5EF4-FFF2-40B4-BE49-F238E27FC236}">
                <a16:creationId xmlns:a16="http://schemas.microsoft.com/office/drawing/2014/main" id="{D78BFE9E-91A1-40B2-B91E-34E16BAEAB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930" y="1061561"/>
            <a:ext cx="5956261" cy="3337560"/>
          </a:xfrm>
          <a:prstGeom prst="rect">
            <a:avLst/>
          </a:prstGeom>
          <a:scene3d>
            <a:camera prst="perspectiveLeft"/>
            <a:lightRig rig="threePt" dir="t"/>
          </a:scene3d>
        </p:spPr>
      </p:pic>
      <p:pic>
        <p:nvPicPr>
          <p:cNvPr id="10" name="Picture 9">
            <a:hlinkClick r:id="rId6"/>
            <a:extLst>
              <a:ext uri="{FF2B5EF4-FFF2-40B4-BE49-F238E27FC236}">
                <a16:creationId xmlns:a16="http://schemas.microsoft.com/office/drawing/2014/main" id="{4B4996AA-9A5C-4627-ABFF-5F312BFC76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9877" y="3132709"/>
            <a:ext cx="5727193" cy="3539652"/>
          </a:xfrm>
          <a:prstGeom prst="rect">
            <a:avLst/>
          </a:prstGeom>
          <a:scene3d>
            <a:camera prst="perspectiveLeft"/>
            <a:lightRig rig="threePt" dir="t"/>
          </a:scene3d>
        </p:spPr>
      </p:pic>
      <p:pic>
        <p:nvPicPr>
          <p:cNvPr id="11" name="Picture 10">
            <a:hlinkClick r:id="rId8"/>
            <a:extLst>
              <a:ext uri="{FF2B5EF4-FFF2-40B4-BE49-F238E27FC236}">
                <a16:creationId xmlns:a16="http://schemas.microsoft.com/office/drawing/2014/main" id="{82B165D0-C409-4669-9E36-D2FB63835D83}"/>
              </a:ext>
            </a:extLst>
          </p:cNvPr>
          <p:cNvPicPr>
            <a:picLocks noChangeAspect="1"/>
          </p:cNvPicPr>
          <p:nvPr/>
        </p:nvPicPr>
        <p:blipFill>
          <a:blip r:embed="rId9"/>
          <a:stretch>
            <a:fillRect/>
          </a:stretch>
        </p:blipFill>
        <p:spPr>
          <a:xfrm>
            <a:off x="192258" y="3340131"/>
            <a:ext cx="5998933" cy="3304731"/>
          </a:xfrm>
          <a:prstGeom prst="rect">
            <a:avLst/>
          </a:prstGeom>
          <a:scene3d>
            <a:camera prst="perspectiveLeft"/>
            <a:lightRig rig="threePt" dir="t"/>
          </a:scene3d>
        </p:spPr>
      </p:pic>
    </p:spTree>
    <p:extLst>
      <p:ext uri="{BB962C8B-B14F-4D97-AF65-F5344CB8AC3E}">
        <p14:creationId xmlns:p14="http://schemas.microsoft.com/office/powerpoint/2010/main" val="26475416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Title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Content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3216820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2659</TotalTime>
  <Words>2105</Words>
  <Application>Microsoft Office PowerPoint</Application>
  <PresentationFormat>Widescreen</PresentationFormat>
  <Paragraphs>227</Paragraphs>
  <Slides>39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Benton Sans</vt:lpstr>
      <vt:lpstr>Calibri</vt:lpstr>
      <vt:lpstr>Calibri Light</vt:lpstr>
      <vt:lpstr>Cooper Black</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cvedi@soyuztechnologies.com</dc:creator>
  <cp:lastModifiedBy>Anubhav Oberoy</cp:lastModifiedBy>
  <cp:revision>30</cp:revision>
  <dcterms:created xsi:type="dcterms:W3CDTF">2023-08-10T16:09:42Z</dcterms:created>
  <dcterms:modified xsi:type="dcterms:W3CDTF">2026-05-10T16:11:00Z</dcterms:modified>
</cp:coreProperties>
</file>